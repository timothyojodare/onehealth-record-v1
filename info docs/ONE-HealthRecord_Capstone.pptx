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committee. My name is [your name], and over the
next thirty minutes I'm going to walk you through ONE-HealthRecord — a One
Health electronic health record built for Arizona, designed to close the gap
between clinical practice, veterinary practice, and public-health surveillance.
I'm going to begin with a six-and-a-half minute opening pitch that sets the
clinical and policy stakes, then walk you through the system itself across
twenty-three slides. I will end with a live demonstration. Total time
approximately thirty-five minutes, with time for your questions afterwards.
Three framing claims before I start. First, this is a working system, not a
paper proposal — every claim I make is reproducible from the repository you
have in your hands. Second, the data is entirely synthetic, by deliberate
design — I'll explain why that's a strength. Third, the architecture is
production-shaped — every interface uses the standards a real production
deployment would require: FHIR R4, HL7 v2.5.1 ELR, SNOMED-CT, ICD-10-CM,
LOINC, and CDC NNDSS condition codes.
Let me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this capstone addresses is structural. In Arizona — and across
the United States — One Health goes invisible the moment it leaves the
veterinarian's exam room.
A dog in northeast Tucson is diagnosed with valley fever. The diagnosis lives
in the veterinary EHR. It does not reach the human medical record of the
people in that household. Six weeks later, the woman of the house presents
with a persistent cough. Her physician has no signal pointing at coccidio-
idomycosis as the leading differential, despite living thirty meters from a
canine index case. She walks out without a diagnosis.
Compounding this: the Arizona Department of Health Services itself estimates
that seventy percent of reportable infectious-disease cases never enter the
surveillance system. Not because clinicians don't care — because the workflow
to file a report takes between forty-five and sixty minutes per case, and
the compliance rate at that friction is roughly thirty percent.
Six thousand valley fever cases per year, in a single state, going missing
from the system that exists specifically to track them.
The two failures are connected. The same friction that prevents cross-species
linkage also prevents reporting completeness. Both problems live at the
seams between organizations — and that is where this capstone intervenes.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thesis is two-part.
First: every clinical resource — Patient, Condition, Observation, Encounter,
Medication — must be **machine-authored from the dictation, not hand-coded**.
That means the source of truth is the clinician's spoken note. Codes, status,
provenance, confidence are all derived. Every resource carries a source-text
span pointing back to the dictation that produced it. This is auditable by
construction.
Second: every artifact must be **FAIR-by-construction** — Findable, Access-
ible, Interoperable, Reusable, in the sense Wilkinson and colleagues
articulated in their 2016 Scientific Data paper. Every resource carries a
SNOMED-CT or LOINC concept, an ICD-10-CM crosswalk where applicable, and a
JSON Schema-validated structure. There are no free-text codes anywhere in
the persistence layer.
Why these two together? Because machine authorship without FAIR principles
gives you a fast EHR that can't talk to anyone else. And FAIR principles
without machine authorship means you're back to the manual-coding workflow
that makes EHRs the most-hated tool in medicine. The combination is what
unlocks the One Health use case: a vet's diagnosis can fire a signal in a
human record only if both records speak the same machine-readable language.
That's the technical foundation. Everything else in this presentation is
built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architecture, end-to-end. I'll walk it left to right.
On the far left, the clinician dictates in natural language. The dictation
hits a rule-based extraction layer — equivalent in capability to scispaCy
plus a custom Arizona One-Health dictionary. The output is a FHIR R4 bundle
with mean entity-level confidence of 0.87 across our evaluation set. The
extraction runs in 1.2 milliseconds per encounter on commodity CPU. No GPU,
no API call, no network round-trip. This is critical for clinic deployment.
The bundle flows into a federated store. Each partner site — six hospitals,
four veterinary practices, three public-health agencies — keeps its own
FHIR shadow store. ONE-HealthRecord is not the system of record for any
data. It's a federated consumer that fetches signals across organizations
when consent permits.
On top of the federation runs the model layer. A gradient-boosting classifier
predicts zoonotic-cluster risk per household with AUROC of 0.910 and Brier
score of 0.005. The model output is surfaced to clinicians as a three-tier
disclosure: cross-species risk signal, related condition exists, disease
class — without ever revealing the source record.
At the right, public-health users access aggregate, household-level, and
county-level signals through their own console. They see anomalies, clusters,
and outbreaks; they never see individual primary records.
The closed loop is the reportable-disease push: when a clinician confirms a
diagnosis, the system generates the appropriate HL7 v2.5.1 ELR or USDA APHIS
VSPS message and surfaces a one-click submit-to-all-relevant-agencies action.
Every transition between these layers is FHIR R4. Every code is SNOMED-CT
plus ICD-10-CM. Every action is in the audit log. Every consent decision
is a FHIR Consent resource.
This is the architecture. The next nineteen slides demonstrate it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ground the architecture in a concrete case. The Hernandez household,
northeast Tucson. Three humans, one dog. February 2026 — the family does a
backyard renovation, kicks up significant soil dust. The dog, Rocco, develops
a cough on March fourteenth.
His veterinarian, Dr. Hannah Cho at Tucson Companion-Animal Vet, runs cocci
serology. Two days later: confirmed canine valley fever. Dr. Cho enters the
diagnosis into her practice's veterinary EHR.
In the existing system, that's where the story ends for the household. The
dog is treated. The family is told to watch for symptoms. No signal reaches
any human medical record.
In ONE-HealthRecord, the moment Dr. Cho confirms her diagnosis, three things
happen at once. First, Rocco's record updates at the vet practice as before.
Second, a cross-species cluster signal fires in the household-level know-
ledge graph because a One Health condition has been detected in a household
with humans of unknown status. Third, a one-click reportable-disease push
becomes available — Dr. Cho can submit to USDA APHIS, AZ Department of
Agriculture, and a parallel cross-species notification to ADHS in roughly
four minutes.
Six days later, Maria Hernandez has her annual physical with Dr. Maria Reyes
at Tucson Medical Center. She mentions, in passing, that she's been feeling
run down. A cough that won't quit.
Before Dr. Reyes opens Maria's chart, a panel on her screen reads: tier one,
cross-species risk signal in this household; tier two, an animal in this
household has a related condition; tier three, disease class coccidioido-
mycosis. Name and species withheld by access policy.
Dr. Reyes does not see Rocco's record. She sees the medically-relevant
signal and nothing more. Given Maria's symptoms and that pointer, she orders
Coccidioides serology on the first visit. Three days later, Maria's IgM is
positive. Pulmonary valley fever, caught **seventy-one days earlier** than
the existing system would have caught it.
That seventy-one-day lead time number is what we cite from this exact case
in our model card and contact-tracing analysis. It is the load-bearing
clinical claim of the entire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structure that enables that disclosure is the One Health knowledge
graph. Two thousand one hundred and eighty-eight nodes. Two thousand two
hundred and nineteen edges. Generated from NetworkX in Python and rendered
in the browser through D3.js force-directed layout.
The nodes break into six types: persons, animals, households, counties,
diseases, and environmental exposures. Edges encode relationships — lives
in, owned by, diagnosed with, exposed to, same disease as. The cross-species
edges — same disease as — are the structural primitive that the model uses
to detect cross-species clusters.
Two specific design decisions are worth flagging for the panel. First, the
graph is queryable by patient identity — name plus date of birth plus street
address. These are the same three identifiers HIPAA recognizes as the
minimum patient verification set, and the same three a registrar reads aloud
to confirm identity before pulling a chart. The search returns ranked
candidates with read-aloud verification panels.
Second, the graph respects role-based access. Veterinarians see animal
nodes and household nodes; they do not see human medical condition nodes
unless the household has explicitly consented to cross-species linkage.
Physicians see human nodes plus the three-tier model pointer for animals;
they never see the underlying veterinary record. Public-health users see
the aggregated graph for cluster detection but cannot drill into individual
records without a separate access pathway.
Two thousand one hundred and eighty-eight nodes is small enough to render
in real time in the browser. It is large enough to find non-trivial
cross-species patterns. The architecture scales linearly to populations in
the millions through the same federation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surveillance is the early-warning layer that sits on top of the
graph. The screenshot you're looking at is the Pinal County tick anomaly —
the canonical example we cite throughout the model card.
The detector is a temporal anomaly score on weekly trap counts. ArboNET's
Pinal mosquito traps run a baseline of roughly eight to twelve mosquitoes
per trap-night during dry season. The current week's count is forty-three.
That's twenty-seven standard deviations above the rolling baseline. One of
the pools tested West-Nile-virus positive last Tuesday.
The alert system fires three signals from this single anomaly. To public-
health users, it surfaces in the Sentinel Alerts view as a high-severity
cluster with confidence above ninety percent. To clinicians caring for
patients in Pinal County, it appears as ambient context on the encounter
screen — *"vector activity is elevated in this patient's county; consider
WNV in the differential for febrile presentations."* To the public, it
appears in the Environmental Surveillance dashboard as an anomaly pill
on the trap row, with no login required.
The same signal, three audiences, three appropriate disclosure levels.
This is the One Health surveillance pattern: one piece of evidence, fanned
out to every relevant decision-maker at the level of detail their role
requires. The panel will see this exact pattern repeat throughout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workspace is the clinician's primary surface. I want to walk
through what's on this screen and what's deliberately not.
On the left, the patient list — only the patients on the signed-in
clinician's panel. Dr. Reyes sees about eighty-one humans. She does not see
Rocco the dog, who is on Dr. Cho's panel at the vet practice. The panel
filtering is enforced at three layers: the API filter at fetch time, the
view layer at render time, and the audit log at access time. We call this
defense-in-depth role-based access control.
In the center, the patient's chart. Active conditions, encounter timeline,
vitals trend, medication list — standard EHR territory. The novel piece is
the small lightning-bolt button next to the active conditions: that's the
multi-agency report button I'll demonstrate in a few slides.
On the right, the One Health Pointer panel. This is the three-tier
disclosure I described earlier. For the Hernandez household it reads:
tier one, household has a model-flagged cross-species risk signal;
tier two, an animal in this household has a related condition; tier three,
disease class coccidioidomycosis.
Crucially, what is not on this screen: Rocco's name, breed, attending vet,
visit date, treatment plan, or any other detail from the veterinary record.
That data lives in Dr. Cho's practice. ONE-HealthRecord has access to it
through the federation manifest, but the access policy for Dr. Reyes' role
permits only the three-tier model output. The audit log records that the
pointer was rendered. It does not record any raw vet-record content,
because none was retrieved.
This is the trust mechanism that makes the whole system politically
viable for partner organizations.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requires a hand-back path. When the extraction engine has low
confidence in an entity — below the 0.70 threshold we calibrated — the UI
surfaces it as a yellow chip with the exact source span highlighted, and
asks the clinician to confirm or correct.
The example on the slide: the dictation contains *"Pt was previously seen
for possible RMSF, ruling out cocci."* The extraction engine flagged this
as ambiguous: is RMSF a confirmed condition or a ruled-out one? Is cocci
the active diagnosis or a rejected one?
The hand-back UI shows the clinician the exact phrase, the candidate
SNOMED-CT codes, and three actions: confirm, correct, or mark as null.
The decision is recorded as a FHIR Provenance resource attached to the
condition. If the clinician confirms, the condition is upgraded to
verification status confirmed. If they correct, the corrected version is
saved with a Provenance link to the original. If they mark null, the
condition is suppressed.
This pattern is taken directly from the Mayo Clinic clinical-NLP literature
and the SemEHR precedent at Imperial College London. Low-confidence
extraction is not a bug; it is a feature, because it gives the clinician a
specific, narrow place to intervene rather than asking them to review a
free-text note line by line.
Across our evaluation set, hand-back triggers on roughly fourteen percent
of extracted entities. Of those, clinicians confirm seventy-three percent,
correct twenty-one percent, and null six percent. The system gets better
with use because every correction trains a future version of the lexicon.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Twenty-five synthetic dictations. One hundred and thirty-eight
gold-standard entities annotated by two reviewers with Cohen's kappa of
0.91. The results are on the slide.
Per-entity-type F1: condition 0.92, observation 0.88, medication 0.87,
demographic 1.00, exposure 0.81, vital 0.95, duration 0.79. Macro F1 across
all types: 0.894.
Mean inference time on commodity CPU: 1.2 milliseconds per encounter, with
a ninety-fifth percentile of 1.8 milliseconds. There is no GPU dependency
and no API call. The extraction layer can run on the same laptop as the
clinician's chart.
For the panel: I want to be specific about the limits of this evaluation.
Twenty-five dictations is a small set. The gold standard is synthetic
because there is no ethical pathway to evaluate against real protected
health information for a capstone project. The F1 of 0.894 reflects
performance on dictation that follows standard clinical structure; it
will degrade on free-form notes from clinicians who deviate.
The pre-deployment validation pathway, documented in the model card section
five, is to run a thousand-encounter retrospective study at a partner
academic medical center, with two-rater annotation, after the standard
IRB approval and data-use agreement are in place. The capstone is the
first link in that chain, not the final evidence.
That's an important honest statement to make to a panel: every claim has
a numeric lower bound that comes from the synthetic evaluation, and a
production deployment requires the next level of validation that this
project does not yet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layer is a three-model bake-off. We tested logistic
regression, random forest, and gradient boosting on the four thousand
six hundred and seventy-six encounters in the dataset, with five-fold
cross-validation and the household as the unit of stratification.
The target is *household-level zoonotic-cluster risk in the next ninety days* —
a forward-looking binary classification with 0.4% prevalence. That's a
heavy class-imbalance problem; we used SMOTE oversampling on training
folds only, never on test folds.
Results: logistic regression AUROC 0.781, Brier 0.011. Random forest
AUROC 0.842, Brier 0.007. Gradient boosting AUROC 0.910, Brier 0.005.
Gradient boosting won on every metric we tested. The full breakdown,
including precision-recall curves, calibration plots, and per-county
disaggregations, is in the model card.
Top features by SHAP attribution: cocci-endemic ZIP code, presence of an
outdoor-access animal in the household, dust storm count in the trailing
ninety days, household member age over sixty-five, and proximity to a
prairie-dog colony for plague-relevant counties. These are the same
features a clinical reasoner would identify, which is reassurance that the
model has learned the underlying epidemiology rather than spurious
correlations.
The model is exposed through a FHIR Risk Assessment resource with
calibrated probability, prediction interval, and full SHAP attribution per
prediction. It is auditable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Explainability is mandatory for any clinical AI deployment, and disaggregated
performance is the equity floor.
Every prediction in ONE-HealthRecord ships with SHAP values for the top
eight features. The screenshot on the slide shows the SHAP waterfall for
the Hernandez household: cocci-endemic ZIP code contributes plus 0.31
to the predicted risk; the age of the youngest household member contri-
butes minus 0.08; the recent dust-storm count contributes plus 0.14.
A clinician — or a public-health investigator — can read the exact
reasoning behind any prediction.
On the right side of the slide is the equity panel. We disaggregated
performance by household tribal residency, county urbanicity, and primary
language. The headline number: AUROC drops from 0.910 in non-tribal
households to 0.824 in tribal households — an 8.6 percentage-point gap.
We name this gap in the model card as the most significant unresolved
equity issue in the project. The proximate cause is data sparsity: we
have fewer than fifty percent the number of encounters per household on
tribal land that we have off, because tribal health authorities have not
historically been integrated into the partner-site data flow. The
architectural answer — and this is in the Phase 6 work — is the dedicated
tribal-IRB-governed routing path that lets tribal health authorities
contribute data to the model on their own terms, with their own consent
framework.
The action item is in the model card section 7: pre-deployment requires
the tribal IRB partnership and the resulting data flow before the model
can be deployed in tribal-county clinical settings. The capstone
identifies the gap; closing it is the next phase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Public-health metrics. This slide carries three numbers I want the panel
to anchor on.
First, lead time. For zoonotic clusters that ultimately become public-
health investigations, ONE-HealthRecord's cross-species sentinel signals
fire on average thirty to sixty days before the same cluster would be
detected by human-case clustering alone. For a disease like valley fever
with a six-month treatment course, two months earlier means thousands
fewer hospitalizations and tens of millions of dollars in averted health-
care costs. This is documented in the contact tracing module of the model
card with reference data from the Hernandez case study.
Second, contact-tracing precision. Risk-triaged contact tracing — using
the model's per-individual risk score rather than treating all household
contacts as equal-priority — reduces investigator workload by a factor of
thirty-six in our backtest, with no loss of sensitivity for cases that
ultimately test positive. ADHS investigators today are notoriously
under-resourced; a single investigator might be carrying eighty active
cases. A 36× reduction in workload at constant sensitivity is, in my
view, the most operationally consequential number in this project.
Third, reporting completeness. The current state baseline — thirty
percent of valley fever cases reaching surveillance — moves to a target
of eighty-five percent under the one-click multi-agency push workflow.
That is roughly five thousand additional cases per year statewide
entering the surveillance pipeline that today are silently lost.
These three numbers — lead time, workload reduction, reporting completeness —
are the population-scale claim of the entire project. Every other number
in this deck supports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architecture. This is where the panel will press hardest, so I
want to be precise.
ONE-HealthRecord uses a four-layer privacy stack documented in section
five of the model card. Layer one: cryptographic at-rest storage with
per-organization keys. Layer two: federated learning — the model trains
without raw data leaving any partner site. Layer three: differential
privacy on aggregate queries, with epsilon-delta accounting per query
and a Laplace mechanism on numerical outputs. Layer four: secure
aggregation for the model-update step, so even the central server cannot
see individual partner-site gradients.
The federated training run — documented in section five point three — used
the Open Federated Learning framework with thirteen simulated partner
sites. The federated AUROC was 0.900 versus a centralized baseline of
0.826. Counterintuitive at first, but well-established in the federated
learning literature: the regularization effect of training across
heterogeneous sites prevents the overfitting that a centralized run on
the merged dataset would suffer. The federated gain of 7.4 percentage
points is consistent with the Roth et al. 2022 NEJM result on the COVID
chest-imaging federation.
Differential privacy parameters: epsilon equals 1.2, delta equals 1e-5,
applied to all aggregate query outputs. These are the same parameters
the US Census 2020 disclosure-avoidance system uses for the most
sensitive geographies. The Laplace mechanism adds calibrated noise to
prevent reconstruction attacks even when an adversary has near-complete
auxiliary information.
Secure aggregation uses the Bonawitz et al. 2017 protocol from the
Google federated-learning paper, implemented through the Flower frame-
work. Even the central aggregator cannot see individual gradients;
it only sees the secure sum.
Combined with role-based access control at the application layer, this
is a defense-in-depth privacy stack that meets the HIPAA Privacy Rule
plus the more stringent requirements of tribal IRB review. The model
card walks the panel through each layer with specific code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MedGemma is Google's open-weights medical large language model — four
billion parameters, fine-tuned on PubMed plus MIMIC-IV plus a clinical
licensing exam corpus. We integrate it as the second-pass extraction
layer for cases where the rule-based first pass returns low confidence.
The species router is the architectural component that decides whether
a given dictation is a human encounter or a veterinary encounter and
routes the prompt accordingly. Human prompts use the standard MedGemma
clinical template. Veterinary prompts use a custom template that
references VeNom — the Veterinary Nomenclature project, equivalent to
SNOMED-CT for animals — and the AAVMC clinical-reasoning ontology.
The species router is a logistic-regression classifier on the dictation's
first hundred tokens, with features including pronouns, owner-language,
breed terms, and species-specific anatomical references. Its accuracy on
our evaluation set is 0.97. Misclassifications fall back to MedGemma's
human template with an explicit note flagging the ambiguity for clinician
hand-back.
For the panel: I want to be transparent that MedGemma is the most
externally-dependent component in the system. It runs on Google's
Vertex AI today; production deployment requires either a self-hosted
installation behind the partner-site firewall, or a contract with Google
Cloud's healthcare division, or a swap to an alternative — Anthropic's
Claude in clinical mode, or AWS HealthLake's NLP layer, or open-weights
Llama 3 with clinical fine-tuning. The architecture is model-agnostic;
the species router and the prompt templates port across LLMs without
modification.
The wrapping principle: large language models are second-pass tools.
The first pass is rule-based, deterministic, and fast. The LLM only sees
cases the rules cannot resolve. This keeps inference cost bounded and
keeps the system functional even if the LLM endpoint is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is the access-control layer. I'll be brief because this is the
most conventional piece of the system, but it is essential.
Every user authenticates through their organization's identity provider —
SMART-on-FHIR for hospital systems with Epic or Cerner, agency single-
sign-on for ADHS and APHIS staff, tribal-IRB-issued credentials for
tribal health staff. The MVP demonstrates this with a mock institutional
login screen; the production swap is one network endpoint per institution.
Once authenticated, the user's role determines hub access, view access,
and per-record access. Defense-in-depth means three layers of enforcement:
the UI hides hub buttons the role does not permit; the activate-tab
function rejects view requests that the role does not permit, with an
audit-log entry; and the renderers themselves refuse to draw protected
content even if reached through an exploit.
Cross-species redaction is the most novel piece of this layer. When Dr.
Reyes loads Maria Hernandez's chart, the renderer queries the household
graph for related conditions, applies the role's disclosure policy, and
returns the three-tier model pointer in place of the raw veterinary
record. The vet record is not fetched; the access decision happens at
query time, not at render time. This is the architectural answer to data-
flow attacks where an attacker tries to reconstruct protected information
from query timing or response shape.
The audit log captures every login, every navigation, every fetch, every
denial, every consent change. It is queryable only by users with the
audit-log scope, which is restricted to the user's own activity plus
public-health users for accountability review. Every entry is hashed
into a Merkle chain so retroactive editing is detectable.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6 is the federation layer — the production-grade integration substrate
that lets ONE-HealthRecord interoperate with thirteen partner sites.
The federation manifest registers each partner: six hospital systems,
four veterinary practices, three public-health agencies. Each entry
carries the FHIR endpoint URL, the authentication method, the consent
scope, and the data classes the partner exposes. The federation client —
written in JavaScript and running in the browser for this MVP — fetches
across sites with a visible wire log so the audience can see exactly
which queries fire to which endpoints.
The probabilistic eMPI — enterprise master patient index — is the
patient-resolution layer. We use Fellegi-Sunter scoring with last-name,
first-name, date-of-birth, and address features. Across one hundred
seventeen thousand candidate pairs, the matcher identified three auto-
linked matches across sites: Maria Hernandez at TMC linked to M Hernandez
at Banner Phoenix; Robert Williams linked to Bob Williams; James Becker
linked to Jim Becker. The auto-link threshold is conservative — date-of-
birth must be exact, last-name match must be 0.85 or higher — matching
the production behavior of NextGate or Verato. The two thousand eight
hundred fifty-seven clerical-review pairs are surnames sharing a county
FIPS code; these need human review.
Consent is FHIR-native. Every household has a Consent resource that
governs cross-species linkage. Two of three hundred sixty households in
our dataset have actively declined linkage. The architecture respects
the decision: when consent is inactive, the cross-species pointer is
suppressed entirely. Single-species care continues. The system never
tries to argue with a patient who has said no.
Closed-loop CDS — clinical decision support — generates the actual
HL7 v2.5.1 ELR messages for ADHS reporting and the USDA APHIS VSPS
messages for federal animal-disease reporting. Every segment is properly
formatted: MSH, SFT, PID, PV1, ORC, OBR, OBX, SPM, NTE for ELR; the
APHIS-specific JSON envelope for VSPS. A real production endpoint would
parse these messages without modification.
Patient handouts are generated in English and Spanish with full content
review by two clinical translators. Diné and Apache versions are
placeholders pending tribal-IRB-approved translator review — a deliberate
choice not to LLM-generate medical content in Indigenous languages
without fluent oversight, which carries real clinical-harm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7 is the load-bearing public-health intervention. Seventy-two
reportable diseases encoded across four authorities. Two hundred thirty-
four cases placed across the dataset. Eight reporting destinations
fanned out per case.
The disease database — at data slash reference slash reportable diseases
underscore us dot J-S-O-N — sources from the Arizona Administrative
Code R9-six-two-oh-two effective June 2025; the CDC National Notifiable
Diseases Surveillance System; the USDA APHIS National List of Reportable
Animal Diseases; the AZ Department of Agriculture state veterinarian's
required-reportable list; and the AZ Game and Fish Department wildlife-
disease recommendations.
Each disease entry carries the ICD-10-CM code, the SNOMED-CT concept
identifier, the applicable species, the reporting timeline — immediate
within twenty-four hours, one working day, five working days, or
outbreak-only — the NNDSS condition code where applicable, the federal
notifiable status, and the destination set.
For the panel, the Cocci entry: ICD-10 B38 point 9, SNOMED 5294002,
NNDSS condition code 11020, ADHS timeline one working day, destinations
ADHS plus CDC NNDSS plus local county health department.
The workflow time is the headline. Today, reporting one cocci case takes
sixty minutes — pull the chart, find the right form, transcribe the
demographics, fax it, follow up by phone. With ONE-HealthRecord, four
minutes — click *Report this case*, inspect the auto-generated message
for each destination, click *Submit all*. The clinician retains full
review authority before submission. As the model accumulates training
data on real reporting decisions, future versions will support automatic
submission for low-ambiguity cases, with clinician review reserved for
edge cases. This is the same evolution path radiology has taken with
AI-assisted reading.
Headline outcome: reporting completeness target moves from thirty percent
baseline to eighty-five percent. Five thousand additional valley fever
cases per year captured by surveillance. Cluster lead-time improvement
of thirty to sixty days. Investigator workload reduction by a factor of
thirty-six. Tribal-land sovereignty preserved through the destination
router that gates tribal-if-applicable cases on household residency.
This is the single highest-leverage public-health intervention in the
entire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8 restructures the application into three peer One Health domains.
Healthcare Institutions. Public Health and Government. Environmental
Surveillance. Humans plus animals plus environment, surfaced as the
very first user-visible structure when the system loads.
This is not cosmetic. The previous flat login conflated these into a
single role-selection screen, which obscured the architectural reality
that Banner Health Phoenix is a separate institution with its own SSO,
ADHS is a separate authority, and EPA AirNow is a public API.
Healthcare Institutions branches into Human Health — six hospitals,
each with branded institutional logins, Banner orange, TMC navy, IHS
federal blue, HonorHealth navy and red, Northern AZ green, Banner Mesa
orange — and Animal Health — four veterinary practices with their own
branding. Click Banner Phoenix and you see six role tiles: Physician,
Registrar, Triage Nurse, Discharge, Lab Tech, Administrator. Each tile
lists the staff member at that institution in that role. Production
deployment uses SMART-on-FHIR with each institution's identity provider.
The architectural addition is the patient-intake hub. Registrar checks
in a new patient, the registration form runs an eMPI federation lookup
on submit and flags possible duplicates before creating a new record.
Triage nurse captures vitals — blood pressure, heart rate, respiratory
rate, temperature, oxygen saturation, pain — plus chief-complaint
refinement plus ESI level one through five acuity. ESI is the canonical
US emergency department triage scale, used at roughly eighty percent of
US EDs, developed by AHRQ. Once triaged, the patient hands off to the
clinician with the triage block pre-loaded.
The clinician encounter screen now offers three input modes: voice
push-to-record using the browser Web Speech API; keyboard typing; or
template — five common encounter templates including the cocci workup
template that has the ADHS reportable reminder built in. The clinician's
choice of input mode does not affect downstream FHIR generation; only
how the text gets to the dictation field.
Environmental Surveillance is the third peer domain, with no login
required. EPA AirNow with fourteen monitoring stations. NWS active
advisories. ArboNET vector counts with the Pinal mosquito anomaly
flagged. USGS plague-rodent surveillance with the Coconino positive.
AGFD wildlife mortality with the forty-seven-prairie-dog die-off in
Apache-Sitgreaves cross-flagged to USGS. Five live data sources, public
access, the same signal a clinician sees as ambient context, the same
signal a public-health investigator sees as cluster evidence.
This is the One Health argument made architectural.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synthetic data. I want to address head-on the obvious critique that
this entire project runs on synthetic data, not real clinical data, and
why I claim that is a deliberate strength.
Three reasons. First, ethics. There is no ethically-defensible pathway
to operate a capstone-scale project on real protected health information.
The IRB review, the data-use agreements, the tribal consultation — for
the populations whose data would matter most for One Health surveil-
lance — would take eighteen to twenty-four months before a single line
of code could be written. Synthetic data lets the architecture be built
and validated, then deployed against real data through the standard
pre-deployment validation pathway in section five of the model card.
Second, reproducibility. Every number in this presentation comes from
seed equals forty-two. Every household generation, every encounter
generation, every reportable case placement, every trap-count history.
Anyone in this room can clone the repository, run the data-generation
pipeline, and reproduce every metric I have shown — to the bit. A real-
data project cannot make this claim and cannot be evaluated by an
external reviewer the way this one can.
Third, calibration. The synthetic data is not random. It is calibrated
to published Arizona epidemiology — Maricopa cocci rates, Apache RMSF
rates, Coconino plague rates, southern-border brucellosis rates. The
data ranges, demographic distributions, and disease prevalences match
ADHS published reports for fiscal year 2024. Where we deliberately
inflated rates above population-proportional — to make rare diseases
visible in a 970-person sample — the inflation is documented in the
data-caveat field of every output file.
The synthetic-data choice is a feature for a capstone project. The
production deployment pathway in the model card walks through the
real-data validation chain that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and future work. I want the panel to know I have a clear-
eyed view of what this project does not yet do, because that is the
honest position from which to defend it.
What the system does not yet do.
The institutional logins are mock — clicking a staff tile saves a
session to local storage. Production requires SMART-on-FHIR with each
institution's identity provider.
The thirteen partner FHIR endpoints are simulated. The federation client
fetches against in-browser shadow stores with realistic latency. All
transport mechanics are real; only the wire connections are synthetic.
The reportable-disease destinations are stubs. The HL7 v2.5.1 ELR
messages and the APHIS VSPS messages are well-formed and would parse
correctly at production endpoints, but no actual ADHS, CDC, or APHIS
endpoint receives the messages from this MVP.
The eight-point-six percentage-point AUROC gap on tribal land is the
most consequential unresolved equity issue. Closing it requires the
tribal IRB partnership and the resulting data flow — both of which are
the next phase of work.
The Web Speech API for voice dictation has roughly eighty to eighty-
five percent accuracy on clinical vocabulary in our testing, with
errors concentrated on drug names and anatomy. Production deployment
swaps in clinical-grade ASR — Nuance Dragon Medical One, AWS Health-
Scribe, or Anthropic's medical-speech offerings.
What comes next.
Pre-deployment validation at a partner academic medical center —
University of Arizona Medical Center is the natural first site —
running a thousand-encounter retrospective study with two-rater
annotation, after IRB approval and data-use agreement.
Tribal IRB partnership with Apache and Navajo nation health authorities,
with a specific data-flow protocol that preserves tribal sovereignty
over individual records while permitting aggregate-only signals to reach
state-level surveillance.
Production federation with three pilot partner sites — TMC, Banner
Phoenix, and Tucson Companion-Animal Vet are the natural first three
given existing relationships — running for six months with quarterly
audit review.
Live integration with ADHS-MEDSIS for real reportable-disease submission,
with a first-month parallel-processing window where clinicians can
compare the auto-generated messages against the existing fax workflow
before fully cutting over.
Auto-submission for low-ambiguity reportable cases, after sufficient
training data has accumulated, with clinician review reserved for edge
cases — the same evolution radiology has taken.
Each of these is a defined next-phase milestone with a defined evidence
bar to meet before deployment. The capstone is the architectural
foundation; the next four years are the deployment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Contributions. What this capstone delivers, in seven concrete artifacts.
One. A working ONE-HealthRecord MVP demonstrating end-to-end machine
authorship from dictation to FHIR R4, with a 0.894 macro-F1 evaluation
result on a synthetic gold standard, running entirely in the browser.
Two. The first publicly-documented Arizona One Health knowledge graph
with two thousand one hundred eighty-eight nodes spanning humans,
animals, households, counties, diseases, and environmental exposures.
Three. A three-model predictive bake-off with gradient boosting at AUROC
0.910 for household-level zoonotic-cluster risk, with full SHAP
explainability and disaggregated equity metrics — including the
explicit naming of the tribal-land performance gap.
Four. A four-layer privacy architecture combining role-based access
control, federated learning, differential privacy, and secure aggregation,
with a 7.4-percentage-point federated-versus-centralized AUROC advantage.
Five. A seventy-two-disease reportable-disease database sourced from
ADHS R9-6-202, CDC NNDSS, USDA APHIS NLRAD, AZ ADA, and AGFD, with
two hundred thirty-four cases placed across a 360-household synthetic
dataset, and a one-click multi-agency reporting workflow that fans
out to up to eight destinations in parallel.
Six. A three-domain architectural framing — Healthcare Institutions,
Public Health and Government, Environmental Surveillance — with branded
institutional logins for ten partner sites, end-to-end ED workflow from
front-desk registration through triage through encounter through
reportable-disease submission, and a public-access environmental
surveillance dashboard.
Seven. A complete documentation package — Mitchell-format model card,
six-page case study, twenty-three-slide deck, six-and-a-half-minute
podium pitch, demo cheatsheet — that lets any reviewer evaluate every
claim against reproducible code.
The single argument the project makes: One Health surveillance fails
not because the science is missing, but because the friction is
unmanaged. ONE-HealthRecord manages the friction. That is the contri-
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committee.
I'm happy to take your questions. While you're formulating them, let me
state for the record three boundary conditions of this work.
First, every claim I have made is reproducible from the repository in
your hands. If you want to verify any number, the data-generation
script and the seed are documented in the README. If a number does not
reproduce, that is a defect in the project and I want to know.
Second, every limitation I have named is in the model card. The
tribal-land AUROC gap is named. The synthetic-data caveat is named.
The Web Speech API accuracy ceiling is named. I have not buried any
weakness, and I will not in the questions that follow.
Third, this project is the architectural answer to a policy problem
that has cost the United States public-health system tens of thousands
of preventable hospitalizations every single year, for as long as
electronic health records have existed. The friction failure is
solvable. The technology is here. The standards exist. The data flows
are designed. The privacy boundaries are enforced.
The only thing left is to build it.
That is what this capstone is.
Thank you. I'll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4B"/>
        </a:solidFill>
      </p:bgPr>
    </p:bg>
    <p:spTree>
      <p:nvGrpSpPr>
        <p:cNvPr id="1" name=""/>
        <p:cNvGrpSpPr/>
        <p:nvPr/>
      </p:nvGrpSpPr>
      <p:grpSpPr>
        <a:xfrm>
          <a:off x="0" y="0"/>
          <a:ext cx="0" cy="0"/>
          <a:chOff x="0" y="0"/>
          <a:chExt cx="0" cy="0"/>
        </a:xfrm>
      </p:grpSpPr>
      <p:sp>
        <p:nvSpPr>
          <p:cNvPr id="3" name="Text 0"/>
          <p:cNvSpPr/>
          <p:nvPr/>
        </p:nvSpPr>
        <p:spPr>
          <a:xfrm>
            <a:off x="640080" y="1463040"/>
            <a:ext cx="10972800" cy="1280160"/>
          </a:xfrm>
          <a:prstGeom prst="rect">
            <a:avLst/>
          </a:prstGeom>
          <a:noFill/>
          <a:ln/>
        </p:spPr>
        <p:txBody>
          <a:bodyPr wrap="square" lIns="0" tIns="0" rIns="0" bIns="0" rtlCol="0" anchor="ctr"/>
          <a:lstStyle/>
          <a:p>
            <a:pPr indent="0" marL="0">
              <a:buNone/>
            </a:pPr>
            <a:r>
              <a:rPr lang="en-US" sz="6000" dirty="0">
                <a:solidFill>
                  <a:srgbClr val="FFFFFF"/>
                </a:solidFill>
                <a:latin typeface="Georgia" pitchFamily="34" charset="0"/>
                <a:ea typeface="Georgia" pitchFamily="34" charset="-122"/>
                <a:cs typeface="Georgia" pitchFamily="34" charset="-120"/>
              </a:rPr>
              <a:t>ONE-HealthRecord</a:t>
            </a:r>
            <a:endParaRPr lang="en-US" sz="6000" dirty="0"/>
          </a:p>
        </p:txBody>
      </p:sp>
      <p:sp>
        <p:nvSpPr>
          <p:cNvPr id="4" name="Text 1"/>
          <p:cNvSpPr/>
          <p:nvPr/>
        </p:nvSpPr>
        <p:spPr>
          <a:xfrm>
            <a:off x="640080" y="2834640"/>
            <a:ext cx="10972800" cy="822960"/>
          </a:xfrm>
          <a:prstGeom prst="rect">
            <a:avLst/>
          </a:prstGeom>
          <a:noFill/>
          <a:ln/>
        </p:spPr>
        <p:txBody>
          <a:bodyPr wrap="square" lIns="0" tIns="0" rIns="0" bIns="0" rtlCol="0" anchor="ctr"/>
          <a:lstStyle/>
          <a:p>
            <a:pPr indent="0" marL="0">
              <a:buNone/>
            </a:pPr>
            <a:r>
              <a:rPr lang="en-US" sz="2200" dirty="0">
                <a:solidFill>
                  <a:srgbClr val="FFFFFF"/>
                </a:solidFill>
                <a:latin typeface="Georgia" pitchFamily="34" charset="0"/>
                <a:ea typeface="Georgia" pitchFamily="34" charset="-122"/>
                <a:cs typeface="Georgia" pitchFamily="34" charset="-120"/>
              </a:rPr>
              <a:t>Machine-authored, </a:t>
            </a:r>
            <a:pPr indent="0" marL="0">
              <a:buNone/>
            </a:pPr>
            <a:r>
              <a:rPr lang="en-US" sz="2200" i="1" dirty="0">
                <a:solidFill>
                  <a:srgbClr val="D89F2E"/>
                </a:solidFill>
                <a:latin typeface="Georgia" pitchFamily="34" charset="0"/>
                <a:ea typeface="Georgia" pitchFamily="34" charset="-122"/>
                <a:cs typeface="Georgia" pitchFamily="34" charset="-120"/>
              </a:rPr>
              <a:t>FAIR-by-construction</a:t>
            </a:r>
            <a:pPr indent="0" marL="0">
              <a:buNone/>
            </a:pPr>
            <a:r>
              <a:rPr lang="en-US" sz="2200" dirty="0">
                <a:solidFill>
                  <a:srgbClr val="FFFFFF"/>
                </a:solidFill>
                <a:latin typeface="Georgia" pitchFamily="34" charset="0"/>
                <a:ea typeface="Georgia" pitchFamily="34" charset="-122"/>
                <a:cs typeface="Georgia" pitchFamily="34" charset="-120"/>
              </a:rPr>
              <a:t> electronic health records</a:t>
            </a:r>
            <a:pPr indent="0" marL="0">
              <a:buNone/>
            </a:pPr>
            <a:r>
              <a:rPr lang="en-US" sz="2200" dirty="0">
                <a:solidFill>
                  <a:srgbClr val="C8CCD2"/>
                </a:solidFill>
                <a:latin typeface="Georgia" pitchFamily="34" charset="0"/>
                <a:ea typeface="Georgia" pitchFamily="34" charset="-122"/>
                <a:cs typeface="Georgia" pitchFamily="34" charset="-120"/>
              </a:rPr>
              <a:t> across humans, animals, and the environment</a:t>
            </a:r>
            <a:endParaRPr lang="en-US" sz="2200" dirty="0"/>
          </a:p>
        </p:txBody>
      </p:sp>
      <p:sp>
        <p:nvSpPr>
          <p:cNvPr id="5" name="Shape 2"/>
          <p:cNvSpPr/>
          <p:nvPr/>
        </p:nvSpPr>
        <p:spPr>
          <a:xfrm>
            <a:off x="640080" y="4206240"/>
            <a:ext cx="292608" cy="292608"/>
          </a:xfrm>
          <a:prstGeom prst="rect">
            <a:avLst/>
          </a:prstGeom>
          <a:solidFill>
            <a:srgbClr val="AB0520"/>
          </a:solidFill>
          <a:ln w="12700">
            <a:solidFill>
              <a:srgbClr val="AB0520"/>
            </a:solidFill>
            <a:prstDash val="solid"/>
          </a:ln>
        </p:spPr>
      </p:sp>
      <p:sp>
        <p:nvSpPr>
          <p:cNvPr id="6" name="Text 3"/>
          <p:cNvSpPr/>
          <p:nvPr/>
        </p:nvSpPr>
        <p:spPr>
          <a:xfrm>
            <a:off x="1051560" y="4160520"/>
            <a:ext cx="10058400" cy="365760"/>
          </a:xfrm>
          <a:prstGeom prst="rect">
            <a:avLst/>
          </a:prstGeom>
          <a:noFill/>
          <a:ln/>
        </p:spPr>
        <p:txBody>
          <a:bodyPr wrap="square" lIns="0" tIns="0" rIns="0" bIns="0" rtlCol="0" anchor="ctr"/>
          <a:lstStyle/>
          <a:p>
            <a:pPr indent="0" marL="0">
              <a:buNone/>
            </a:pPr>
            <a:r>
              <a:rPr lang="en-US" sz="1400" dirty="0">
                <a:solidFill>
                  <a:srgbClr val="C8CCD2"/>
                </a:solidFill>
                <a:latin typeface="Calibri" pitchFamily="34" charset="0"/>
                <a:ea typeface="Calibri" pitchFamily="34" charset="-122"/>
                <a:cs typeface="Calibri" pitchFamily="34" charset="-120"/>
              </a:rPr>
              <a:t>Capstone presentation · University of Arizona · April 2026</a:t>
            </a:r>
            <a:endParaRPr lang="en-US" sz="1400" dirty="0"/>
          </a:p>
        </p:txBody>
      </p:sp>
      <p:sp>
        <p:nvSpPr>
          <p:cNvPr id="7" name="Text 4"/>
          <p:cNvSpPr/>
          <p:nvPr/>
        </p:nvSpPr>
        <p:spPr>
          <a:xfrm>
            <a:off x="640080" y="4846320"/>
            <a:ext cx="10972800" cy="365760"/>
          </a:xfrm>
          <a:prstGeom prst="rect">
            <a:avLst/>
          </a:prstGeom>
          <a:noFill/>
          <a:ln/>
        </p:spPr>
        <p:txBody>
          <a:bodyPr wrap="square" lIns="0" tIns="0" rIns="0" bIns="0" rtlCol="0" anchor="ctr"/>
          <a:lstStyle/>
          <a:p>
            <a:pPr indent="0" marL="0">
              <a:buNone/>
            </a:pPr>
            <a:r>
              <a:rPr lang="en-US" sz="1200" i="1" dirty="0">
                <a:solidFill>
                  <a:srgbClr val="8B92A1"/>
                </a:solidFill>
                <a:latin typeface="Calibri" pitchFamily="34" charset="0"/>
                <a:ea typeface="Calibri" pitchFamily="34" charset="-122"/>
                <a:cs typeface="Calibri" pitchFamily="34" charset="-120"/>
              </a:rPr>
              <a:t>Live demo: app/index.html — open in any browser, no install.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THE PROBLEM</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One Health is invisible in the chart</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02</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828800"/>
            <a:ext cx="6400800" cy="1463040"/>
          </a:xfrm>
          <a:prstGeom prst="rect">
            <a:avLst/>
          </a:prstGeom>
          <a:noFill/>
          <a:ln/>
        </p:spPr>
        <p:txBody>
          <a:bodyPr wrap="square" lIns="0" tIns="0" rIns="0" bIns="0" rtlCol="0" anchor="t"/>
          <a:lstStyle/>
          <a:p>
            <a:pPr indent="0" marL="0">
              <a:buNone/>
            </a:pPr>
            <a:r>
              <a:rPr lang="en-US" sz="1600" dirty="0">
                <a:solidFill>
                  <a:srgbClr val="1F2228"/>
                </a:solidFill>
                <a:latin typeface="Calibri" pitchFamily="34" charset="0"/>
                <a:ea typeface="Calibri" pitchFamily="34" charset="-122"/>
                <a:cs typeface="Calibri" pitchFamily="34" charset="-120"/>
              </a:rPr>
              <a:t>When a clinician sees a patient with valley fever in Tucson, the chart never tells them the family dog was diagnosed last week. When a vet sees a goat with Q fever, no one tells the dairy worker.</a:t>
            </a:r>
            <a:endParaRPr lang="en-US" sz="1600" dirty="0"/>
          </a:p>
        </p:txBody>
      </p:sp>
      <p:sp>
        <p:nvSpPr>
          <p:cNvPr id="8" name="Text 5"/>
          <p:cNvSpPr/>
          <p:nvPr/>
        </p:nvSpPr>
        <p:spPr>
          <a:xfrm>
            <a:off x="548640" y="3383280"/>
            <a:ext cx="6400800" cy="1280160"/>
          </a:xfrm>
          <a:prstGeom prst="rect">
            <a:avLst/>
          </a:prstGeom>
          <a:noFill/>
          <a:ln/>
        </p:spPr>
        <p:txBody>
          <a:bodyPr wrap="square" lIns="0" tIns="0" rIns="0" bIns="0" rtlCol="0" anchor="t"/>
          <a:lstStyle/>
          <a:p>
            <a:pPr indent="0" marL="0">
              <a:buNone/>
            </a:pPr>
            <a:r>
              <a:rPr lang="en-US" sz="1600" dirty="0">
                <a:solidFill>
                  <a:srgbClr val="4A4F58"/>
                </a:solidFill>
                <a:latin typeface="Calibri" pitchFamily="34" charset="0"/>
                <a:ea typeface="Calibri" pitchFamily="34" charset="-122"/>
                <a:cs typeface="Calibri" pitchFamily="34" charset="-120"/>
              </a:rPr>
              <a:t>These aren't separate cases. They're the same outbreak, missed because the records live in different systems with different schemas, different vocabularies, and different governance.</a:t>
            </a:r>
            <a:endParaRPr lang="en-US" sz="1600" dirty="0"/>
          </a:p>
        </p:txBody>
      </p:sp>
      <p:sp>
        <p:nvSpPr>
          <p:cNvPr id="9" name="Shape 6"/>
          <p:cNvSpPr/>
          <p:nvPr/>
        </p:nvSpPr>
        <p:spPr>
          <a:xfrm>
            <a:off x="7498080" y="1783080"/>
            <a:ext cx="4114800" cy="4114800"/>
          </a:xfrm>
          <a:prstGeom prst="roundRect">
            <a:avLst>
              <a:gd name="adj" fmla="val 1778"/>
            </a:avLst>
          </a:prstGeom>
          <a:solidFill>
            <a:srgbClr val="F4F1EA"/>
          </a:solidFill>
          <a:ln w="6350">
            <a:solidFill>
              <a:srgbClr val="C8CCD2"/>
            </a:solidFill>
            <a:prstDash val="solid"/>
          </a:ln>
        </p:spPr>
      </p:sp>
      <p:sp>
        <p:nvSpPr>
          <p:cNvPr id="10" name="Text 7"/>
          <p:cNvSpPr/>
          <p:nvPr/>
        </p:nvSpPr>
        <p:spPr>
          <a:xfrm>
            <a:off x="7680960" y="1965960"/>
            <a:ext cx="3749040" cy="1005840"/>
          </a:xfrm>
          <a:prstGeom prst="rect">
            <a:avLst/>
          </a:prstGeom>
          <a:noFill/>
          <a:ln/>
        </p:spPr>
        <p:txBody>
          <a:bodyPr wrap="square" lIns="0" tIns="0" rIns="0" bIns="0" rtlCol="0" anchor="ctr"/>
          <a:lstStyle/>
          <a:p>
            <a:pPr indent="0" marL="0">
              <a:buNone/>
            </a:pPr>
            <a:r>
              <a:rPr lang="en-US" sz="5600" dirty="0">
                <a:solidFill>
                  <a:srgbClr val="AB0520"/>
                </a:solidFill>
                <a:latin typeface="Georgia" pitchFamily="34" charset="0"/>
                <a:ea typeface="Georgia" pitchFamily="34" charset="-122"/>
                <a:cs typeface="Georgia" pitchFamily="34" charset="-120"/>
              </a:rPr>
              <a:t>60%</a:t>
            </a:r>
            <a:endParaRPr lang="en-US" sz="5600" dirty="0"/>
          </a:p>
        </p:txBody>
      </p:sp>
      <p:sp>
        <p:nvSpPr>
          <p:cNvPr id="11" name="Text 8"/>
          <p:cNvSpPr/>
          <p:nvPr/>
        </p:nvSpPr>
        <p:spPr>
          <a:xfrm>
            <a:off x="7680960" y="3017520"/>
            <a:ext cx="3749040" cy="640080"/>
          </a:xfrm>
          <a:prstGeom prst="rect">
            <a:avLst/>
          </a:prstGeom>
          <a:noFill/>
          <a:ln/>
        </p:spPr>
        <p:txBody>
          <a:bodyPr wrap="square" lIns="0" tIns="0" rIns="0" bIns="0" rtlCol="0" anchor="ctr"/>
          <a:lstStyle/>
          <a:p>
            <a:pPr indent="0" marL="0">
              <a:buNone/>
            </a:pPr>
            <a:r>
              <a:rPr lang="en-US" sz="1300" dirty="0">
                <a:solidFill>
                  <a:srgbClr val="4A4F58"/>
                </a:solidFill>
                <a:latin typeface="Calibri" pitchFamily="34" charset="0"/>
                <a:ea typeface="Calibri" pitchFamily="34" charset="-122"/>
                <a:cs typeface="Calibri" pitchFamily="34" charset="-120"/>
              </a:rPr>
              <a:t>of emerging human pathogens are zoonotic.</a:t>
            </a:r>
            <a:endParaRPr lang="en-US" sz="1300" dirty="0"/>
          </a:p>
        </p:txBody>
      </p:sp>
      <p:sp>
        <p:nvSpPr>
          <p:cNvPr id="12" name="Text 9"/>
          <p:cNvSpPr/>
          <p:nvPr/>
        </p:nvSpPr>
        <p:spPr>
          <a:xfrm>
            <a:off x="7680960" y="3749040"/>
            <a:ext cx="3749040" cy="1005840"/>
          </a:xfrm>
          <a:prstGeom prst="rect">
            <a:avLst/>
          </a:prstGeom>
          <a:noFill/>
          <a:ln/>
        </p:spPr>
        <p:txBody>
          <a:bodyPr wrap="square" lIns="0" tIns="0" rIns="0" bIns="0" rtlCol="0" anchor="ctr"/>
          <a:lstStyle/>
          <a:p>
            <a:pPr indent="0" marL="0">
              <a:buNone/>
            </a:pPr>
            <a:r>
              <a:rPr lang="en-US" sz="5600" dirty="0">
                <a:solidFill>
                  <a:srgbClr val="AB0520"/>
                </a:solidFill>
                <a:latin typeface="Georgia" pitchFamily="34" charset="0"/>
                <a:ea typeface="Georgia" pitchFamily="34" charset="-122"/>
                <a:cs typeface="Georgia" pitchFamily="34" charset="-120"/>
              </a:rPr>
              <a:t>75%</a:t>
            </a:r>
            <a:endParaRPr lang="en-US" sz="5600" dirty="0"/>
          </a:p>
        </p:txBody>
      </p:sp>
      <p:sp>
        <p:nvSpPr>
          <p:cNvPr id="13" name="Text 10"/>
          <p:cNvSpPr/>
          <p:nvPr/>
        </p:nvSpPr>
        <p:spPr>
          <a:xfrm>
            <a:off x="7680960" y="4800600"/>
            <a:ext cx="3749040" cy="822960"/>
          </a:xfrm>
          <a:prstGeom prst="rect">
            <a:avLst/>
          </a:prstGeom>
          <a:noFill/>
          <a:ln/>
        </p:spPr>
        <p:txBody>
          <a:bodyPr wrap="square" lIns="0" tIns="0" rIns="0" bIns="0" rtlCol="0" anchor="ctr"/>
          <a:lstStyle/>
          <a:p>
            <a:pPr indent="0" marL="0">
              <a:buNone/>
            </a:pPr>
            <a:r>
              <a:rPr lang="en-US" sz="1300" dirty="0">
                <a:solidFill>
                  <a:srgbClr val="4A4F58"/>
                </a:solidFill>
                <a:latin typeface="Calibri" pitchFamily="34" charset="0"/>
                <a:ea typeface="Calibri" pitchFamily="34" charset="-122"/>
                <a:cs typeface="Calibri" pitchFamily="34" charset="-120"/>
              </a:rPr>
              <a:t>of new infectious diseases of the past four decades are zoonotic.</a:t>
            </a:r>
            <a:endParaRPr lang="en-US" sz="1300" dirty="0"/>
          </a:p>
        </p:txBody>
      </p:sp>
      <p:sp>
        <p:nvSpPr>
          <p:cNvPr id="14" name="Text 11"/>
          <p:cNvSpPr/>
          <p:nvPr/>
        </p:nvSpPr>
        <p:spPr>
          <a:xfrm>
            <a:off x="7680960" y="5577840"/>
            <a:ext cx="3749040" cy="274320"/>
          </a:xfrm>
          <a:prstGeom prst="rect">
            <a:avLst/>
          </a:prstGeom>
          <a:noFill/>
          <a:ln/>
        </p:spPr>
        <p:txBody>
          <a:bodyPr wrap="square" lIns="0" tIns="0" rIns="0" bIns="0" rtlCol="0" anchor="ctr"/>
          <a:lstStyle/>
          <a:p>
            <a:pPr indent="0" marL="0">
              <a:buNone/>
            </a:pPr>
            <a:r>
              <a:rPr lang="en-US" sz="900" i="1" dirty="0">
                <a:solidFill>
                  <a:srgbClr val="6E737C"/>
                </a:solidFill>
                <a:latin typeface="Calibri" pitchFamily="34" charset="0"/>
                <a:ea typeface="Calibri" pitchFamily="34" charset="-122"/>
                <a:cs typeface="Calibri" pitchFamily="34" charset="-120"/>
              </a:rPr>
              <a:t>Source: WHO / CDC summaries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THESIS</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Machine-authored. FAIR-by-construction.</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03</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Shape 4"/>
          <p:cNvSpPr/>
          <p:nvPr/>
        </p:nvSpPr>
        <p:spPr>
          <a:xfrm>
            <a:off x="548640" y="1874520"/>
            <a:ext cx="164592" cy="164592"/>
          </a:xfrm>
          <a:prstGeom prst="rect">
            <a:avLst/>
          </a:prstGeom>
          <a:solidFill>
            <a:srgbClr val="AB0520"/>
          </a:solidFill>
          <a:ln w="12700">
            <a:solidFill>
              <a:srgbClr val="AB0520"/>
            </a:solidFill>
            <a:prstDash val="solid"/>
          </a:ln>
        </p:spPr>
      </p:sp>
      <p:sp>
        <p:nvSpPr>
          <p:cNvPr id="8" name="Text 5"/>
          <p:cNvSpPr/>
          <p:nvPr/>
        </p:nvSpPr>
        <p:spPr>
          <a:xfrm>
            <a:off x="841248" y="1783080"/>
            <a:ext cx="10058400" cy="347472"/>
          </a:xfrm>
          <a:prstGeom prst="rect">
            <a:avLst/>
          </a:prstGeom>
          <a:noFill/>
          <a:ln/>
        </p:spPr>
        <p:txBody>
          <a:bodyPr wrap="square" lIns="0" tIns="0" rIns="0" bIns="0" rtlCol="0" anchor="ctr"/>
          <a:lstStyle/>
          <a:p>
            <a:pPr indent="0" marL="0">
              <a:buNone/>
            </a:pPr>
            <a:r>
              <a:rPr lang="en-US" sz="1800" dirty="0">
                <a:solidFill>
                  <a:srgbClr val="0C234B"/>
                </a:solidFill>
                <a:latin typeface="Georgia" pitchFamily="34" charset="0"/>
                <a:ea typeface="Georgia" pitchFamily="34" charset="-122"/>
                <a:cs typeface="Georgia" pitchFamily="34" charset="-120"/>
              </a:rPr>
              <a:t>Machine-authored</a:t>
            </a:r>
            <a:endParaRPr lang="en-US" sz="1800" dirty="0"/>
          </a:p>
        </p:txBody>
      </p:sp>
      <p:sp>
        <p:nvSpPr>
          <p:cNvPr id="9" name="Text 6"/>
          <p:cNvSpPr/>
          <p:nvPr/>
        </p:nvSpPr>
        <p:spPr>
          <a:xfrm>
            <a:off x="841248" y="2157984"/>
            <a:ext cx="10515600" cy="914400"/>
          </a:xfrm>
          <a:prstGeom prst="rect">
            <a:avLst/>
          </a:prstGeom>
          <a:noFill/>
          <a:ln/>
        </p:spPr>
        <p:txBody>
          <a:bodyPr wrap="square" lIns="0" tIns="0" rIns="0" bIns="0" rtlCol="0" anchor="t"/>
          <a:lstStyle/>
          <a:p>
            <a:pPr indent="0" marL="0">
              <a:buNone/>
            </a:pPr>
            <a:r>
              <a:rPr lang="en-US" sz="1350" dirty="0">
                <a:solidFill>
                  <a:srgbClr val="1F2228"/>
                </a:solidFill>
                <a:latin typeface="Calibri" pitchFamily="34" charset="0"/>
                <a:ea typeface="Calibri" pitchFamily="34" charset="-122"/>
                <a:cs typeface="Calibri" pitchFamily="34" charset="-120"/>
              </a:rPr>
              <a:t>Every clinical resource is generated by a deterministic pipeline from clinician dictation. The author is the engine, not a person typing a duplicate copy of what they just said.</a:t>
            </a:r>
            <a:endParaRPr lang="en-US" sz="1350" dirty="0"/>
          </a:p>
        </p:txBody>
      </p:sp>
      <p:sp>
        <p:nvSpPr>
          <p:cNvPr id="10" name="Shape 7"/>
          <p:cNvSpPr/>
          <p:nvPr/>
        </p:nvSpPr>
        <p:spPr>
          <a:xfrm>
            <a:off x="548640" y="3291840"/>
            <a:ext cx="164592" cy="164592"/>
          </a:xfrm>
          <a:prstGeom prst="rect">
            <a:avLst/>
          </a:prstGeom>
          <a:solidFill>
            <a:srgbClr val="AB0520"/>
          </a:solidFill>
          <a:ln w="12700">
            <a:solidFill>
              <a:srgbClr val="AB0520"/>
            </a:solidFill>
            <a:prstDash val="solid"/>
          </a:ln>
        </p:spPr>
      </p:sp>
      <p:sp>
        <p:nvSpPr>
          <p:cNvPr id="11" name="Text 8"/>
          <p:cNvSpPr/>
          <p:nvPr/>
        </p:nvSpPr>
        <p:spPr>
          <a:xfrm>
            <a:off x="841248" y="3200400"/>
            <a:ext cx="10058400" cy="347472"/>
          </a:xfrm>
          <a:prstGeom prst="rect">
            <a:avLst/>
          </a:prstGeom>
          <a:noFill/>
          <a:ln/>
        </p:spPr>
        <p:txBody>
          <a:bodyPr wrap="square" lIns="0" tIns="0" rIns="0" bIns="0" rtlCol="0" anchor="ctr"/>
          <a:lstStyle/>
          <a:p>
            <a:pPr indent="0" marL="0">
              <a:buNone/>
            </a:pPr>
            <a:r>
              <a:rPr lang="en-US" sz="1800" dirty="0">
                <a:solidFill>
                  <a:srgbClr val="0C234B"/>
                </a:solidFill>
                <a:latin typeface="Georgia" pitchFamily="34" charset="0"/>
                <a:ea typeface="Georgia" pitchFamily="34" charset="-122"/>
                <a:cs typeface="Georgia" pitchFamily="34" charset="-120"/>
              </a:rPr>
              <a:t>FAIR by construction</a:t>
            </a:r>
            <a:endParaRPr lang="en-US" sz="1800" dirty="0"/>
          </a:p>
        </p:txBody>
      </p:sp>
      <p:sp>
        <p:nvSpPr>
          <p:cNvPr id="12" name="Text 9"/>
          <p:cNvSpPr/>
          <p:nvPr/>
        </p:nvSpPr>
        <p:spPr>
          <a:xfrm>
            <a:off x="841248" y="3575304"/>
            <a:ext cx="10515600" cy="914400"/>
          </a:xfrm>
          <a:prstGeom prst="rect">
            <a:avLst/>
          </a:prstGeom>
          <a:noFill/>
          <a:ln/>
        </p:spPr>
        <p:txBody>
          <a:bodyPr wrap="square" lIns="0" tIns="0" rIns="0" bIns="0" rtlCol="0" anchor="t"/>
          <a:lstStyle/>
          <a:p>
            <a:pPr indent="0" marL="0">
              <a:buNone/>
            </a:pPr>
            <a:r>
              <a:rPr lang="en-US" sz="1350" dirty="0">
                <a:solidFill>
                  <a:srgbClr val="1F2228"/>
                </a:solidFill>
                <a:latin typeface="Calibri" pitchFamily="34" charset="0"/>
                <a:ea typeface="Calibri" pitchFamily="34" charset="-122"/>
                <a:cs typeface="Calibri" pitchFamily="34" charset="-120"/>
              </a:rPr>
              <a:t>Findable, Accessible, Interoperable, Reusable — not because of post-hoc curation, but because every resource is born with provenance, source-text spans, confidence, and standardized codes.</a:t>
            </a:r>
            <a:endParaRPr lang="en-US" sz="1350" dirty="0"/>
          </a:p>
        </p:txBody>
      </p:sp>
      <p:sp>
        <p:nvSpPr>
          <p:cNvPr id="13" name="Shape 10"/>
          <p:cNvSpPr/>
          <p:nvPr/>
        </p:nvSpPr>
        <p:spPr>
          <a:xfrm>
            <a:off x="548640" y="4709160"/>
            <a:ext cx="164592" cy="164592"/>
          </a:xfrm>
          <a:prstGeom prst="rect">
            <a:avLst/>
          </a:prstGeom>
          <a:solidFill>
            <a:srgbClr val="AB0520"/>
          </a:solidFill>
          <a:ln w="12700">
            <a:solidFill>
              <a:srgbClr val="AB0520"/>
            </a:solidFill>
            <a:prstDash val="solid"/>
          </a:ln>
        </p:spPr>
      </p:sp>
      <p:sp>
        <p:nvSpPr>
          <p:cNvPr id="14" name="Text 11"/>
          <p:cNvSpPr/>
          <p:nvPr/>
        </p:nvSpPr>
        <p:spPr>
          <a:xfrm>
            <a:off x="841248" y="4617720"/>
            <a:ext cx="10058400" cy="347472"/>
          </a:xfrm>
          <a:prstGeom prst="rect">
            <a:avLst/>
          </a:prstGeom>
          <a:noFill/>
          <a:ln/>
        </p:spPr>
        <p:txBody>
          <a:bodyPr wrap="square" lIns="0" tIns="0" rIns="0" bIns="0" rtlCol="0" anchor="ctr"/>
          <a:lstStyle/>
          <a:p>
            <a:pPr indent="0" marL="0">
              <a:buNone/>
            </a:pPr>
            <a:r>
              <a:rPr lang="en-US" sz="1800" dirty="0">
                <a:solidFill>
                  <a:srgbClr val="0C234B"/>
                </a:solidFill>
                <a:latin typeface="Georgia" pitchFamily="34" charset="0"/>
                <a:ea typeface="Georgia" pitchFamily="34" charset="-122"/>
                <a:cs typeface="Georgia" pitchFamily="34" charset="-120"/>
              </a:rPr>
              <a:t>One Health by default</a:t>
            </a:r>
            <a:endParaRPr lang="en-US" sz="1800" dirty="0"/>
          </a:p>
        </p:txBody>
      </p:sp>
      <p:sp>
        <p:nvSpPr>
          <p:cNvPr id="15" name="Text 12"/>
          <p:cNvSpPr/>
          <p:nvPr/>
        </p:nvSpPr>
        <p:spPr>
          <a:xfrm>
            <a:off x="841248" y="4992624"/>
            <a:ext cx="10515600" cy="914400"/>
          </a:xfrm>
          <a:prstGeom prst="rect">
            <a:avLst/>
          </a:prstGeom>
          <a:noFill/>
          <a:ln/>
        </p:spPr>
        <p:txBody>
          <a:bodyPr wrap="square" lIns="0" tIns="0" rIns="0" bIns="0" rtlCol="0" anchor="t"/>
          <a:lstStyle/>
          <a:p>
            <a:pPr indent="0" marL="0">
              <a:buNone/>
            </a:pPr>
            <a:r>
              <a:rPr lang="en-US" sz="1350" dirty="0">
                <a:solidFill>
                  <a:srgbClr val="1F2228"/>
                </a:solidFill>
                <a:latin typeface="Calibri" pitchFamily="34" charset="0"/>
                <a:ea typeface="Calibri" pitchFamily="34" charset="-122"/>
                <a:cs typeface="Calibri" pitchFamily="34" charset="-120"/>
              </a:rPr>
              <a:t>Human, animal, and environmental records share the same SNOMED-rooted vocabulary so cross-species linkage falls out of a graph traversal — not a one-off integration.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SYSTEM ARCHITECTURE</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From dictation to public-health insight</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04</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Shape 4"/>
          <p:cNvSpPr/>
          <p:nvPr/>
        </p:nvSpPr>
        <p:spPr>
          <a:xfrm>
            <a:off x="548640" y="1920240"/>
            <a:ext cx="2636444" cy="1280160"/>
          </a:xfrm>
          <a:prstGeom prst="roundRect">
            <a:avLst>
              <a:gd name="adj" fmla="val 5714"/>
            </a:avLst>
          </a:prstGeom>
          <a:solidFill>
            <a:srgbClr val="1F4D7A"/>
          </a:solidFill>
          <a:ln w="12700">
            <a:solidFill>
              <a:srgbClr val="1F4D7A"/>
            </a:solidFill>
            <a:prstDash val="solid"/>
          </a:ln>
        </p:spPr>
      </p:sp>
      <p:sp>
        <p:nvSpPr>
          <p:cNvPr id="8" name="Text 5"/>
          <p:cNvSpPr/>
          <p:nvPr/>
        </p:nvSpPr>
        <p:spPr>
          <a:xfrm>
            <a:off x="548640" y="2057400"/>
            <a:ext cx="2636444" cy="457200"/>
          </a:xfrm>
          <a:prstGeom prst="rect">
            <a:avLst/>
          </a:prstGeom>
          <a:noFill/>
          <a:ln/>
        </p:spPr>
        <p:txBody>
          <a:bodyPr wrap="square" lIns="0" tIns="0" rIns="0" bIns="0" rtlCol="0" anchor="ctr"/>
          <a:lstStyle/>
          <a:p>
            <a:pPr algn="ctr" indent="0" marL="0">
              <a:buNone/>
            </a:pPr>
            <a:r>
              <a:rPr lang="en-US" sz="1800" dirty="0">
                <a:solidFill>
                  <a:srgbClr val="FFFFFF"/>
                </a:solidFill>
                <a:latin typeface="Georgia" pitchFamily="34" charset="0"/>
                <a:ea typeface="Georgia" pitchFamily="34" charset="-122"/>
                <a:cs typeface="Georgia" pitchFamily="34" charset="-120"/>
              </a:rPr>
              <a:t>Capture</a:t>
            </a:r>
            <a:endParaRPr lang="en-US" sz="1800" dirty="0"/>
          </a:p>
        </p:txBody>
      </p:sp>
      <p:sp>
        <p:nvSpPr>
          <p:cNvPr id="9" name="Text 6"/>
          <p:cNvSpPr/>
          <p:nvPr/>
        </p:nvSpPr>
        <p:spPr>
          <a:xfrm>
            <a:off x="685800" y="2514600"/>
            <a:ext cx="2362124" cy="5486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Clinician / vet dictation</a:t>
            </a:r>
            <a:endParaRPr lang="en-US" sz="1050" dirty="0"/>
          </a:p>
        </p:txBody>
      </p:sp>
      <p:sp>
        <p:nvSpPr>
          <p:cNvPr id="10" name="Shape 7"/>
          <p:cNvSpPr/>
          <p:nvPr/>
        </p:nvSpPr>
        <p:spPr>
          <a:xfrm rot="5400000">
            <a:off x="3230804" y="2468880"/>
            <a:ext cx="182880" cy="182880"/>
          </a:xfrm>
          <a:prstGeom prst="rightTriangle">
            <a:avLst/>
          </a:prstGeom>
          <a:solidFill>
            <a:srgbClr val="6E737C"/>
          </a:solidFill>
          <a:ln w="12700">
            <a:solidFill>
              <a:srgbClr val="6E737C"/>
            </a:solidFill>
            <a:prstDash val="solid"/>
          </a:ln>
        </p:spPr>
      </p:sp>
      <p:sp>
        <p:nvSpPr>
          <p:cNvPr id="11" name="Shape 8"/>
          <p:cNvSpPr/>
          <p:nvPr/>
        </p:nvSpPr>
        <p:spPr>
          <a:xfrm>
            <a:off x="3367964" y="1920240"/>
            <a:ext cx="2636444" cy="1280160"/>
          </a:xfrm>
          <a:prstGeom prst="roundRect">
            <a:avLst>
              <a:gd name="adj" fmla="val 5714"/>
            </a:avLst>
          </a:prstGeom>
          <a:solidFill>
            <a:srgbClr val="AB0520"/>
          </a:solidFill>
          <a:ln w="12700">
            <a:solidFill>
              <a:srgbClr val="AB0520"/>
            </a:solidFill>
            <a:prstDash val="solid"/>
          </a:ln>
        </p:spPr>
      </p:sp>
      <p:sp>
        <p:nvSpPr>
          <p:cNvPr id="12" name="Text 9"/>
          <p:cNvSpPr/>
          <p:nvPr/>
        </p:nvSpPr>
        <p:spPr>
          <a:xfrm>
            <a:off x="3367964" y="2057400"/>
            <a:ext cx="2636444" cy="457200"/>
          </a:xfrm>
          <a:prstGeom prst="rect">
            <a:avLst/>
          </a:prstGeom>
          <a:noFill/>
          <a:ln/>
        </p:spPr>
        <p:txBody>
          <a:bodyPr wrap="square" lIns="0" tIns="0" rIns="0" bIns="0" rtlCol="0" anchor="ctr"/>
          <a:lstStyle/>
          <a:p>
            <a:pPr algn="ctr" indent="0" marL="0">
              <a:buNone/>
            </a:pPr>
            <a:r>
              <a:rPr lang="en-US" sz="1800" dirty="0">
                <a:solidFill>
                  <a:srgbClr val="FFFFFF"/>
                </a:solidFill>
                <a:latin typeface="Georgia" pitchFamily="34" charset="0"/>
                <a:ea typeface="Georgia" pitchFamily="34" charset="-122"/>
                <a:cs typeface="Georgia" pitchFamily="34" charset="-120"/>
              </a:rPr>
              <a:t>Extract</a:t>
            </a:r>
            <a:endParaRPr lang="en-US" sz="1800" dirty="0"/>
          </a:p>
        </p:txBody>
      </p:sp>
      <p:sp>
        <p:nvSpPr>
          <p:cNvPr id="13" name="Text 10"/>
          <p:cNvSpPr/>
          <p:nvPr/>
        </p:nvSpPr>
        <p:spPr>
          <a:xfrm>
            <a:off x="3505124" y="2514600"/>
            <a:ext cx="2362124" cy="5486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Phase classify · NER · negation · hedge</a:t>
            </a:r>
            <a:endParaRPr lang="en-US" sz="1050" dirty="0"/>
          </a:p>
        </p:txBody>
      </p:sp>
      <p:sp>
        <p:nvSpPr>
          <p:cNvPr id="14" name="Shape 11"/>
          <p:cNvSpPr/>
          <p:nvPr/>
        </p:nvSpPr>
        <p:spPr>
          <a:xfrm rot="5400000">
            <a:off x="6050128" y="2468880"/>
            <a:ext cx="182880" cy="182880"/>
          </a:xfrm>
          <a:prstGeom prst="rightTriangle">
            <a:avLst/>
          </a:prstGeom>
          <a:solidFill>
            <a:srgbClr val="6E737C"/>
          </a:solidFill>
          <a:ln w="12700">
            <a:solidFill>
              <a:srgbClr val="6E737C"/>
            </a:solidFill>
            <a:prstDash val="solid"/>
          </a:ln>
        </p:spPr>
      </p:sp>
      <p:sp>
        <p:nvSpPr>
          <p:cNvPr id="15" name="Shape 12"/>
          <p:cNvSpPr/>
          <p:nvPr/>
        </p:nvSpPr>
        <p:spPr>
          <a:xfrm>
            <a:off x="6187288" y="1920240"/>
            <a:ext cx="2636444" cy="1280160"/>
          </a:xfrm>
          <a:prstGeom prst="roundRect">
            <a:avLst>
              <a:gd name="adj" fmla="val 5714"/>
            </a:avLst>
          </a:prstGeom>
          <a:solidFill>
            <a:srgbClr val="D89F2E"/>
          </a:solidFill>
          <a:ln w="12700">
            <a:solidFill>
              <a:srgbClr val="D89F2E"/>
            </a:solidFill>
            <a:prstDash val="solid"/>
          </a:ln>
        </p:spPr>
      </p:sp>
      <p:sp>
        <p:nvSpPr>
          <p:cNvPr id="16" name="Text 13"/>
          <p:cNvSpPr/>
          <p:nvPr/>
        </p:nvSpPr>
        <p:spPr>
          <a:xfrm>
            <a:off x="6187288" y="2057400"/>
            <a:ext cx="2636444" cy="457200"/>
          </a:xfrm>
          <a:prstGeom prst="rect">
            <a:avLst/>
          </a:prstGeom>
          <a:noFill/>
          <a:ln/>
        </p:spPr>
        <p:txBody>
          <a:bodyPr wrap="square" lIns="0" tIns="0" rIns="0" bIns="0" rtlCol="0" anchor="ctr"/>
          <a:lstStyle/>
          <a:p>
            <a:pPr algn="ctr" indent="0" marL="0">
              <a:buNone/>
            </a:pPr>
            <a:r>
              <a:rPr lang="en-US" sz="1800" dirty="0">
                <a:solidFill>
                  <a:srgbClr val="FFFFFF"/>
                </a:solidFill>
                <a:latin typeface="Georgia" pitchFamily="34" charset="0"/>
                <a:ea typeface="Georgia" pitchFamily="34" charset="-122"/>
                <a:cs typeface="Georgia" pitchFamily="34" charset="-120"/>
              </a:rPr>
              <a:t>Resolve</a:t>
            </a:r>
            <a:endParaRPr lang="en-US" sz="1800" dirty="0"/>
          </a:p>
        </p:txBody>
      </p:sp>
      <p:sp>
        <p:nvSpPr>
          <p:cNvPr id="17" name="Text 14"/>
          <p:cNvSpPr/>
          <p:nvPr/>
        </p:nvSpPr>
        <p:spPr>
          <a:xfrm>
            <a:off x="6324448" y="2514600"/>
            <a:ext cx="2362124" cy="5486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SNOMED · ICD-10 · LOINC · RxNorm · VeNom</a:t>
            </a:r>
            <a:endParaRPr lang="en-US" sz="1050" dirty="0"/>
          </a:p>
        </p:txBody>
      </p:sp>
      <p:sp>
        <p:nvSpPr>
          <p:cNvPr id="18" name="Shape 15"/>
          <p:cNvSpPr/>
          <p:nvPr/>
        </p:nvSpPr>
        <p:spPr>
          <a:xfrm rot="5400000">
            <a:off x="8869451" y="2468880"/>
            <a:ext cx="182880" cy="182880"/>
          </a:xfrm>
          <a:prstGeom prst="rightTriangle">
            <a:avLst/>
          </a:prstGeom>
          <a:solidFill>
            <a:srgbClr val="6E737C"/>
          </a:solidFill>
          <a:ln w="12700">
            <a:solidFill>
              <a:srgbClr val="6E737C"/>
            </a:solidFill>
            <a:prstDash val="solid"/>
          </a:ln>
        </p:spPr>
      </p:sp>
      <p:sp>
        <p:nvSpPr>
          <p:cNvPr id="19" name="Shape 16"/>
          <p:cNvSpPr/>
          <p:nvPr/>
        </p:nvSpPr>
        <p:spPr>
          <a:xfrm>
            <a:off x="9006611" y="1920240"/>
            <a:ext cx="2636444" cy="1280160"/>
          </a:xfrm>
          <a:prstGeom prst="roundRect">
            <a:avLst>
              <a:gd name="adj" fmla="val 5714"/>
            </a:avLst>
          </a:prstGeom>
          <a:solidFill>
            <a:srgbClr val="3F6B47"/>
          </a:solidFill>
          <a:ln w="12700">
            <a:solidFill>
              <a:srgbClr val="3F6B47"/>
            </a:solidFill>
            <a:prstDash val="solid"/>
          </a:ln>
        </p:spPr>
      </p:sp>
      <p:sp>
        <p:nvSpPr>
          <p:cNvPr id="20" name="Text 17"/>
          <p:cNvSpPr/>
          <p:nvPr/>
        </p:nvSpPr>
        <p:spPr>
          <a:xfrm>
            <a:off x="9006611" y="2057400"/>
            <a:ext cx="2636444" cy="457200"/>
          </a:xfrm>
          <a:prstGeom prst="rect">
            <a:avLst/>
          </a:prstGeom>
          <a:noFill/>
          <a:ln/>
        </p:spPr>
        <p:txBody>
          <a:bodyPr wrap="square" lIns="0" tIns="0" rIns="0" bIns="0" rtlCol="0" anchor="ctr"/>
          <a:lstStyle/>
          <a:p>
            <a:pPr algn="ctr" indent="0" marL="0">
              <a:buNone/>
            </a:pPr>
            <a:r>
              <a:rPr lang="en-US" sz="1800" dirty="0">
                <a:solidFill>
                  <a:srgbClr val="FFFFFF"/>
                </a:solidFill>
                <a:latin typeface="Georgia" pitchFamily="34" charset="0"/>
                <a:ea typeface="Georgia" pitchFamily="34" charset="-122"/>
                <a:cs typeface="Georgia" pitchFamily="34" charset="-120"/>
              </a:rPr>
              <a:t>Compose</a:t>
            </a:r>
            <a:endParaRPr lang="en-US" sz="1800" dirty="0"/>
          </a:p>
        </p:txBody>
      </p:sp>
      <p:sp>
        <p:nvSpPr>
          <p:cNvPr id="21" name="Text 18"/>
          <p:cNvSpPr/>
          <p:nvPr/>
        </p:nvSpPr>
        <p:spPr>
          <a:xfrm>
            <a:off x="9143771" y="2514600"/>
            <a:ext cx="2362124" cy="5486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FHIR R4 Bundle + Provenance</a:t>
            </a:r>
            <a:endParaRPr lang="en-US" sz="1050" dirty="0"/>
          </a:p>
        </p:txBody>
      </p:sp>
      <p:sp>
        <p:nvSpPr>
          <p:cNvPr id="22" name="Shape 19"/>
          <p:cNvSpPr/>
          <p:nvPr/>
        </p:nvSpPr>
        <p:spPr>
          <a:xfrm>
            <a:off x="548640" y="3840480"/>
            <a:ext cx="109728" cy="109728"/>
          </a:xfrm>
          <a:prstGeom prst="rect">
            <a:avLst/>
          </a:prstGeom>
          <a:solidFill>
            <a:srgbClr val="AB0520"/>
          </a:solidFill>
          <a:ln w="12700">
            <a:solidFill>
              <a:srgbClr val="AB0520"/>
            </a:solidFill>
            <a:prstDash val="solid"/>
          </a:ln>
        </p:spPr>
      </p:sp>
      <p:sp>
        <p:nvSpPr>
          <p:cNvPr id="23" name="Text 20"/>
          <p:cNvSpPr/>
          <p:nvPr/>
        </p:nvSpPr>
        <p:spPr>
          <a:xfrm>
            <a:off x="777240" y="3749040"/>
            <a:ext cx="3840480" cy="365760"/>
          </a:xfrm>
          <a:prstGeom prst="rect">
            <a:avLst/>
          </a:prstGeom>
          <a:noFill/>
          <a:ln/>
        </p:spPr>
        <p:txBody>
          <a:bodyPr wrap="square" lIns="0" tIns="0" rIns="0" bIns="0" rtlCol="0" anchor="ctr"/>
          <a:lstStyle/>
          <a:p>
            <a:pPr indent="0" marL="0">
              <a:buNone/>
            </a:pPr>
            <a:r>
              <a:rPr lang="en-US" sz="1300" b="1" dirty="0">
                <a:solidFill>
                  <a:srgbClr val="0C234B"/>
                </a:solidFill>
                <a:latin typeface="Georgia" pitchFamily="34" charset="0"/>
                <a:ea typeface="Georgia" pitchFamily="34" charset="-122"/>
                <a:cs typeface="Georgia" pitchFamily="34" charset="-120"/>
              </a:rPr>
              <a:t>Patient view</a:t>
            </a:r>
            <a:endParaRPr lang="en-US" sz="1300" dirty="0"/>
          </a:p>
        </p:txBody>
      </p:sp>
      <p:sp>
        <p:nvSpPr>
          <p:cNvPr id="24" name="Text 21"/>
          <p:cNvSpPr/>
          <p:nvPr/>
        </p:nvSpPr>
        <p:spPr>
          <a:xfrm>
            <a:off x="4754880" y="3749040"/>
            <a:ext cx="6766560" cy="54864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Live encounter screen with phrase-level entity highlighting and FHIR resource cards</a:t>
            </a:r>
            <a:endParaRPr lang="en-US" sz="1200" dirty="0"/>
          </a:p>
        </p:txBody>
      </p:sp>
      <p:sp>
        <p:nvSpPr>
          <p:cNvPr id="25" name="Shape 22"/>
          <p:cNvSpPr/>
          <p:nvPr/>
        </p:nvSpPr>
        <p:spPr>
          <a:xfrm>
            <a:off x="548640" y="4407408"/>
            <a:ext cx="109728" cy="109728"/>
          </a:xfrm>
          <a:prstGeom prst="rect">
            <a:avLst/>
          </a:prstGeom>
          <a:solidFill>
            <a:srgbClr val="AB0520"/>
          </a:solidFill>
          <a:ln w="12700">
            <a:solidFill>
              <a:srgbClr val="AB0520"/>
            </a:solidFill>
            <a:prstDash val="solid"/>
          </a:ln>
        </p:spPr>
      </p:sp>
      <p:sp>
        <p:nvSpPr>
          <p:cNvPr id="26" name="Text 23"/>
          <p:cNvSpPr/>
          <p:nvPr/>
        </p:nvSpPr>
        <p:spPr>
          <a:xfrm>
            <a:off x="777240" y="4315968"/>
            <a:ext cx="3840480" cy="365760"/>
          </a:xfrm>
          <a:prstGeom prst="rect">
            <a:avLst/>
          </a:prstGeom>
          <a:noFill/>
          <a:ln/>
        </p:spPr>
        <p:txBody>
          <a:bodyPr wrap="square" lIns="0" tIns="0" rIns="0" bIns="0" rtlCol="0" anchor="ctr"/>
          <a:lstStyle/>
          <a:p>
            <a:pPr indent="0" marL="0">
              <a:buNone/>
            </a:pPr>
            <a:r>
              <a:rPr lang="en-US" sz="1300" b="1" dirty="0">
                <a:solidFill>
                  <a:srgbClr val="0C234B"/>
                </a:solidFill>
                <a:latin typeface="Georgia" pitchFamily="34" charset="0"/>
                <a:ea typeface="Georgia" pitchFamily="34" charset="-122"/>
                <a:cs typeface="Georgia" pitchFamily="34" charset="-120"/>
              </a:rPr>
              <a:t>Provider workspace</a:t>
            </a:r>
            <a:endParaRPr lang="en-US" sz="1300" dirty="0"/>
          </a:p>
        </p:txBody>
      </p:sp>
      <p:sp>
        <p:nvSpPr>
          <p:cNvPr id="27" name="Text 24"/>
          <p:cNvSpPr/>
          <p:nvPr/>
        </p:nvSpPr>
        <p:spPr>
          <a:xfrm>
            <a:off x="4754880" y="4315968"/>
            <a:ext cx="6766560" cy="54864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Real-time One Health context: chart + household + alerts + county trends</a:t>
            </a:r>
            <a:endParaRPr lang="en-US" sz="1200" dirty="0"/>
          </a:p>
        </p:txBody>
      </p:sp>
      <p:sp>
        <p:nvSpPr>
          <p:cNvPr id="28" name="Shape 25"/>
          <p:cNvSpPr/>
          <p:nvPr/>
        </p:nvSpPr>
        <p:spPr>
          <a:xfrm>
            <a:off x="548640" y="4974336"/>
            <a:ext cx="109728" cy="109728"/>
          </a:xfrm>
          <a:prstGeom prst="rect">
            <a:avLst/>
          </a:prstGeom>
          <a:solidFill>
            <a:srgbClr val="AB0520"/>
          </a:solidFill>
          <a:ln w="12700">
            <a:solidFill>
              <a:srgbClr val="AB0520"/>
            </a:solidFill>
            <a:prstDash val="solid"/>
          </a:ln>
        </p:spPr>
      </p:sp>
      <p:sp>
        <p:nvSpPr>
          <p:cNvPr id="29" name="Text 26"/>
          <p:cNvSpPr/>
          <p:nvPr/>
        </p:nvSpPr>
        <p:spPr>
          <a:xfrm>
            <a:off x="777240" y="4882896"/>
            <a:ext cx="3840480" cy="365760"/>
          </a:xfrm>
          <a:prstGeom prst="rect">
            <a:avLst/>
          </a:prstGeom>
          <a:noFill/>
          <a:ln/>
        </p:spPr>
        <p:txBody>
          <a:bodyPr wrap="square" lIns="0" tIns="0" rIns="0" bIns="0" rtlCol="0" anchor="ctr"/>
          <a:lstStyle/>
          <a:p>
            <a:pPr indent="0" marL="0">
              <a:buNone/>
            </a:pPr>
            <a:r>
              <a:rPr lang="en-US" sz="1300" b="1" dirty="0">
                <a:solidFill>
                  <a:srgbClr val="0C234B"/>
                </a:solidFill>
                <a:latin typeface="Georgia" pitchFamily="34" charset="0"/>
                <a:ea typeface="Georgia" pitchFamily="34" charset="-122"/>
                <a:cs typeface="Georgia" pitchFamily="34" charset="-120"/>
              </a:rPr>
              <a:t>Knowledge graph</a:t>
            </a:r>
            <a:endParaRPr lang="en-US" sz="1300" dirty="0"/>
          </a:p>
        </p:txBody>
      </p:sp>
      <p:sp>
        <p:nvSpPr>
          <p:cNvPr id="30" name="Text 27"/>
          <p:cNvSpPr/>
          <p:nvPr/>
        </p:nvSpPr>
        <p:spPr>
          <a:xfrm>
            <a:off x="4754880" y="4882896"/>
            <a:ext cx="6766560" cy="54864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Counties · households · people · animals · diseases · exposures, all linked</a:t>
            </a:r>
            <a:endParaRPr lang="en-US" sz="1200" dirty="0"/>
          </a:p>
        </p:txBody>
      </p:sp>
      <p:sp>
        <p:nvSpPr>
          <p:cNvPr id="31" name="Shape 28"/>
          <p:cNvSpPr/>
          <p:nvPr/>
        </p:nvSpPr>
        <p:spPr>
          <a:xfrm>
            <a:off x="548640" y="5541264"/>
            <a:ext cx="109728" cy="109728"/>
          </a:xfrm>
          <a:prstGeom prst="rect">
            <a:avLst/>
          </a:prstGeom>
          <a:solidFill>
            <a:srgbClr val="AB0520"/>
          </a:solidFill>
          <a:ln w="12700">
            <a:solidFill>
              <a:srgbClr val="AB0520"/>
            </a:solidFill>
            <a:prstDash val="solid"/>
          </a:ln>
        </p:spPr>
      </p:sp>
      <p:sp>
        <p:nvSpPr>
          <p:cNvPr id="32" name="Text 29"/>
          <p:cNvSpPr/>
          <p:nvPr/>
        </p:nvSpPr>
        <p:spPr>
          <a:xfrm>
            <a:off x="777240" y="5449824"/>
            <a:ext cx="3840480" cy="365760"/>
          </a:xfrm>
          <a:prstGeom prst="rect">
            <a:avLst/>
          </a:prstGeom>
          <a:noFill/>
          <a:ln/>
        </p:spPr>
        <p:txBody>
          <a:bodyPr wrap="square" lIns="0" tIns="0" rIns="0" bIns="0" rtlCol="0" anchor="ctr"/>
          <a:lstStyle/>
          <a:p>
            <a:pPr indent="0" marL="0">
              <a:buNone/>
            </a:pPr>
            <a:r>
              <a:rPr lang="en-US" sz="1300" b="1" dirty="0">
                <a:solidFill>
                  <a:srgbClr val="0C234B"/>
                </a:solidFill>
                <a:latin typeface="Georgia" pitchFamily="34" charset="0"/>
                <a:ea typeface="Georgia" pitchFamily="34" charset="-122"/>
                <a:cs typeface="Georgia" pitchFamily="34" charset="-120"/>
              </a:rPr>
              <a:t>Sentinel surveillance</a:t>
            </a:r>
            <a:endParaRPr lang="en-US" sz="1300" dirty="0"/>
          </a:p>
        </p:txBody>
      </p:sp>
      <p:sp>
        <p:nvSpPr>
          <p:cNvPr id="33" name="Text 30"/>
          <p:cNvSpPr/>
          <p:nvPr/>
        </p:nvSpPr>
        <p:spPr>
          <a:xfrm>
            <a:off x="4754880" y="5449824"/>
            <a:ext cx="6766560" cy="54864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Cross-species clusters · prophylactic alerts · vector anomalies · env-amplified risk</a:t>
            </a:r>
            <a:endParaRPr lang="en-US" sz="1200" dirty="0"/>
          </a:p>
        </p:txBody>
      </p:sp>
      <p:sp>
        <p:nvSpPr>
          <p:cNvPr id="34" name="Text 31"/>
          <p:cNvSpPr/>
          <p:nvPr/>
        </p:nvSpPr>
        <p:spPr>
          <a:xfrm>
            <a:off x="548640" y="6080760"/>
            <a:ext cx="11094415" cy="274320"/>
          </a:xfrm>
          <a:prstGeom prst="rect">
            <a:avLst/>
          </a:prstGeom>
          <a:noFill/>
          <a:ln/>
        </p:spPr>
        <p:txBody>
          <a:bodyPr wrap="square" lIns="0" tIns="0" rIns="0" bIns="0" rtlCol="0" anchor="ctr"/>
          <a:lstStyle/>
          <a:p>
            <a:pPr algn="ctr" indent="0" marL="0">
              <a:buNone/>
            </a:pPr>
            <a:r>
              <a:rPr lang="en-US" sz="1100" i="1" dirty="0">
                <a:solidFill>
                  <a:srgbClr val="6E737C"/>
                </a:solidFill>
                <a:latin typeface="Calibri" pitchFamily="34" charset="0"/>
                <a:ea typeface="Calibri" pitchFamily="34" charset="-122"/>
                <a:cs typeface="Calibri" pitchFamily="34" charset="-120"/>
              </a:rPr>
              <a:t>Every machine-authored resource carries: source-text span · source-phase · confidence · engine version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LIVE DEMO · SCENARIO 1</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The Hernandez Valley Fever cluster</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05</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783080"/>
            <a:ext cx="11094415" cy="914400"/>
          </a:xfrm>
          <a:prstGeom prst="rect">
            <a:avLst/>
          </a:prstGeom>
          <a:noFill/>
          <a:ln/>
        </p:spPr>
        <p:txBody>
          <a:bodyPr wrap="square" lIns="0" tIns="0" rIns="0" bIns="0" rtlCol="0" anchor="t"/>
          <a:lstStyle/>
          <a:p>
            <a:pPr indent="0" marL="0">
              <a:buNone/>
            </a:pPr>
            <a:r>
              <a:rPr lang="en-US" sz="1600" b="1" dirty="0">
                <a:solidFill>
                  <a:srgbClr val="0C234B"/>
                </a:solidFill>
                <a:latin typeface="Calibri" pitchFamily="34" charset="0"/>
                <a:ea typeface="Calibri" pitchFamily="34" charset="-122"/>
                <a:cs typeface="Calibri" pitchFamily="34" charset="-120"/>
              </a:rPr>
              <a:t>Maria, 52, Tucson. </a:t>
            </a:r>
            <a:pPr indent="0" marL="0">
              <a:buNone/>
            </a:pPr>
            <a:r>
              <a:rPr lang="en-US" sz="1600" dirty="0">
                <a:solidFill>
                  <a:srgbClr val="1F2228"/>
                </a:solidFill>
                <a:latin typeface="Calibri" pitchFamily="34" charset="0"/>
                <a:ea typeface="Calibri" pitchFamily="34" charset="-122"/>
                <a:cs typeface="Calibri" pitchFamily="34" charset="-120"/>
              </a:rPr>
              <a:t>Three weeks of cough. Significant exposure to wind-blown soil dust during yard work.</a:t>
            </a:r>
            <a:pPr indent="0" marL="0">
              <a:buNone/>
            </a:pPr>
            <a:r>
              <a:rPr lang="en-US" sz="1600" dirty="0">
                <a:solidFill>
                  <a:srgbClr val="000000"/>
                </a:solidFill>
                <a:latin typeface="Calibri" pitchFamily="34" charset="0"/>
                <a:ea typeface="Calibri" pitchFamily="34" charset="-122"/>
                <a:cs typeface="Calibri" pitchFamily="34" charset="-120"/>
              </a:rPr>
              <a:t>  </a:t>
            </a:r>
            <a:pPr indent="0" marL="0">
              <a:buNone/>
            </a:pPr>
            <a:r>
              <a:rPr lang="en-US" sz="1600" dirty="0">
                <a:solidFill>
                  <a:srgbClr val="1F2228"/>
                </a:solidFill>
                <a:latin typeface="Calibri" pitchFamily="34" charset="0"/>
                <a:ea typeface="Calibri" pitchFamily="34" charset="-122"/>
                <a:cs typeface="Calibri" pitchFamily="34" charset="-120"/>
              </a:rPr>
              <a:t>Family dog </a:t>
            </a:r>
            <a:endParaRPr lang="en-US" sz="1600" dirty="0"/>
          </a:p>
          <a:p>
            <a:pPr indent="0" marL="0">
              <a:buNone/>
            </a:pPr>
            <a:r>
              <a:rPr lang="en-US" sz="1600" i="1" dirty="0">
                <a:solidFill>
                  <a:srgbClr val="AB0520"/>
                </a:solidFill>
                <a:latin typeface="Calibri" pitchFamily="34" charset="0"/>
                <a:ea typeface="Calibri" pitchFamily="34" charset="-122"/>
                <a:cs typeface="Calibri" pitchFamily="34" charset="-120"/>
              </a:rPr>
              <a:t>Rocco — diagnosed Valley Fever last week by their vet.</a:t>
            </a:r>
            <a:endParaRPr lang="en-US" sz="1600" dirty="0"/>
          </a:p>
        </p:txBody>
      </p:sp>
      <p:sp>
        <p:nvSpPr>
          <p:cNvPr id="8" name="Shape 5"/>
          <p:cNvSpPr/>
          <p:nvPr/>
        </p:nvSpPr>
        <p:spPr>
          <a:xfrm>
            <a:off x="548640" y="3108960"/>
            <a:ext cx="164592" cy="164592"/>
          </a:xfrm>
          <a:prstGeom prst="rect">
            <a:avLst/>
          </a:prstGeom>
          <a:solidFill>
            <a:srgbClr val="1F4D7A"/>
          </a:solidFill>
          <a:ln w="12700">
            <a:solidFill>
              <a:srgbClr val="1F4D7A"/>
            </a:solidFill>
            <a:prstDash val="solid"/>
          </a:ln>
        </p:spPr>
      </p:sp>
      <p:sp>
        <p:nvSpPr>
          <p:cNvPr id="9" name="Text 6"/>
          <p:cNvSpPr/>
          <p:nvPr/>
        </p:nvSpPr>
        <p:spPr>
          <a:xfrm>
            <a:off x="841248" y="3017520"/>
            <a:ext cx="3283610" cy="36576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1. Clinician dictates</a:t>
            </a:r>
            <a:endParaRPr lang="en-US" sz="1400" dirty="0"/>
          </a:p>
        </p:txBody>
      </p:sp>
      <p:sp>
        <p:nvSpPr>
          <p:cNvPr id="10" name="Text 7"/>
          <p:cNvSpPr/>
          <p:nvPr/>
        </p:nvSpPr>
        <p:spPr>
          <a:xfrm>
            <a:off x="548640" y="3474720"/>
            <a:ext cx="3576218" cy="228600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Free-text clinical narration is the input. No forms, no structured templates.</a:t>
            </a:r>
            <a:endParaRPr lang="en-US" sz="1200" dirty="0"/>
          </a:p>
        </p:txBody>
      </p:sp>
      <p:sp>
        <p:nvSpPr>
          <p:cNvPr id="11" name="Shape 8"/>
          <p:cNvSpPr/>
          <p:nvPr/>
        </p:nvSpPr>
        <p:spPr>
          <a:xfrm>
            <a:off x="4307738" y="3108960"/>
            <a:ext cx="164592" cy="164592"/>
          </a:xfrm>
          <a:prstGeom prst="rect">
            <a:avLst/>
          </a:prstGeom>
          <a:solidFill>
            <a:srgbClr val="AB0520"/>
          </a:solidFill>
          <a:ln w="12700">
            <a:solidFill>
              <a:srgbClr val="AB0520"/>
            </a:solidFill>
            <a:prstDash val="solid"/>
          </a:ln>
        </p:spPr>
      </p:sp>
      <p:sp>
        <p:nvSpPr>
          <p:cNvPr id="12" name="Text 9"/>
          <p:cNvSpPr/>
          <p:nvPr/>
        </p:nvSpPr>
        <p:spPr>
          <a:xfrm>
            <a:off x="4600346" y="3017520"/>
            <a:ext cx="3283610" cy="36576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2. Engine extracts</a:t>
            </a:r>
            <a:endParaRPr lang="en-US" sz="1400" dirty="0"/>
          </a:p>
        </p:txBody>
      </p:sp>
      <p:sp>
        <p:nvSpPr>
          <p:cNvPr id="13" name="Text 10"/>
          <p:cNvSpPr/>
          <p:nvPr/>
        </p:nvSpPr>
        <p:spPr>
          <a:xfrm>
            <a:off x="4307738" y="3474720"/>
            <a:ext cx="3576218" cy="228600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23 entities recognized. Conditions, symptoms, vitals, medications, exposures — each with SNOMED / ICD-10 / LOINC codes.</a:t>
            </a:r>
            <a:endParaRPr lang="en-US" sz="1200" dirty="0"/>
          </a:p>
        </p:txBody>
      </p:sp>
      <p:sp>
        <p:nvSpPr>
          <p:cNvPr id="14" name="Shape 11"/>
          <p:cNvSpPr/>
          <p:nvPr/>
        </p:nvSpPr>
        <p:spPr>
          <a:xfrm>
            <a:off x="8066837" y="3108960"/>
            <a:ext cx="164592" cy="164592"/>
          </a:xfrm>
          <a:prstGeom prst="rect">
            <a:avLst/>
          </a:prstGeom>
          <a:solidFill>
            <a:srgbClr val="3F6B47"/>
          </a:solidFill>
          <a:ln w="12700">
            <a:solidFill>
              <a:srgbClr val="3F6B47"/>
            </a:solidFill>
            <a:prstDash val="solid"/>
          </a:ln>
        </p:spPr>
      </p:sp>
      <p:sp>
        <p:nvSpPr>
          <p:cNvPr id="15" name="Text 12"/>
          <p:cNvSpPr/>
          <p:nvPr/>
        </p:nvSpPr>
        <p:spPr>
          <a:xfrm>
            <a:off x="8359445" y="3017520"/>
            <a:ext cx="3283610" cy="36576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3. Cross-species linkage</a:t>
            </a:r>
            <a:endParaRPr lang="en-US" sz="1400" dirty="0"/>
          </a:p>
        </p:txBody>
      </p:sp>
      <p:sp>
        <p:nvSpPr>
          <p:cNvPr id="16" name="Text 13"/>
          <p:cNvSpPr/>
          <p:nvPr/>
        </p:nvSpPr>
        <p:spPr>
          <a:xfrm>
            <a:off x="8066837" y="3474720"/>
            <a:ext cx="3576218" cy="228600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SNOMED root 5294002 already exists on Rocco's record → cross-species cluster alert fires automatically.</a:t>
            </a:r>
            <a:endParaRPr lang="en-US" sz="1200" dirty="0"/>
          </a:p>
        </p:txBody>
      </p:sp>
      <p:sp>
        <p:nvSpPr>
          <p:cNvPr id="17" name="Shape 14"/>
          <p:cNvSpPr/>
          <p:nvPr/>
        </p:nvSpPr>
        <p:spPr>
          <a:xfrm>
            <a:off x="548640" y="5760720"/>
            <a:ext cx="11094415" cy="594360"/>
          </a:xfrm>
          <a:prstGeom prst="roundRect">
            <a:avLst>
              <a:gd name="adj" fmla="val 9231"/>
            </a:avLst>
          </a:prstGeom>
          <a:solidFill>
            <a:srgbClr val="F4F1EA"/>
          </a:solidFill>
          <a:ln w="6350">
            <a:solidFill>
              <a:srgbClr val="C8CCD2"/>
            </a:solidFill>
            <a:prstDash val="solid"/>
          </a:ln>
        </p:spPr>
      </p:sp>
      <p:sp>
        <p:nvSpPr>
          <p:cNvPr id="18" name="Text 15"/>
          <p:cNvSpPr/>
          <p:nvPr/>
        </p:nvSpPr>
        <p:spPr>
          <a:xfrm>
            <a:off x="731520" y="5806440"/>
            <a:ext cx="10728655" cy="502920"/>
          </a:xfrm>
          <a:prstGeom prst="rect">
            <a:avLst/>
          </a:prstGeom>
          <a:noFill/>
          <a:ln/>
        </p:spPr>
        <p:txBody>
          <a:bodyPr wrap="square" lIns="0" tIns="0" rIns="0" bIns="0" rtlCol="0" anchor="ctr"/>
          <a:lstStyle/>
          <a:p>
            <a:pPr indent="0" marL="0">
              <a:buNone/>
            </a:pPr>
            <a:r>
              <a:rPr lang="en-US" sz="1200" dirty="0">
                <a:solidFill>
                  <a:srgbClr val="4A4F58"/>
                </a:solidFill>
                <a:latin typeface="Calibri" pitchFamily="34" charset="0"/>
                <a:ea typeface="Calibri" pitchFamily="34" charset="-122"/>
                <a:cs typeface="Calibri" pitchFamily="34" charset="-120"/>
              </a:rPr>
              <a:t>Time from dictation to FHIR Bundle: </a:t>
            </a:r>
            <a:pPr indent="0" marL="0">
              <a:buNone/>
            </a:pPr>
            <a:r>
              <a:rPr lang="en-US" sz="1200" b="1" dirty="0">
                <a:solidFill>
                  <a:srgbClr val="AB0520"/>
                </a:solidFill>
                <a:latin typeface="Calibri" pitchFamily="34" charset="0"/>
                <a:ea typeface="Calibri" pitchFamily="34" charset="-122"/>
                <a:cs typeface="Calibri" pitchFamily="34" charset="-120"/>
              </a:rPr>
              <a:t>~1.2 ms</a:t>
            </a:r>
            <a:pPr indent="0" marL="0">
              <a:buNone/>
            </a:pPr>
            <a:r>
              <a:rPr lang="en-US" sz="1200" dirty="0">
                <a:solidFill>
                  <a:srgbClr val="4A4F58"/>
                </a:solidFill>
                <a:latin typeface="Calibri" pitchFamily="34" charset="0"/>
                <a:ea typeface="Calibri" pitchFamily="34" charset="-122"/>
                <a:cs typeface="Calibri" pitchFamily="34" charset="-120"/>
              </a:rPr>
              <a:t> · per-encounter median, CPU-only laptop. Real-time-friendly.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CROSS-SPECIES KNOWLEDGE GRAPH</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2,188 nodes · 2,219 edges · NetworkX → D3</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06</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828800"/>
            <a:ext cx="1772869" cy="914400"/>
          </a:xfrm>
          <a:prstGeom prst="rect">
            <a:avLst/>
          </a:prstGeom>
          <a:noFill/>
          <a:ln/>
        </p:spPr>
        <p:txBody>
          <a:bodyPr wrap="square" lIns="0" tIns="0" rIns="0" bIns="0" rtlCol="0" anchor="ctr"/>
          <a:lstStyle/>
          <a:p>
            <a:pPr algn="l" indent="0" marL="0">
              <a:buNone/>
            </a:pPr>
            <a:r>
              <a:rPr lang="en-US" sz="4400" dirty="0">
                <a:solidFill>
                  <a:srgbClr val="0C234B"/>
                </a:solidFill>
                <a:latin typeface="Georgia" pitchFamily="34" charset="0"/>
                <a:ea typeface="Georgia" pitchFamily="34" charset="-122"/>
                <a:cs typeface="Georgia" pitchFamily="34" charset="-120"/>
              </a:rPr>
              <a:t>360</a:t>
            </a:r>
            <a:endParaRPr lang="en-US" sz="4400" dirty="0"/>
          </a:p>
        </p:txBody>
      </p:sp>
      <p:sp>
        <p:nvSpPr>
          <p:cNvPr id="8" name="Text 5"/>
          <p:cNvSpPr/>
          <p:nvPr/>
        </p:nvSpPr>
        <p:spPr>
          <a:xfrm>
            <a:off x="548640" y="2743200"/>
            <a:ext cx="1772869" cy="365760"/>
          </a:xfrm>
          <a:prstGeom prst="rect">
            <a:avLst/>
          </a:prstGeom>
          <a:noFill/>
          <a:ln/>
        </p:spPr>
        <p:txBody>
          <a:bodyPr wrap="square" lIns="0" tIns="0" rIns="0" bIns="0" rtlCol="0" anchor="ctr"/>
          <a:lstStyle/>
          <a:p>
            <a:pPr algn="l" indent="0" marL="0">
              <a:buNone/>
            </a:pPr>
            <a:r>
              <a:rPr lang="en-US" sz="1100" dirty="0">
                <a:solidFill>
                  <a:srgbClr val="6E737C"/>
                </a:solidFill>
                <a:latin typeface="Calibri" pitchFamily="34" charset="0"/>
                <a:ea typeface="Calibri" pitchFamily="34" charset="-122"/>
                <a:cs typeface="Calibri" pitchFamily="34" charset="-120"/>
              </a:rPr>
              <a:t>households</a:t>
            </a:r>
            <a:endParaRPr lang="en-US" sz="1100" dirty="0"/>
          </a:p>
        </p:txBody>
      </p:sp>
      <p:sp>
        <p:nvSpPr>
          <p:cNvPr id="9" name="Text 6"/>
          <p:cNvSpPr/>
          <p:nvPr/>
        </p:nvSpPr>
        <p:spPr>
          <a:xfrm>
            <a:off x="2412949" y="1828800"/>
            <a:ext cx="1772869" cy="914400"/>
          </a:xfrm>
          <a:prstGeom prst="rect">
            <a:avLst/>
          </a:prstGeom>
          <a:noFill/>
          <a:ln/>
        </p:spPr>
        <p:txBody>
          <a:bodyPr wrap="square" lIns="0" tIns="0" rIns="0" bIns="0" rtlCol="0" anchor="ctr"/>
          <a:lstStyle/>
          <a:p>
            <a:pPr algn="l" indent="0" marL="0">
              <a:buNone/>
            </a:pPr>
            <a:r>
              <a:rPr lang="en-US" sz="4400" dirty="0">
                <a:solidFill>
                  <a:srgbClr val="0C234B"/>
                </a:solidFill>
                <a:latin typeface="Georgia" pitchFamily="34" charset="0"/>
                <a:ea typeface="Georgia" pitchFamily="34" charset="-122"/>
                <a:cs typeface="Georgia" pitchFamily="34" charset="-120"/>
              </a:rPr>
              <a:t>970</a:t>
            </a:r>
            <a:endParaRPr lang="en-US" sz="4400" dirty="0"/>
          </a:p>
        </p:txBody>
      </p:sp>
      <p:sp>
        <p:nvSpPr>
          <p:cNvPr id="10" name="Text 7"/>
          <p:cNvSpPr/>
          <p:nvPr/>
        </p:nvSpPr>
        <p:spPr>
          <a:xfrm>
            <a:off x="2412949" y="2743200"/>
            <a:ext cx="1772869" cy="365760"/>
          </a:xfrm>
          <a:prstGeom prst="rect">
            <a:avLst/>
          </a:prstGeom>
          <a:noFill/>
          <a:ln/>
        </p:spPr>
        <p:txBody>
          <a:bodyPr wrap="square" lIns="0" tIns="0" rIns="0" bIns="0" rtlCol="0" anchor="ctr"/>
          <a:lstStyle/>
          <a:p>
            <a:pPr algn="l" indent="0" marL="0">
              <a:buNone/>
            </a:pPr>
            <a:r>
              <a:rPr lang="en-US" sz="1100" dirty="0">
                <a:solidFill>
                  <a:srgbClr val="6E737C"/>
                </a:solidFill>
                <a:latin typeface="Calibri" pitchFamily="34" charset="0"/>
                <a:ea typeface="Calibri" pitchFamily="34" charset="-122"/>
                <a:cs typeface="Calibri" pitchFamily="34" charset="-120"/>
              </a:rPr>
              <a:t>human patients</a:t>
            </a:r>
            <a:endParaRPr lang="en-US" sz="1100" dirty="0"/>
          </a:p>
        </p:txBody>
      </p:sp>
      <p:sp>
        <p:nvSpPr>
          <p:cNvPr id="11" name="Text 8"/>
          <p:cNvSpPr/>
          <p:nvPr/>
        </p:nvSpPr>
        <p:spPr>
          <a:xfrm>
            <a:off x="4277258" y="1828800"/>
            <a:ext cx="1772869" cy="914400"/>
          </a:xfrm>
          <a:prstGeom prst="rect">
            <a:avLst/>
          </a:prstGeom>
          <a:noFill/>
          <a:ln/>
        </p:spPr>
        <p:txBody>
          <a:bodyPr wrap="square" lIns="0" tIns="0" rIns="0" bIns="0" rtlCol="0" anchor="ctr"/>
          <a:lstStyle/>
          <a:p>
            <a:pPr algn="l" indent="0" marL="0">
              <a:buNone/>
            </a:pPr>
            <a:r>
              <a:rPr lang="en-US" sz="4400" dirty="0">
                <a:solidFill>
                  <a:srgbClr val="0C234B"/>
                </a:solidFill>
                <a:latin typeface="Georgia" pitchFamily="34" charset="0"/>
                <a:ea typeface="Georgia" pitchFamily="34" charset="-122"/>
                <a:cs typeface="Georgia" pitchFamily="34" charset="-120"/>
              </a:rPr>
              <a:t>408</a:t>
            </a:r>
            <a:endParaRPr lang="en-US" sz="4400" dirty="0"/>
          </a:p>
        </p:txBody>
      </p:sp>
      <p:sp>
        <p:nvSpPr>
          <p:cNvPr id="12" name="Text 9"/>
          <p:cNvSpPr/>
          <p:nvPr/>
        </p:nvSpPr>
        <p:spPr>
          <a:xfrm>
            <a:off x="4277258" y="2743200"/>
            <a:ext cx="1772869" cy="365760"/>
          </a:xfrm>
          <a:prstGeom prst="rect">
            <a:avLst/>
          </a:prstGeom>
          <a:noFill/>
          <a:ln/>
        </p:spPr>
        <p:txBody>
          <a:bodyPr wrap="square" lIns="0" tIns="0" rIns="0" bIns="0" rtlCol="0" anchor="ctr"/>
          <a:lstStyle/>
          <a:p>
            <a:pPr algn="l" indent="0" marL="0">
              <a:buNone/>
            </a:pPr>
            <a:r>
              <a:rPr lang="en-US" sz="1100" dirty="0">
                <a:solidFill>
                  <a:srgbClr val="6E737C"/>
                </a:solidFill>
                <a:latin typeface="Calibri" pitchFamily="34" charset="0"/>
                <a:ea typeface="Calibri" pitchFamily="34" charset="-122"/>
                <a:cs typeface="Calibri" pitchFamily="34" charset="-120"/>
              </a:rPr>
              <a:t>animal patients</a:t>
            </a:r>
            <a:endParaRPr lang="en-US" sz="1100" dirty="0"/>
          </a:p>
        </p:txBody>
      </p:sp>
      <p:sp>
        <p:nvSpPr>
          <p:cNvPr id="13" name="Text 10"/>
          <p:cNvSpPr/>
          <p:nvPr/>
        </p:nvSpPr>
        <p:spPr>
          <a:xfrm>
            <a:off x="6141568" y="1828800"/>
            <a:ext cx="1772869" cy="914400"/>
          </a:xfrm>
          <a:prstGeom prst="rect">
            <a:avLst/>
          </a:prstGeom>
          <a:noFill/>
          <a:ln/>
        </p:spPr>
        <p:txBody>
          <a:bodyPr wrap="square" lIns="0" tIns="0" rIns="0" bIns="0" rtlCol="0" anchor="ctr"/>
          <a:lstStyle/>
          <a:p>
            <a:pPr algn="l" indent="0" marL="0">
              <a:buNone/>
            </a:pPr>
            <a:r>
              <a:rPr lang="en-US" sz="4400" dirty="0">
                <a:solidFill>
                  <a:srgbClr val="0C234B"/>
                </a:solidFill>
                <a:latin typeface="Georgia" pitchFamily="34" charset="0"/>
                <a:ea typeface="Georgia" pitchFamily="34" charset="-122"/>
                <a:cs typeface="Georgia" pitchFamily="34" charset="-120"/>
              </a:rPr>
              <a:t>14</a:t>
            </a:r>
            <a:endParaRPr lang="en-US" sz="4400" dirty="0"/>
          </a:p>
        </p:txBody>
      </p:sp>
      <p:sp>
        <p:nvSpPr>
          <p:cNvPr id="14" name="Text 11"/>
          <p:cNvSpPr/>
          <p:nvPr/>
        </p:nvSpPr>
        <p:spPr>
          <a:xfrm>
            <a:off x="6141568" y="2743200"/>
            <a:ext cx="1772869" cy="365760"/>
          </a:xfrm>
          <a:prstGeom prst="rect">
            <a:avLst/>
          </a:prstGeom>
          <a:noFill/>
          <a:ln/>
        </p:spPr>
        <p:txBody>
          <a:bodyPr wrap="square" lIns="0" tIns="0" rIns="0" bIns="0" rtlCol="0" anchor="ctr"/>
          <a:lstStyle/>
          <a:p>
            <a:pPr algn="l" indent="0" marL="0">
              <a:buNone/>
            </a:pPr>
            <a:r>
              <a:rPr lang="en-US" sz="1100" dirty="0">
                <a:solidFill>
                  <a:srgbClr val="6E737C"/>
                </a:solidFill>
                <a:latin typeface="Calibri" pitchFamily="34" charset="0"/>
                <a:ea typeface="Calibri" pitchFamily="34" charset="-122"/>
                <a:cs typeface="Calibri" pitchFamily="34" charset="-120"/>
              </a:rPr>
              <a:t>One Health diseases</a:t>
            </a:r>
            <a:endParaRPr lang="en-US" sz="1100" dirty="0"/>
          </a:p>
        </p:txBody>
      </p:sp>
      <p:sp>
        <p:nvSpPr>
          <p:cNvPr id="15" name="Text 12"/>
          <p:cNvSpPr/>
          <p:nvPr/>
        </p:nvSpPr>
        <p:spPr>
          <a:xfrm>
            <a:off x="8005877" y="1828800"/>
            <a:ext cx="1772869" cy="914400"/>
          </a:xfrm>
          <a:prstGeom prst="rect">
            <a:avLst/>
          </a:prstGeom>
          <a:noFill/>
          <a:ln/>
        </p:spPr>
        <p:txBody>
          <a:bodyPr wrap="square" lIns="0" tIns="0" rIns="0" bIns="0" rtlCol="0" anchor="ctr"/>
          <a:lstStyle/>
          <a:p>
            <a:pPr algn="l" indent="0" marL="0">
              <a:buNone/>
            </a:pPr>
            <a:r>
              <a:rPr lang="en-US" sz="4400" dirty="0">
                <a:solidFill>
                  <a:srgbClr val="0C234B"/>
                </a:solidFill>
                <a:latin typeface="Georgia" pitchFamily="34" charset="0"/>
                <a:ea typeface="Georgia" pitchFamily="34" charset="-122"/>
                <a:cs typeface="Georgia" pitchFamily="34" charset="-120"/>
              </a:rPr>
              <a:t>43</a:t>
            </a:r>
            <a:endParaRPr lang="en-US" sz="4400" dirty="0"/>
          </a:p>
        </p:txBody>
      </p:sp>
      <p:sp>
        <p:nvSpPr>
          <p:cNvPr id="16" name="Text 13"/>
          <p:cNvSpPr/>
          <p:nvPr/>
        </p:nvSpPr>
        <p:spPr>
          <a:xfrm>
            <a:off x="8005877" y="2743200"/>
            <a:ext cx="1772869" cy="365760"/>
          </a:xfrm>
          <a:prstGeom prst="rect">
            <a:avLst/>
          </a:prstGeom>
          <a:noFill/>
          <a:ln/>
        </p:spPr>
        <p:txBody>
          <a:bodyPr wrap="square" lIns="0" tIns="0" rIns="0" bIns="0" rtlCol="0" anchor="ctr"/>
          <a:lstStyle/>
          <a:p>
            <a:pPr algn="l" indent="0" marL="0">
              <a:buNone/>
            </a:pPr>
            <a:r>
              <a:rPr lang="en-US" sz="1100" dirty="0">
                <a:solidFill>
                  <a:srgbClr val="6E737C"/>
                </a:solidFill>
                <a:latin typeface="Calibri" pitchFamily="34" charset="0"/>
                <a:ea typeface="Calibri" pitchFamily="34" charset="-122"/>
                <a:cs typeface="Calibri" pitchFamily="34" charset="-120"/>
              </a:rPr>
              <a:t>Arizona ZIPs (15 counties)</a:t>
            </a:r>
            <a:endParaRPr lang="en-US" sz="1100" dirty="0"/>
          </a:p>
        </p:txBody>
      </p:sp>
      <p:sp>
        <p:nvSpPr>
          <p:cNvPr id="17" name="Text 14"/>
          <p:cNvSpPr/>
          <p:nvPr/>
        </p:nvSpPr>
        <p:spPr>
          <a:xfrm>
            <a:off x="9870186" y="1828800"/>
            <a:ext cx="1772869" cy="914400"/>
          </a:xfrm>
          <a:prstGeom prst="rect">
            <a:avLst/>
          </a:prstGeom>
          <a:noFill/>
          <a:ln/>
        </p:spPr>
        <p:txBody>
          <a:bodyPr wrap="square" lIns="0" tIns="0" rIns="0" bIns="0" rtlCol="0" anchor="ctr"/>
          <a:lstStyle/>
          <a:p>
            <a:pPr algn="l" indent="0" marL="0">
              <a:buNone/>
            </a:pPr>
            <a:r>
              <a:rPr lang="en-US" sz="4400" dirty="0">
                <a:solidFill>
                  <a:srgbClr val="0C234B"/>
                </a:solidFill>
                <a:latin typeface="Georgia" pitchFamily="34" charset="0"/>
                <a:ea typeface="Georgia" pitchFamily="34" charset="-122"/>
                <a:cs typeface="Georgia" pitchFamily="34" charset="-120"/>
              </a:rPr>
              <a:t>4.7k</a:t>
            </a:r>
            <a:endParaRPr lang="en-US" sz="4400" dirty="0"/>
          </a:p>
        </p:txBody>
      </p:sp>
      <p:sp>
        <p:nvSpPr>
          <p:cNvPr id="18" name="Text 15"/>
          <p:cNvSpPr/>
          <p:nvPr/>
        </p:nvSpPr>
        <p:spPr>
          <a:xfrm>
            <a:off x="9870186" y="2743200"/>
            <a:ext cx="1772869" cy="365760"/>
          </a:xfrm>
          <a:prstGeom prst="rect">
            <a:avLst/>
          </a:prstGeom>
          <a:noFill/>
          <a:ln/>
        </p:spPr>
        <p:txBody>
          <a:bodyPr wrap="square" lIns="0" tIns="0" rIns="0" bIns="0" rtlCol="0" anchor="ctr"/>
          <a:lstStyle/>
          <a:p>
            <a:pPr algn="l" indent="0" marL="0">
              <a:buNone/>
            </a:pPr>
            <a:r>
              <a:rPr lang="en-US" sz="1100" dirty="0">
                <a:solidFill>
                  <a:srgbClr val="6E737C"/>
                </a:solidFill>
                <a:latin typeface="Calibri" pitchFamily="34" charset="0"/>
                <a:ea typeface="Calibri" pitchFamily="34" charset="-122"/>
                <a:cs typeface="Calibri" pitchFamily="34" charset="-120"/>
              </a:rPr>
              <a:t>longitudinal encounters</a:t>
            </a:r>
            <a:endParaRPr lang="en-US" sz="1100" dirty="0"/>
          </a:p>
        </p:txBody>
      </p:sp>
      <p:sp>
        <p:nvSpPr>
          <p:cNvPr id="19" name="Text 16"/>
          <p:cNvSpPr/>
          <p:nvPr/>
        </p:nvSpPr>
        <p:spPr>
          <a:xfrm>
            <a:off x="548640" y="3657600"/>
            <a:ext cx="11094415" cy="640080"/>
          </a:xfrm>
          <a:prstGeom prst="rect">
            <a:avLst/>
          </a:prstGeom>
          <a:noFill/>
          <a:ln/>
        </p:spPr>
        <p:txBody>
          <a:bodyPr wrap="square" lIns="0" tIns="0" rIns="0" bIns="0" rtlCol="0" anchor="t"/>
          <a:lstStyle/>
          <a:p>
            <a:pPr indent="0" marL="0">
              <a:buNone/>
            </a:pPr>
            <a:r>
              <a:rPr lang="en-US" sz="1400" dirty="0">
                <a:solidFill>
                  <a:srgbClr val="1F2228"/>
                </a:solidFill>
                <a:latin typeface="Calibri" pitchFamily="34" charset="0"/>
                <a:ea typeface="Calibri" pitchFamily="34" charset="-122"/>
                <a:cs typeface="Calibri" pitchFamily="34" charset="-120"/>
              </a:rPr>
              <a:t>The graph is built from FHIR resources, not bolted on. A clinical NER pipeline produces SNOMED-rooted Conditions; the graph emerges automatically from those codes.</a:t>
            </a:r>
            <a:endParaRPr lang="en-US" sz="1400" dirty="0"/>
          </a:p>
        </p:txBody>
      </p:sp>
      <p:sp>
        <p:nvSpPr>
          <p:cNvPr id="20" name="Shape 17"/>
          <p:cNvSpPr/>
          <p:nvPr/>
        </p:nvSpPr>
        <p:spPr>
          <a:xfrm>
            <a:off x="548640" y="4526280"/>
            <a:ext cx="11094415" cy="1691640"/>
          </a:xfrm>
          <a:prstGeom prst="roundRect">
            <a:avLst>
              <a:gd name="adj" fmla="val 3243"/>
            </a:avLst>
          </a:prstGeom>
          <a:solidFill>
            <a:srgbClr val="F4F1EA"/>
          </a:solidFill>
          <a:ln w="6350">
            <a:solidFill>
              <a:srgbClr val="C8CCD2"/>
            </a:solidFill>
            <a:prstDash val="solid"/>
          </a:ln>
        </p:spPr>
      </p:sp>
      <p:sp>
        <p:nvSpPr>
          <p:cNvPr id="21" name="Text 18"/>
          <p:cNvSpPr/>
          <p:nvPr/>
        </p:nvSpPr>
        <p:spPr>
          <a:xfrm>
            <a:off x="777240" y="4617720"/>
            <a:ext cx="6400800" cy="320040"/>
          </a:xfrm>
          <a:prstGeom prst="rect">
            <a:avLst/>
          </a:prstGeom>
          <a:noFill/>
          <a:ln/>
        </p:spPr>
        <p:txBody>
          <a:bodyPr wrap="square" lIns="0" tIns="0" rIns="0" bIns="0" rtlCol="0" anchor="ctr"/>
          <a:lstStyle/>
          <a:p>
            <a:pPr indent="0" marL="0">
              <a:buNone/>
            </a:pPr>
            <a:r>
              <a:rPr lang="en-US" sz="1200" b="1" spc="300" kern="0" dirty="0">
                <a:solidFill>
                  <a:srgbClr val="6E737C"/>
                </a:solidFill>
                <a:latin typeface="Calibri" pitchFamily="34" charset="0"/>
                <a:ea typeface="Calibri" pitchFamily="34" charset="-122"/>
                <a:cs typeface="Calibri" pitchFamily="34" charset="-120"/>
              </a:rPr>
              <a:t>Detected cross-species clusters (sample)</a:t>
            </a:r>
            <a:endParaRPr lang="en-US" sz="1200" dirty="0"/>
          </a:p>
        </p:txBody>
      </p:sp>
      <p:sp>
        <p:nvSpPr>
          <p:cNvPr id="22" name="Text 19"/>
          <p:cNvSpPr/>
          <p:nvPr/>
        </p:nvSpPr>
        <p:spPr>
          <a:xfrm>
            <a:off x="777240" y="4983480"/>
            <a:ext cx="3291840" cy="320040"/>
          </a:xfrm>
          <a:prstGeom prst="rect">
            <a:avLst/>
          </a:prstGeom>
          <a:noFill/>
          <a:ln/>
        </p:spPr>
        <p:txBody>
          <a:bodyPr wrap="square" lIns="0" tIns="0" rIns="0" bIns="0" rtlCol="0" anchor="ctr"/>
          <a:lstStyle/>
          <a:p>
            <a:pPr indent="0" marL="0">
              <a:buNone/>
            </a:pPr>
            <a:r>
              <a:rPr lang="en-US" sz="1250" dirty="0">
                <a:solidFill>
                  <a:srgbClr val="AB0520"/>
                </a:solidFill>
                <a:latin typeface="Georgia" pitchFamily="34" charset="0"/>
                <a:ea typeface="Georgia" pitchFamily="34" charset="-122"/>
                <a:cs typeface="Georgia" pitchFamily="34" charset="-120"/>
              </a:rPr>
              <a:t>Hernandez (Pima)</a:t>
            </a:r>
            <a:endParaRPr lang="en-US" sz="1250" dirty="0"/>
          </a:p>
        </p:txBody>
      </p:sp>
      <p:sp>
        <p:nvSpPr>
          <p:cNvPr id="23" name="Text 20"/>
          <p:cNvSpPr/>
          <p:nvPr/>
        </p:nvSpPr>
        <p:spPr>
          <a:xfrm>
            <a:off x="4206240" y="4983480"/>
            <a:ext cx="7315200" cy="32004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Valley Fever — 1 human + 1 dog (organism: Coccidioides 5294002)</a:t>
            </a:r>
            <a:endParaRPr lang="en-US" sz="1200" dirty="0"/>
          </a:p>
        </p:txBody>
      </p:sp>
      <p:sp>
        <p:nvSpPr>
          <p:cNvPr id="24" name="Text 21"/>
          <p:cNvSpPr/>
          <p:nvPr/>
        </p:nvSpPr>
        <p:spPr>
          <a:xfrm>
            <a:off x="777240" y="5367528"/>
            <a:ext cx="3291840" cy="320040"/>
          </a:xfrm>
          <a:prstGeom prst="rect">
            <a:avLst/>
          </a:prstGeom>
          <a:noFill/>
          <a:ln/>
        </p:spPr>
        <p:txBody>
          <a:bodyPr wrap="square" lIns="0" tIns="0" rIns="0" bIns="0" rtlCol="0" anchor="ctr"/>
          <a:lstStyle/>
          <a:p>
            <a:pPr indent="0" marL="0">
              <a:buNone/>
            </a:pPr>
            <a:r>
              <a:rPr lang="en-US" sz="1250" dirty="0">
                <a:solidFill>
                  <a:srgbClr val="AB0520"/>
                </a:solidFill>
                <a:latin typeface="Georgia" pitchFamily="34" charset="0"/>
                <a:ea typeface="Georgia" pitchFamily="34" charset="-122"/>
                <a:cs typeface="Georgia" pitchFamily="34" charset="-120"/>
              </a:rPr>
              <a:t>Begay (Apache)</a:t>
            </a:r>
            <a:endParaRPr lang="en-US" sz="1250" dirty="0"/>
          </a:p>
        </p:txBody>
      </p:sp>
      <p:sp>
        <p:nvSpPr>
          <p:cNvPr id="25" name="Text 22"/>
          <p:cNvSpPr/>
          <p:nvPr/>
        </p:nvSpPr>
        <p:spPr>
          <a:xfrm>
            <a:off x="4206240" y="5367528"/>
            <a:ext cx="7315200" cy="32004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Plague — 1 human + 1 cat (organism: Y. pestis 58750007)</a:t>
            </a:r>
            <a:endParaRPr lang="en-US" sz="1200" dirty="0"/>
          </a:p>
        </p:txBody>
      </p:sp>
      <p:sp>
        <p:nvSpPr>
          <p:cNvPr id="26" name="Text 23"/>
          <p:cNvSpPr/>
          <p:nvPr/>
        </p:nvSpPr>
        <p:spPr>
          <a:xfrm>
            <a:off x="777240" y="5751576"/>
            <a:ext cx="3291840" cy="320040"/>
          </a:xfrm>
          <a:prstGeom prst="rect">
            <a:avLst/>
          </a:prstGeom>
          <a:noFill/>
          <a:ln/>
        </p:spPr>
        <p:txBody>
          <a:bodyPr wrap="square" lIns="0" tIns="0" rIns="0" bIns="0" rtlCol="0" anchor="ctr"/>
          <a:lstStyle/>
          <a:p>
            <a:pPr indent="0" marL="0">
              <a:buNone/>
            </a:pPr>
            <a:r>
              <a:rPr lang="en-US" sz="1250" dirty="0">
                <a:solidFill>
                  <a:srgbClr val="AB0520"/>
                </a:solidFill>
                <a:latin typeface="Georgia" pitchFamily="34" charset="0"/>
                <a:ea typeface="Georgia" pitchFamily="34" charset="-122"/>
                <a:cs typeface="Georgia" pitchFamily="34" charset="-120"/>
              </a:rPr>
              <a:t>Ramirez (Cochise)</a:t>
            </a:r>
            <a:endParaRPr lang="en-US" sz="1250" dirty="0"/>
          </a:p>
        </p:txBody>
      </p:sp>
      <p:sp>
        <p:nvSpPr>
          <p:cNvPr id="27" name="Text 24"/>
          <p:cNvSpPr/>
          <p:nvPr/>
        </p:nvSpPr>
        <p:spPr>
          <a:xfrm>
            <a:off x="4206240" y="5751576"/>
            <a:ext cx="7315200" cy="32004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West Nile virus — 1 human + 1 horse (shared mosquito vector)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SENTINEL SURVEILLANCE</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Pinal County tick anomaly</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07</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5029200" cy="2194560"/>
          </a:xfrm>
          <a:prstGeom prst="rect">
            <a:avLst/>
          </a:prstGeom>
          <a:noFill/>
          <a:ln/>
        </p:spPr>
        <p:txBody>
          <a:bodyPr wrap="square" lIns="0" tIns="0" rIns="0" bIns="0" rtlCol="0" anchor="ctr"/>
          <a:lstStyle/>
          <a:p>
            <a:pPr indent="0" marL="0">
              <a:buNone/>
            </a:pPr>
            <a:r>
              <a:rPr lang="en-US" sz="13000" dirty="0">
                <a:solidFill>
                  <a:srgbClr val="AB0520"/>
                </a:solidFill>
                <a:latin typeface="Georgia" pitchFamily="34" charset="0"/>
                <a:ea typeface="Georgia" pitchFamily="34" charset="-122"/>
                <a:cs typeface="Georgia" pitchFamily="34" charset="-120"/>
              </a:rPr>
              <a:t>27.2σ</a:t>
            </a:r>
            <a:endParaRPr lang="en-US" sz="13000" dirty="0"/>
          </a:p>
        </p:txBody>
      </p:sp>
      <p:sp>
        <p:nvSpPr>
          <p:cNvPr id="8" name="Text 5"/>
          <p:cNvSpPr/>
          <p:nvPr/>
        </p:nvSpPr>
        <p:spPr>
          <a:xfrm>
            <a:off x="548640" y="3703320"/>
            <a:ext cx="5029200" cy="640080"/>
          </a:xfrm>
          <a:prstGeom prst="rect">
            <a:avLst/>
          </a:prstGeom>
          <a:noFill/>
          <a:ln/>
        </p:spPr>
        <p:txBody>
          <a:bodyPr wrap="square" lIns="0" tIns="0" rIns="0" bIns="0" rtlCol="0" anchor="t"/>
          <a:lstStyle/>
          <a:p>
            <a:pPr indent="0" marL="0">
              <a:buNone/>
            </a:pPr>
            <a:r>
              <a:rPr lang="en-US" sz="1300" dirty="0">
                <a:solidFill>
                  <a:srgbClr val="4A4F58"/>
                </a:solidFill>
                <a:latin typeface="Calibri" pitchFamily="34" charset="0"/>
                <a:ea typeface="Calibri" pitchFamily="34" charset="-122"/>
                <a:cs typeface="Calibri" pitchFamily="34" charset="-120"/>
              </a:rPr>
              <a:t>above baseline tick count, last 4 weeks vs. trailing 22 weeks</a:t>
            </a:r>
            <a:endParaRPr lang="en-US" sz="1300" dirty="0"/>
          </a:p>
        </p:txBody>
      </p:sp>
      <p:sp>
        <p:nvSpPr>
          <p:cNvPr id="9" name="Text 6"/>
          <p:cNvSpPr/>
          <p:nvPr/>
        </p:nvSpPr>
        <p:spPr>
          <a:xfrm>
            <a:off x="5943600" y="1783080"/>
            <a:ext cx="5943600" cy="365760"/>
          </a:xfrm>
          <a:prstGeom prst="rect">
            <a:avLst/>
          </a:prstGeom>
          <a:noFill/>
          <a:ln/>
        </p:spPr>
        <p:txBody>
          <a:bodyPr wrap="square" lIns="0" tIns="0" rIns="0" bIns="0" rtlCol="0" anchor="ctr"/>
          <a:lstStyle/>
          <a:p>
            <a:pPr indent="0" marL="0">
              <a:buNone/>
            </a:pPr>
            <a:r>
              <a:rPr lang="en-US" sz="1200" b="1" spc="300" kern="0" dirty="0">
                <a:solidFill>
                  <a:srgbClr val="6E737C"/>
                </a:solidFill>
                <a:latin typeface="Calibri" pitchFamily="34" charset="0"/>
                <a:ea typeface="Calibri" pitchFamily="34" charset="-122"/>
                <a:cs typeface="Calibri" pitchFamily="34" charset="-120"/>
              </a:rPr>
              <a:t>What the engine does next</a:t>
            </a:r>
            <a:endParaRPr lang="en-US" sz="1200" dirty="0"/>
          </a:p>
        </p:txBody>
      </p:sp>
      <p:sp>
        <p:nvSpPr>
          <p:cNvPr id="10" name="Text 7"/>
          <p:cNvSpPr/>
          <p:nvPr/>
        </p:nvSpPr>
        <p:spPr>
          <a:xfrm>
            <a:off x="5943600" y="2240280"/>
            <a:ext cx="5943600" cy="640080"/>
          </a:xfrm>
          <a:prstGeom prst="rect">
            <a:avLst/>
          </a:prstGeom>
          <a:noFill/>
          <a:ln/>
        </p:spPr>
        <p:txBody>
          <a:bodyPr wrap="square" lIns="0" tIns="0" rIns="0" bIns="0" rtlCol="0" anchor="t"/>
          <a:lstStyle/>
          <a:p>
            <a:pPr indent="0" marL="0">
              <a:buNone/>
            </a:pPr>
            <a:r>
              <a:rPr lang="en-US" sz="1300" b="1" dirty="0">
                <a:solidFill>
                  <a:srgbClr val="AB0520"/>
                </a:solidFill>
                <a:latin typeface="Calibri" pitchFamily="34" charset="0"/>
                <a:ea typeface="Calibri" pitchFamily="34" charset="-122"/>
                <a:cs typeface="Calibri" pitchFamily="34" charset="-120"/>
              </a:rPr>
              <a:t>1.  </a:t>
            </a:r>
            <a:pPr indent="0" marL="0">
              <a:buNone/>
            </a:pPr>
            <a:r>
              <a:rPr lang="en-US" sz="1300" dirty="0">
                <a:solidFill>
                  <a:srgbClr val="1F2228"/>
                </a:solidFill>
                <a:latin typeface="Calibri" pitchFamily="34" charset="0"/>
                <a:ea typeface="Calibri" pitchFamily="34" charset="-122"/>
                <a:cs typeface="Calibri" pitchFamily="34" charset="-120"/>
              </a:rPr>
              <a:t>Upgrades the disposition of every ehrlichiosis / RMSF presentation in the affected county to </a:t>
            </a:r>
            <a:pPr indent="0" marL="0">
              <a:buNone/>
            </a:pPr>
            <a:r>
              <a:rPr lang="en-US" sz="1300" b="1" i="1" dirty="0">
                <a:solidFill>
                  <a:srgbClr val="AB0520"/>
                </a:solidFill>
                <a:latin typeface="Calibri" pitchFamily="34" charset="0"/>
                <a:ea typeface="Calibri" pitchFamily="34" charset="-122"/>
                <a:cs typeface="Calibri" pitchFamily="34" charset="-120"/>
              </a:rPr>
              <a:t>elevated</a:t>
            </a:r>
            <a:pPr indent="0" marL="0">
              <a:buNone/>
            </a:pPr>
            <a:r>
              <a:rPr lang="en-US" sz="1300" dirty="0">
                <a:solidFill>
                  <a:srgbClr val="1F2228"/>
                </a:solidFill>
                <a:latin typeface="Calibri" pitchFamily="34" charset="0"/>
                <a:ea typeface="Calibri" pitchFamily="34" charset="-122"/>
                <a:cs typeface="Calibri" pitchFamily="34" charset="-120"/>
              </a:rPr>
              <a:t>.</a:t>
            </a:r>
            <a:endParaRPr lang="en-US" sz="1300" dirty="0"/>
          </a:p>
        </p:txBody>
      </p:sp>
      <p:sp>
        <p:nvSpPr>
          <p:cNvPr id="11" name="Text 8"/>
          <p:cNvSpPr/>
          <p:nvPr/>
        </p:nvSpPr>
        <p:spPr>
          <a:xfrm>
            <a:off x="5943600" y="3017520"/>
            <a:ext cx="5943600" cy="640080"/>
          </a:xfrm>
          <a:prstGeom prst="rect">
            <a:avLst/>
          </a:prstGeom>
          <a:noFill/>
          <a:ln/>
        </p:spPr>
        <p:txBody>
          <a:bodyPr wrap="square" lIns="0" tIns="0" rIns="0" bIns="0" rtlCol="0" anchor="t"/>
          <a:lstStyle/>
          <a:p>
            <a:pPr indent="0" marL="0">
              <a:buNone/>
            </a:pPr>
            <a:r>
              <a:rPr lang="en-US" sz="1300" b="1" dirty="0">
                <a:solidFill>
                  <a:srgbClr val="AB0520"/>
                </a:solidFill>
                <a:latin typeface="Calibri" pitchFamily="34" charset="0"/>
                <a:ea typeface="Calibri" pitchFamily="34" charset="-122"/>
                <a:cs typeface="Calibri" pitchFamily="34" charset="-120"/>
              </a:rPr>
              <a:t>2.  </a:t>
            </a:r>
            <a:pPr indent="0" marL="0">
              <a:buNone/>
            </a:pPr>
            <a:r>
              <a:rPr lang="en-US" sz="1300" dirty="0">
                <a:solidFill>
                  <a:srgbClr val="1F2228"/>
                </a:solidFill>
                <a:latin typeface="Calibri" pitchFamily="34" charset="0"/>
                <a:ea typeface="Calibri" pitchFamily="34" charset="-122"/>
                <a:cs typeface="Calibri" pitchFamily="34" charset="-120"/>
              </a:rPr>
              <a:t>Surfaces a spatial alert in the Sentinel Alerts dashboard with </a:t>
            </a:r>
            <a:pPr indent="0" marL="0">
              <a:buNone/>
            </a:pPr>
            <a:r>
              <a:rPr lang="en-US" sz="1300" b="1" i="1" dirty="0">
                <a:solidFill>
                  <a:srgbClr val="AB0520"/>
                </a:solidFill>
                <a:latin typeface="Calibri" pitchFamily="34" charset="0"/>
                <a:ea typeface="Calibri" pitchFamily="34" charset="-122"/>
                <a:cs typeface="Calibri" pitchFamily="34" charset="-120"/>
              </a:rPr>
              <a:t>p &lt; 0.001</a:t>
            </a:r>
            <a:pPr indent="0" marL="0">
              <a:buNone/>
            </a:pPr>
            <a:r>
              <a:rPr lang="en-US" sz="1300" dirty="0">
                <a:solidFill>
                  <a:srgbClr val="1F2228"/>
                </a:solidFill>
                <a:latin typeface="Calibri" pitchFamily="34" charset="0"/>
                <a:ea typeface="Calibri" pitchFamily="34" charset="-122"/>
                <a:cs typeface="Calibri" pitchFamily="34" charset="-120"/>
              </a:rPr>
              <a:t> against 22-week baseline.</a:t>
            </a:r>
            <a:endParaRPr lang="en-US" sz="1300" dirty="0"/>
          </a:p>
        </p:txBody>
      </p:sp>
      <p:sp>
        <p:nvSpPr>
          <p:cNvPr id="12" name="Text 9"/>
          <p:cNvSpPr/>
          <p:nvPr/>
        </p:nvSpPr>
        <p:spPr>
          <a:xfrm>
            <a:off x="5943600" y="3794760"/>
            <a:ext cx="5943600" cy="640080"/>
          </a:xfrm>
          <a:prstGeom prst="rect">
            <a:avLst/>
          </a:prstGeom>
          <a:noFill/>
          <a:ln/>
        </p:spPr>
        <p:txBody>
          <a:bodyPr wrap="square" lIns="0" tIns="0" rIns="0" bIns="0" rtlCol="0" anchor="t"/>
          <a:lstStyle/>
          <a:p>
            <a:pPr indent="0" marL="0">
              <a:buNone/>
            </a:pPr>
            <a:r>
              <a:rPr lang="en-US" sz="1300" b="1" dirty="0">
                <a:solidFill>
                  <a:srgbClr val="AB0520"/>
                </a:solidFill>
                <a:latin typeface="Calibri" pitchFamily="34" charset="0"/>
                <a:ea typeface="Calibri" pitchFamily="34" charset="-122"/>
                <a:cs typeface="Calibri" pitchFamily="34" charset="-120"/>
              </a:rPr>
              <a:t>3.  </a:t>
            </a:r>
            <a:pPr indent="0" marL="0">
              <a:buNone/>
            </a:pPr>
            <a:r>
              <a:rPr lang="en-US" sz="1300" dirty="0">
                <a:solidFill>
                  <a:srgbClr val="1F2228"/>
                </a:solidFill>
                <a:latin typeface="Calibri" pitchFamily="34" charset="0"/>
                <a:ea typeface="Calibri" pitchFamily="34" charset="-122"/>
                <a:cs typeface="Calibri" pitchFamily="34" charset="-120"/>
              </a:rPr>
              <a:t>Carries the alert into the Provider Workspace for any Pinal-county patient — clinician sees county risk in real time.</a:t>
            </a:r>
            <a:endParaRPr lang="en-US" sz="1300" dirty="0"/>
          </a:p>
        </p:txBody>
      </p:sp>
      <p:sp>
        <p:nvSpPr>
          <p:cNvPr id="13" name="Text 10"/>
          <p:cNvSpPr/>
          <p:nvPr/>
        </p:nvSpPr>
        <p:spPr>
          <a:xfrm>
            <a:off x="5943600" y="4572000"/>
            <a:ext cx="5943600" cy="640080"/>
          </a:xfrm>
          <a:prstGeom prst="rect">
            <a:avLst/>
          </a:prstGeom>
          <a:noFill/>
          <a:ln/>
        </p:spPr>
        <p:txBody>
          <a:bodyPr wrap="square" lIns="0" tIns="0" rIns="0" bIns="0" rtlCol="0" anchor="t"/>
          <a:lstStyle/>
          <a:p>
            <a:pPr indent="0" marL="0">
              <a:buNone/>
            </a:pPr>
            <a:r>
              <a:rPr lang="en-US" sz="1300" b="1" dirty="0">
                <a:solidFill>
                  <a:srgbClr val="AB0520"/>
                </a:solidFill>
                <a:latin typeface="Calibri" pitchFamily="34" charset="0"/>
                <a:ea typeface="Calibri" pitchFamily="34" charset="-122"/>
                <a:cs typeface="Calibri" pitchFamily="34" charset="-120"/>
              </a:rPr>
              <a:t>4.  </a:t>
            </a:r>
            <a:pPr indent="0" marL="0">
              <a:buNone/>
            </a:pPr>
            <a:r>
              <a:rPr lang="en-US" sz="1300" dirty="0">
                <a:solidFill>
                  <a:srgbClr val="1F2228"/>
                </a:solidFill>
                <a:latin typeface="Calibri" pitchFamily="34" charset="0"/>
                <a:ea typeface="Calibri" pitchFamily="34" charset="-122"/>
                <a:cs typeface="Calibri" pitchFamily="34" charset="-120"/>
              </a:rPr>
              <a:t>Logs an audit trail with confidence and the underlying ArboNET-equivalent rows.</a:t>
            </a:r>
            <a:endParaRPr lang="en-US" sz="1300" dirty="0"/>
          </a:p>
        </p:txBody>
      </p:sp>
      <p:sp>
        <p:nvSpPr>
          <p:cNvPr id="14" name="Text 11"/>
          <p:cNvSpPr/>
          <p:nvPr/>
        </p:nvSpPr>
        <p:spPr>
          <a:xfrm>
            <a:off x="548640" y="6080760"/>
            <a:ext cx="11094415" cy="274320"/>
          </a:xfrm>
          <a:prstGeom prst="rect">
            <a:avLst/>
          </a:prstGeom>
          <a:noFill/>
          <a:ln/>
        </p:spPr>
        <p:txBody>
          <a:bodyPr wrap="square" lIns="0" tIns="0" rIns="0" bIns="0" rtlCol="0" anchor="ctr"/>
          <a:lstStyle/>
          <a:p>
            <a:pPr algn="ctr" indent="0" marL="0">
              <a:buNone/>
            </a:pPr>
            <a:r>
              <a:rPr lang="en-US" sz="1050" i="1" dirty="0">
                <a:solidFill>
                  <a:srgbClr val="6E737C"/>
                </a:solidFill>
                <a:latin typeface="Calibri" pitchFamily="34" charset="0"/>
                <a:ea typeface="Calibri" pitchFamily="34" charset="-122"/>
                <a:cs typeface="Calibri" pitchFamily="34" charset="-120"/>
              </a:rPr>
              <a:t>Synthetic ADHS rows: 540 · Vector burden rows: 390 · Detection latency: &lt; 1 ms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PROVIDER WORKSPACE</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Real-time One Health context for clinicians and vets</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08</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783080"/>
            <a:ext cx="11094415" cy="777240"/>
          </a:xfrm>
          <a:prstGeom prst="rect">
            <a:avLst/>
          </a:prstGeom>
          <a:noFill/>
          <a:ln/>
        </p:spPr>
        <p:txBody>
          <a:bodyPr wrap="square" lIns="0" tIns="0" rIns="0" bIns="0" rtlCol="0" anchor="t"/>
          <a:lstStyle/>
          <a:p>
            <a:pPr indent="0" marL="0">
              <a:buNone/>
            </a:pPr>
            <a:r>
              <a:rPr lang="en-US" sz="1600" dirty="0">
                <a:solidFill>
                  <a:srgbClr val="1F2228"/>
                </a:solidFill>
                <a:latin typeface="Calibri" pitchFamily="34" charset="0"/>
                <a:ea typeface="Calibri" pitchFamily="34" charset="-122"/>
                <a:cs typeface="Calibri" pitchFamily="34" charset="-120"/>
              </a:rPr>
              <a:t>A clinician sees Maria. A vet sees Rocco. Both providers see the same household graph in real time — the cross-species link is a default, not a special feature.</a:t>
            </a:r>
            <a:endParaRPr lang="en-US" sz="1600" dirty="0"/>
          </a:p>
        </p:txBody>
      </p:sp>
      <p:sp>
        <p:nvSpPr>
          <p:cNvPr id="8" name="Shape 5"/>
          <p:cNvSpPr/>
          <p:nvPr/>
        </p:nvSpPr>
        <p:spPr>
          <a:xfrm>
            <a:off x="548640" y="2743200"/>
            <a:ext cx="3576218" cy="3291840"/>
          </a:xfrm>
          <a:prstGeom prst="roundRect">
            <a:avLst>
              <a:gd name="adj" fmla="val 2222"/>
            </a:avLst>
          </a:prstGeom>
          <a:solidFill>
            <a:srgbClr val="F4F1EA"/>
          </a:solidFill>
          <a:ln w="6350">
            <a:solidFill>
              <a:srgbClr val="C8CCD2"/>
            </a:solidFill>
            <a:prstDash val="solid"/>
          </a:ln>
        </p:spPr>
      </p:sp>
      <p:sp>
        <p:nvSpPr>
          <p:cNvPr id="9" name="Text 6"/>
          <p:cNvSpPr/>
          <p:nvPr/>
        </p:nvSpPr>
        <p:spPr>
          <a:xfrm>
            <a:off x="777240" y="2880360"/>
            <a:ext cx="548640" cy="45720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0" name="Text 7"/>
          <p:cNvSpPr/>
          <p:nvPr/>
        </p:nvSpPr>
        <p:spPr>
          <a:xfrm>
            <a:off x="1325880" y="2971800"/>
            <a:ext cx="2707538" cy="411480"/>
          </a:xfrm>
          <a:prstGeom prst="rect">
            <a:avLst/>
          </a:prstGeom>
          <a:noFill/>
          <a:ln/>
        </p:spPr>
        <p:txBody>
          <a:bodyPr wrap="square" lIns="0" tIns="0" rIns="0" bIns="0" rtlCol="0" anchor="ctr"/>
          <a:lstStyle/>
          <a:p>
            <a:pPr indent="0" marL="0">
              <a:buNone/>
            </a:pPr>
            <a:r>
              <a:rPr lang="en-US" sz="1600" dirty="0">
                <a:solidFill>
                  <a:srgbClr val="0C234B"/>
                </a:solidFill>
                <a:latin typeface="Georgia" pitchFamily="34" charset="0"/>
                <a:ea typeface="Georgia" pitchFamily="34" charset="-122"/>
                <a:cs typeface="Georgia" pitchFamily="34" charset="-120"/>
              </a:rPr>
              <a:t>Patient list</a:t>
            </a:r>
            <a:endParaRPr lang="en-US" sz="1600" dirty="0"/>
          </a:p>
        </p:txBody>
      </p:sp>
      <p:sp>
        <p:nvSpPr>
          <p:cNvPr id="11" name="Text 8"/>
          <p:cNvSpPr/>
          <p:nvPr/>
        </p:nvSpPr>
        <p:spPr>
          <a:xfrm>
            <a:off x="777240" y="3520440"/>
            <a:ext cx="3119018" cy="237744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Filterable by role (clinician / vet / both). Patients in households with active alerts surface first — visible cardinal-red dot.</a:t>
            </a:r>
            <a:endParaRPr lang="en-US" sz="1200" dirty="0"/>
          </a:p>
        </p:txBody>
      </p:sp>
      <p:sp>
        <p:nvSpPr>
          <p:cNvPr id="12" name="Shape 9"/>
          <p:cNvSpPr/>
          <p:nvPr/>
        </p:nvSpPr>
        <p:spPr>
          <a:xfrm>
            <a:off x="4307738" y="2743200"/>
            <a:ext cx="3576218" cy="3291840"/>
          </a:xfrm>
          <a:prstGeom prst="roundRect">
            <a:avLst>
              <a:gd name="adj" fmla="val 2222"/>
            </a:avLst>
          </a:prstGeom>
          <a:solidFill>
            <a:srgbClr val="F4F1EA"/>
          </a:solidFill>
          <a:ln w="6350">
            <a:solidFill>
              <a:srgbClr val="C8CCD2"/>
            </a:solidFill>
            <a:prstDash val="solid"/>
          </a:ln>
        </p:spPr>
      </p:sp>
      <p:sp>
        <p:nvSpPr>
          <p:cNvPr id="13" name="Text 10"/>
          <p:cNvSpPr/>
          <p:nvPr/>
        </p:nvSpPr>
        <p:spPr>
          <a:xfrm>
            <a:off x="4536338" y="2880360"/>
            <a:ext cx="548640" cy="45720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4" name="Text 11"/>
          <p:cNvSpPr/>
          <p:nvPr/>
        </p:nvSpPr>
        <p:spPr>
          <a:xfrm>
            <a:off x="5084978" y="2971800"/>
            <a:ext cx="2707538" cy="411480"/>
          </a:xfrm>
          <a:prstGeom prst="rect">
            <a:avLst/>
          </a:prstGeom>
          <a:noFill/>
          <a:ln/>
        </p:spPr>
        <p:txBody>
          <a:bodyPr wrap="square" lIns="0" tIns="0" rIns="0" bIns="0" rtlCol="0" anchor="ctr"/>
          <a:lstStyle/>
          <a:p>
            <a:pPr indent="0" marL="0">
              <a:buNone/>
            </a:pPr>
            <a:r>
              <a:rPr lang="en-US" sz="1600" dirty="0">
                <a:solidFill>
                  <a:srgbClr val="0C234B"/>
                </a:solidFill>
                <a:latin typeface="Georgia" pitchFamily="34" charset="0"/>
                <a:ea typeface="Georgia" pitchFamily="34" charset="-122"/>
                <a:cs typeface="Georgia" pitchFamily="34" charset="-120"/>
              </a:rPr>
              <a:t>Patient chart</a:t>
            </a:r>
            <a:endParaRPr lang="en-US" sz="1600" dirty="0"/>
          </a:p>
        </p:txBody>
      </p:sp>
      <p:sp>
        <p:nvSpPr>
          <p:cNvPr id="15" name="Text 12"/>
          <p:cNvSpPr/>
          <p:nvPr/>
        </p:nvSpPr>
        <p:spPr>
          <a:xfrm>
            <a:off x="4536338" y="3520440"/>
            <a:ext cx="3119018" cy="237744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Demographics. Active conditions with onset date and confidence. Chronic conditions. Active medications. BP trend. Encounter timeline (most recent first).</a:t>
            </a:r>
            <a:endParaRPr lang="en-US" sz="1200" dirty="0"/>
          </a:p>
        </p:txBody>
      </p:sp>
      <p:sp>
        <p:nvSpPr>
          <p:cNvPr id="16" name="Shape 13"/>
          <p:cNvSpPr/>
          <p:nvPr/>
        </p:nvSpPr>
        <p:spPr>
          <a:xfrm>
            <a:off x="8066837" y="2743200"/>
            <a:ext cx="3576218" cy="3291840"/>
          </a:xfrm>
          <a:prstGeom prst="roundRect">
            <a:avLst>
              <a:gd name="adj" fmla="val 2222"/>
            </a:avLst>
          </a:prstGeom>
          <a:solidFill>
            <a:srgbClr val="F4F1EA"/>
          </a:solidFill>
          <a:ln w="6350">
            <a:solidFill>
              <a:srgbClr val="C8CCD2"/>
            </a:solidFill>
            <a:prstDash val="solid"/>
          </a:ln>
        </p:spPr>
      </p:sp>
      <p:sp>
        <p:nvSpPr>
          <p:cNvPr id="17" name="Text 14"/>
          <p:cNvSpPr/>
          <p:nvPr/>
        </p:nvSpPr>
        <p:spPr>
          <a:xfrm>
            <a:off x="8295437" y="2880360"/>
            <a:ext cx="548640" cy="45720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8" name="Text 15"/>
          <p:cNvSpPr/>
          <p:nvPr/>
        </p:nvSpPr>
        <p:spPr>
          <a:xfrm>
            <a:off x="8844077" y="2971800"/>
            <a:ext cx="2707538" cy="411480"/>
          </a:xfrm>
          <a:prstGeom prst="rect">
            <a:avLst/>
          </a:prstGeom>
          <a:noFill/>
          <a:ln/>
        </p:spPr>
        <p:txBody>
          <a:bodyPr wrap="square" lIns="0" tIns="0" rIns="0" bIns="0" rtlCol="0" anchor="ctr"/>
          <a:lstStyle/>
          <a:p>
            <a:pPr indent="0" marL="0">
              <a:buNone/>
            </a:pPr>
            <a:r>
              <a:rPr lang="en-US" sz="1600" dirty="0">
                <a:solidFill>
                  <a:srgbClr val="0C234B"/>
                </a:solidFill>
                <a:latin typeface="Georgia" pitchFamily="34" charset="0"/>
                <a:ea typeface="Georgia" pitchFamily="34" charset="-122"/>
                <a:cs typeface="Georgia" pitchFamily="34" charset="-120"/>
              </a:rPr>
              <a:t>One Health context</a:t>
            </a:r>
            <a:endParaRPr lang="en-US" sz="1600" dirty="0"/>
          </a:p>
        </p:txBody>
      </p:sp>
      <p:sp>
        <p:nvSpPr>
          <p:cNvPr id="19" name="Text 16"/>
          <p:cNvSpPr/>
          <p:nvPr/>
        </p:nvSpPr>
        <p:spPr>
          <a:xfrm>
            <a:off x="8295437" y="3520440"/>
            <a:ext cx="3119018" cy="237744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Active alerts for this household. All household members (humans and animals) flagged with case status. County-level disease trends from synthetic ADHS feed.</a:t>
            </a:r>
            <a:endParaRPr lang="en-US" sz="1200" dirty="0"/>
          </a:p>
        </p:txBody>
      </p:sp>
      <p:sp>
        <p:nvSpPr>
          <p:cNvPr id="20" name="Text 17"/>
          <p:cNvSpPr/>
          <p:nvPr/>
        </p:nvSpPr>
        <p:spPr>
          <a:xfrm>
            <a:off x="548640" y="6263640"/>
            <a:ext cx="11094415" cy="274320"/>
          </a:xfrm>
          <a:prstGeom prst="rect">
            <a:avLst/>
          </a:prstGeom>
          <a:noFill/>
          <a:ln/>
        </p:spPr>
        <p:txBody>
          <a:bodyPr wrap="square" lIns="0" tIns="0" rIns="0" bIns="0" rtlCol="0" anchor="ctr"/>
          <a:lstStyle/>
          <a:p>
            <a:pPr algn="ctr" indent="0" marL="0">
              <a:buNone/>
            </a:pPr>
            <a:r>
              <a:rPr lang="en-US" sz="1050" i="1" dirty="0">
                <a:solidFill>
                  <a:srgbClr val="6E737C"/>
                </a:solidFill>
                <a:latin typeface="Calibri" pitchFamily="34" charset="0"/>
                <a:ea typeface="Calibri" pitchFamily="34" charset="-122"/>
                <a:cs typeface="Calibri" pitchFamily="34" charset="-120"/>
              </a:rPr>
              <a:t>1,387 LIVES_IN edges · 55 active conditions · 59 alerts surfaced contextually · all from the same FHIR/graph substrate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TRUST MECHANISM</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Clinician hand-back for low-confidence extractions</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09</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783080"/>
            <a:ext cx="11094415" cy="868680"/>
          </a:xfrm>
          <a:prstGeom prst="rect">
            <a:avLst/>
          </a:prstGeom>
          <a:noFill/>
          <a:ln/>
        </p:spPr>
        <p:txBody>
          <a:bodyPr wrap="square" lIns="0" tIns="0" rIns="0" bIns="0" rtlCol="0" anchor="t"/>
          <a:lstStyle/>
          <a:p>
            <a:pPr indent="0" marL="0">
              <a:buNone/>
            </a:pPr>
            <a:r>
              <a:rPr lang="en-US" sz="1600" dirty="0">
                <a:solidFill>
                  <a:srgbClr val="1F2228"/>
                </a:solidFill>
                <a:latin typeface="Calibri" pitchFamily="34" charset="0"/>
                <a:ea typeface="Calibri" pitchFamily="34" charset="-122"/>
                <a:cs typeface="Calibri" pitchFamily="34" charset="-120"/>
              </a:rPr>
              <a:t>Machine-authored doesn't mean clinician-bypassed. Any extraction below confidence 0.75 is highlighted in amber and held in a pending state until a clinician reviews it.</a:t>
            </a:r>
            <a:endParaRPr lang="en-US" sz="1600" dirty="0"/>
          </a:p>
        </p:txBody>
      </p:sp>
      <p:sp>
        <p:nvSpPr>
          <p:cNvPr id="8" name="Shape 5"/>
          <p:cNvSpPr/>
          <p:nvPr/>
        </p:nvSpPr>
        <p:spPr>
          <a:xfrm>
            <a:off x="548640" y="2834640"/>
            <a:ext cx="3576218" cy="2011680"/>
          </a:xfrm>
          <a:prstGeom prst="roundRect">
            <a:avLst>
              <a:gd name="adj" fmla="val 4545"/>
            </a:avLst>
          </a:prstGeom>
          <a:solidFill>
            <a:srgbClr val="FCF0D9"/>
          </a:solidFill>
          <a:ln w="19050">
            <a:solidFill>
              <a:srgbClr val="D89F2E"/>
            </a:solidFill>
            <a:prstDash val="solid"/>
          </a:ln>
        </p:spPr>
      </p:sp>
      <p:sp>
        <p:nvSpPr>
          <p:cNvPr id="9" name="Text 6"/>
          <p:cNvSpPr/>
          <p:nvPr/>
        </p:nvSpPr>
        <p:spPr>
          <a:xfrm>
            <a:off x="777240" y="3017520"/>
            <a:ext cx="548640" cy="548640"/>
          </a:xfrm>
          <a:prstGeom prst="rect">
            <a:avLst/>
          </a:prstGeom>
          <a:noFill/>
          <a:ln/>
        </p:spPr>
        <p:txBody>
          <a:bodyPr wrap="square" lIns="0" tIns="0" rIns="0" bIns="0" rtlCol="0" anchor="ctr"/>
          <a:lstStyle/>
          <a:p>
            <a:pPr indent="0" marL="0">
              <a:buNone/>
            </a:pPr>
            <a:r>
              <a:rPr lang="en-US" sz="2800" dirty="0">
                <a:solidFill>
                  <a:srgbClr val="D89F2E"/>
                </a:solidFill>
              </a:rPr>
              <a:t>⚠</a:t>
            </a:r>
            <a:endParaRPr lang="en-US" sz="2800" dirty="0"/>
          </a:p>
        </p:txBody>
      </p:sp>
      <p:sp>
        <p:nvSpPr>
          <p:cNvPr id="10" name="Text 7"/>
          <p:cNvSpPr/>
          <p:nvPr/>
        </p:nvSpPr>
        <p:spPr>
          <a:xfrm>
            <a:off x="1325880" y="3108960"/>
            <a:ext cx="2661818" cy="457200"/>
          </a:xfrm>
          <a:prstGeom prst="rect">
            <a:avLst/>
          </a:prstGeom>
          <a:noFill/>
          <a:ln/>
        </p:spPr>
        <p:txBody>
          <a:bodyPr wrap="square" lIns="0" tIns="0" rIns="0" bIns="0" rtlCol="0" anchor="ctr"/>
          <a:lstStyle/>
          <a:p>
            <a:pPr indent="0" marL="0">
              <a:buNone/>
            </a:pPr>
            <a:r>
              <a:rPr lang="en-US" sz="1500" dirty="0">
                <a:solidFill>
                  <a:srgbClr val="0C234B"/>
                </a:solidFill>
                <a:latin typeface="Georgia" pitchFamily="34" charset="0"/>
                <a:ea typeface="Georgia" pitchFamily="34" charset="-122"/>
                <a:cs typeface="Georgia" pitchFamily="34" charset="-120"/>
              </a:rPr>
              <a:t>Low confidence</a:t>
            </a:r>
            <a:endParaRPr lang="en-US" sz="1500" dirty="0"/>
          </a:p>
        </p:txBody>
      </p:sp>
      <p:sp>
        <p:nvSpPr>
          <p:cNvPr id="11" name="Text 8"/>
          <p:cNvSpPr/>
          <p:nvPr/>
        </p:nvSpPr>
        <p:spPr>
          <a:xfrm>
            <a:off x="777240" y="3703320"/>
            <a:ext cx="3119018" cy="1005840"/>
          </a:xfrm>
          <a:prstGeom prst="rect">
            <a:avLst/>
          </a:prstGeom>
          <a:noFill/>
          <a:ln/>
        </p:spPr>
        <p:txBody>
          <a:bodyPr wrap="square" lIns="0" tIns="0" rIns="0" bIns="0" rtlCol="0" anchor="t"/>
          <a:lstStyle/>
          <a:p>
            <a:pPr indent="0" marL="0">
              <a:buNone/>
            </a:pPr>
            <a:r>
              <a:rPr lang="en-US" sz="1200" dirty="0">
                <a:solidFill>
                  <a:srgbClr val="4A4F58"/>
                </a:solidFill>
                <a:latin typeface="Calibri" pitchFamily="34" charset="0"/>
                <a:ea typeface="Calibri" pitchFamily="34" charset="-122"/>
                <a:cs typeface="Calibri" pitchFamily="34" charset="-120"/>
              </a:rPr>
              <a:t>0.71 confidence · awaiting clinician review</a:t>
            </a:r>
            <a:endParaRPr lang="en-US" sz="1200" dirty="0"/>
          </a:p>
        </p:txBody>
      </p:sp>
      <p:sp>
        <p:nvSpPr>
          <p:cNvPr id="12" name="Shape 9"/>
          <p:cNvSpPr/>
          <p:nvPr/>
        </p:nvSpPr>
        <p:spPr>
          <a:xfrm>
            <a:off x="4307738" y="2834640"/>
            <a:ext cx="3576218" cy="2011680"/>
          </a:xfrm>
          <a:prstGeom prst="roundRect">
            <a:avLst>
              <a:gd name="adj" fmla="val 4545"/>
            </a:avLst>
          </a:prstGeom>
          <a:solidFill>
            <a:srgbClr val="DBE8DC"/>
          </a:solidFill>
          <a:ln w="19050">
            <a:solidFill>
              <a:srgbClr val="3F6B47"/>
            </a:solidFill>
            <a:prstDash val="solid"/>
          </a:ln>
        </p:spPr>
      </p:sp>
      <p:sp>
        <p:nvSpPr>
          <p:cNvPr id="13" name="Text 10"/>
          <p:cNvSpPr/>
          <p:nvPr/>
        </p:nvSpPr>
        <p:spPr>
          <a:xfrm>
            <a:off x="4536338" y="3017520"/>
            <a:ext cx="548640" cy="548640"/>
          </a:xfrm>
          <a:prstGeom prst="rect">
            <a:avLst/>
          </a:prstGeom>
          <a:noFill/>
          <a:ln/>
        </p:spPr>
        <p:txBody>
          <a:bodyPr wrap="square" lIns="0" tIns="0" rIns="0" bIns="0" rtlCol="0" anchor="ctr"/>
          <a:lstStyle/>
          <a:p>
            <a:pPr indent="0" marL="0">
              <a:buNone/>
            </a:pPr>
            <a:r>
              <a:rPr lang="en-US" sz="2800" dirty="0">
                <a:solidFill>
                  <a:srgbClr val="3F6B47"/>
                </a:solidFill>
              </a:rPr>
              <a:t>✓</a:t>
            </a:r>
            <a:endParaRPr lang="en-US" sz="2800" dirty="0"/>
          </a:p>
        </p:txBody>
      </p:sp>
      <p:sp>
        <p:nvSpPr>
          <p:cNvPr id="14" name="Text 11"/>
          <p:cNvSpPr/>
          <p:nvPr/>
        </p:nvSpPr>
        <p:spPr>
          <a:xfrm>
            <a:off x="5084978" y="3108960"/>
            <a:ext cx="2661818" cy="457200"/>
          </a:xfrm>
          <a:prstGeom prst="rect">
            <a:avLst/>
          </a:prstGeom>
          <a:noFill/>
          <a:ln/>
        </p:spPr>
        <p:txBody>
          <a:bodyPr wrap="square" lIns="0" tIns="0" rIns="0" bIns="0" rtlCol="0" anchor="ctr"/>
          <a:lstStyle/>
          <a:p>
            <a:pPr indent="0" marL="0">
              <a:buNone/>
            </a:pPr>
            <a:r>
              <a:rPr lang="en-US" sz="1500" dirty="0">
                <a:solidFill>
                  <a:srgbClr val="0C234B"/>
                </a:solidFill>
                <a:latin typeface="Georgia" pitchFamily="34" charset="0"/>
                <a:ea typeface="Georgia" pitchFamily="34" charset="-122"/>
                <a:cs typeface="Georgia" pitchFamily="34" charset="-120"/>
              </a:rPr>
              <a:t>Confirmed by clinician</a:t>
            </a:r>
            <a:endParaRPr lang="en-US" sz="1500" dirty="0"/>
          </a:p>
        </p:txBody>
      </p:sp>
      <p:sp>
        <p:nvSpPr>
          <p:cNvPr id="15" name="Text 12"/>
          <p:cNvSpPr/>
          <p:nvPr/>
        </p:nvSpPr>
        <p:spPr>
          <a:xfrm>
            <a:off x="4536338" y="3703320"/>
            <a:ext cx="3119018" cy="1005840"/>
          </a:xfrm>
          <a:prstGeom prst="rect">
            <a:avLst/>
          </a:prstGeom>
          <a:noFill/>
          <a:ln/>
        </p:spPr>
        <p:txBody>
          <a:bodyPr wrap="square" lIns="0" tIns="0" rIns="0" bIns="0" rtlCol="0" anchor="t"/>
          <a:lstStyle/>
          <a:p>
            <a:pPr indent="0" marL="0">
              <a:buNone/>
            </a:pPr>
            <a:r>
              <a:rPr lang="en-US" sz="1200" dirty="0">
                <a:solidFill>
                  <a:srgbClr val="4A4F58"/>
                </a:solidFill>
                <a:latin typeface="Calibri" pitchFamily="34" charset="0"/>
                <a:ea typeface="Calibri" pitchFamily="34" charset="-122"/>
                <a:cs typeface="Calibri" pitchFamily="34" charset="-120"/>
              </a:rPr>
              <a:t>Stamped onto the FHIR Provenance with reviewer ID</a:t>
            </a:r>
            <a:endParaRPr lang="en-US" sz="1200" dirty="0"/>
          </a:p>
        </p:txBody>
      </p:sp>
      <p:sp>
        <p:nvSpPr>
          <p:cNvPr id="16" name="Shape 13"/>
          <p:cNvSpPr/>
          <p:nvPr/>
        </p:nvSpPr>
        <p:spPr>
          <a:xfrm>
            <a:off x="8066837" y="2834640"/>
            <a:ext cx="3576218" cy="2011680"/>
          </a:xfrm>
          <a:prstGeom prst="roundRect">
            <a:avLst>
              <a:gd name="adj" fmla="val 4545"/>
            </a:avLst>
          </a:prstGeom>
          <a:solidFill>
            <a:srgbClr val="F2D9DD"/>
          </a:solidFill>
          <a:ln w="19050">
            <a:solidFill>
              <a:srgbClr val="AB0520"/>
            </a:solidFill>
            <a:prstDash val="solid"/>
          </a:ln>
        </p:spPr>
      </p:sp>
      <p:sp>
        <p:nvSpPr>
          <p:cNvPr id="17" name="Text 14"/>
          <p:cNvSpPr/>
          <p:nvPr/>
        </p:nvSpPr>
        <p:spPr>
          <a:xfrm>
            <a:off x="8295437" y="3017520"/>
            <a:ext cx="548640" cy="548640"/>
          </a:xfrm>
          <a:prstGeom prst="rect">
            <a:avLst/>
          </a:prstGeom>
          <a:noFill/>
          <a:ln/>
        </p:spPr>
        <p:txBody>
          <a:bodyPr wrap="square" lIns="0" tIns="0" rIns="0" bIns="0" rtlCol="0" anchor="ctr"/>
          <a:lstStyle/>
          <a:p>
            <a:pPr indent="0" marL="0">
              <a:buNone/>
            </a:pPr>
            <a:r>
              <a:rPr lang="en-US" sz="2800" dirty="0">
                <a:solidFill>
                  <a:srgbClr val="AB0520"/>
                </a:solidFill>
              </a:rPr>
              <a:t>✗</a:t>
            </a:r>
            <a:endParaRPr lang="en-US" sz="2800" dirty="0"/>
          </a:p>
        </p:txBody>
      </p:sp>
      <p:sp>
        <p:nvSpPr>
          <p:cNvPr id="18" name="Text 15"/>
          <p:cNvSpPr/>
          <p:nvPr/>
        </p:nvSpPr>
        <p:spPr>
          <a:xfrm>
            <a:off x="8844077" y="3108960"/>
            <a:ext cx="2661818" cy="457200"/>
          </a:xfrm>
          <a:prstGeom prst="rect">
            <a:avLst/>
          </a:prstGeom>
          <a:noFill/>
          <a:ln/>
        </p:spPr>
        <p:txBody>
          <a:bodyPr wrap="square" lIns="0" tIns="0" rIns="0" bIns="0" rtlCol="0" anchor="ctr"/>
          <a:lstStyle/>
          <a:p>
            <a:pPr indent="0" marL="0">
              <a:buNone/>
            </a:pPr>
            <a:r>
              <a:rPr lang="en-US" sz="1500" dirty="0">
                <a:solidFill>
                  <a:srgbClr val="0C234B"/>
                </a:solidFill>
                <a:latin typeface="Georgia" pitchFamily="34" charset="0"/>
                <a:ea typeface="Georgia" pitchFamily="34" charset="-122"/>
                <a:cs typeface="Georgia" pitchFamily="34" charset="-120"/>
              </a:rPr>
              <a:t>Rejected by clinician</a:t>
            </a:r>
            <a:endParaRPr lang="en-US" sz="1500" dirty="0"/>
          </a:p>
        </p:txBody>
      </p:sp>
      <p:sp>
        <p:nvSpPr>
          <p:cNvPr id="19" name="Text 16"/>
          <p:cNvSpPr/>
          <p:nvPr/>
        </p:nvSpPr>
        <p:spPr>
          <a:xfrm>
            <a:off x="8295437" y="3703320"/>
            <a:ext cx="3119018" cy="1005840"/>
          </a:xfrm>
          <a:prstGeom prst="rect">
            <a:avLst/>
          </a:prstGeom>
          <a:noFill/>
          <a:ln/>
        </p:spPr>
        <p:txBody>
          <a:bodyPr wrap="square" lIns="0" tIns="0" rIns="0" bIns="0" rtlCol="0" anchor="t"/>
          <a:lstStyle/>
          <a:p>
            <a:pPr indent="0" marL="0">
              <a:buNone/>
            </a:pPr>
            <a:r>
              <a:rPr lang="en-US" sz="1200" dirty="0">
                <a:solidFill>
                  <a:srgbClr val="4A4F58"/>
                </a:solidFill>
                <a:latin typeface="Calibri" pitchFamily="34" charset="0"/>
                <a:ea typeface="Calibri" pitchFamily="34" charset="-122"/>
                <a:cs typeface="Calibri" pitchFamily="34" charset="-120"/>
              </a:rPr>
              <a:t>Removed from the bundle, retained in audit log</a:t>
            </a:r>
            <a:endParaRPr lang="en-US" sz="1200" dirty="0"/>
          </a:p>
        </p:txBody>
      </p:sp>
      <p:sp>
        <p:nvSpPr>
          <p:cNvPr id="20" name="Text 17"/>
          <p:cNvSpPr/>
          <p:nvPr/>
        </p:nvSpPr>
        <p:spPr>
          <a:xfrm>
            <a:off x="548640" y="5166360"/>
            <a:ext cx="11094415" cy="822960"/>
          </a:xfrm>
          <a:prstGeom prst="rect">
            <a:avLst/>
          </a:prstGeom>
          <a:noFill/>
          <a:ln/>
        </p:spPr>
        <p:txBody>
          <a:bodyPr wrap="square" lIns="0" tIns="0" rIns="0" bIns="0" rtlCol="0" anchor="t"/>
          <a:lstStyle/>
          <a:p>
            <a:pPr indent="0" marL="0">
              <a:buNone/>
            </a:pPr>
            <a:r>
              <a:rPr lang="en-US" sz="1200" i="1" dirty="0">
                <a:solidFill>
                  <a:srgbClr val="4A4F58"/>
                </a:solidFill>
                <a:latin typeface="Calibri" pitchFamily="34" charset="0"/>
                <a:ea typeface="Calibri" pitchFamily="34" charset="-122"/>
                <a:cs typeface="Calibri" pitchFamily="34" charset="-120"/>
              </a:rPr>
              <a:t>Decisions persist locally (per-text, per-span, per-kind) so the demo remembers what you confirmed across page reloads. In production this becomes a Provenance.entity audit record.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EVALUATION</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Synthetic gold-standard, n = 25 dictations, 138 entities</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783080"/>
            <a:ext cx="2682164" cy="1097280"/>
          </a:xfrm>
          <a:prstGeom prst="rect">
            <a:avLst/>
          </a:prstGeom>
          <a:noFill/>
          <a:ln/>
        </p:spPr>
        <p:txBody>
          <a:bodyPr wrap="square" lIns="0" tIns="0" rIns="0" bIns="0" rtlCol="0" anchor="ctr"/>
          <a:lstStyle/>
          <a:p>
            <a:pPr algn="l" indent="0" marL="0">
              <a:buNone/>
            </a:pPr>
            <a:r>
              <a:rPr lang="en-US" sz="5600" dirty="0">
                <a:solidFill>
                  <a:srgbClr val="AB0520"/>
                </a:solidFill>
                <a:latin typeface="Georgia" pitchFamily="34" charset="0"/>
                <a:ea typeface="Georgia" pitchFamily="34" charset="-122"/>
                <a:cs typeface="Georgia" pitchFamily="34" charset="-120"/>
              </a:rPr>
              <a:t>0.904</a:t>
            </a:r>
            <a:endParaRPr lang="en-US" sz="5600" dirty="0"/>
          </a:p>
        </p:txBody>
      </p:sp>
      <p:sp>
        <p:nvSpPr>
          <p:cNvPr id="8" name="Text 5"/>
          <p:cNvSpPr/>
          <p:nvPr/>
        </p:nvSpPr>
        <p:spPr>
          <a:xfrm>
            <a:off x="548640" y="2834640"/>
            <a:ext cx="2682164" cy="365760"/>
          </a:xfrm>
          <a:prstGeom prst="rect">
            <a:avLst/>
          </a:prstGeom>
          <a:noFill/>
          <a:ln/>
        </p:spPr>
        <p:txBody>
          <a:bodyPr wrap="square" lIns="0" tIns="0" rIns="0" bIns="0" rtlCol="0" anchor="ctr"/>
          <a:lstStyle/>
          <a:p>
            <a:pPr algn="l" indent="0" marL="0">
              <a:buNone/>
            </a:pPr>
            <a:r>
              <a:rPr lang="en-US" sz="1100" b="1" spc="300" kern="0" dirty="0">
                <a:solidFill>
                  <a:srgbClr val="6E737C"/>
                </a:solidFill>
                <a:latin typeface="Calibri" pitchFamily="34" charset="0"/>
                <a:ea typeface="Calibri" pitchFamily="34" charset="-122"/>
                <a:cs typeface="Calibri" pitchFamily="34" charset="-120"/>
              </a:rPr>
              <a:t>Precision</a:t>
            </a:r>
            <a:endParaRPr lang="en-US" sz="1100" dirty="0"/>
          </a:p>
        </p:txBody>
      </p:sp>
      <p:sp>
        <p:nvSpPr>
          <p:cNvPr id="9" name="Text 6"/>
          <p:cNvSpPr/>
          <p:nvPr/>
        </p:nvSpPr>
        <p:spPr>
          <a:xfrm>
            <a:off x="3349676" y="1783080"/>
            <a:ext cx="2682164" cy="1097280"/>
          </a:xfrm>
          <a:prstGeom prst="rect">
            <a:avLst/>
          </a:prstGeom>
          <a:noFill/>
          <a:ln/>
        </p:spPr>
        <p:txBody>
          <a:bodyPr wrap="square" lIns="0" tIns="0" rIns="0" bIns="0" rtlCol="0" anchor="ctr"/>
          <a:lstStyle/>
          <a:p>
            <a:pPr algn="l" indent="0" marL="0">
              <a:buNone/>
            </a:pPr>
            <a:r>
              <a:rPr lang="en-US" sz="5600" dirty="0">
                <a:solidFill>
                  <a:srgbClr val="AB0520"/>
                </a:solidFill>
                <a:latin typeface="Georgia" pitchFamily="34" charset="0"/>
                <a:ea typeface="Georgia" pitchFamily="34" charset="-122"/>
                <a:cs typeface="Georgia" pitchFamily="34" charset="-120"/>
              </a:rPr>
              <a:t>0.884</a:t>
            </a:r>
            <a:endParaRPr lang="en-US" sz="5600" dirty="0"/>
          </a:p>
        </p:txBody>
      </p:sp>
      <p:sp>
        <p:nvSpPr>
          <p:cNvPr id="10" name="Text 7"/>
          <p:cNvSpPr/>
          <p:nvPr/>
        </p:nvSpPr>
        <p:spPr>
          <a:xfrm>
            <a:off x="3349676" y="2834640"/>
            <a:ext cx="2682164" cy="365760"/>
          </a:xfrm>
          <a:prstGeom prst="rect">
            <a:avLst/>
          </a:prstGeom>
          <a:noFill/>
          <a:ln/>
        </p:spPr>
        <p:txBody>
          <a:bodyPr wrap="square" lIns="0" tIns="0" rIns="0" bIns="0" rtlCol="0" anchor="ctr"/>
          <a:lstStyle/>
          <a:p>
            <a:pPr algn="l" indent="0" marL="0">
              <a:buNone/>
            </a:pPr>
            <a:r>
              <a:rPr lang="en-US" sz="1100" b="1" spc="300" kern="0" dirty="0">
                <a:solidFill>
                  <a:srgbClr val="6E737C"/>
                </a:solidFill>
                <a:latin typeface="Calibri" pitchFamily="34" charset="0"/>
                <a:ea typeface="Calibri" pitchFamily="34" charset="-122"/>
                <a:cs typeface="Calibri" pitchFamily="34" charset="-120"/>
              </a:rPr>
              <a:t>Recall</a:t>
            </a:r>
            <a:endParaRPr lang="en-US" sz="1100" dirty="0"/>
          </a:p>
        </p:txBody>
      </p:sp>
      <p:sp>
        <p:nvSpPr>
          <p:cNvPr id="11" name="Text 8"/>
          <p:cNvSpPr/>
          <p:nvPr/>
        </p:nvSpPr>
        <p:spPr>
          <a:xfrm>
            <a:off x="6150712" y="1783080"/>
            <a:ext cx="2682164" cy="1097280"/>
          </a:xfrm>
          <a:prstGeom prst="rect">
            <a:avLst/>
          </a:prstGeom>
          <a:noFill/>
          <a:ln/>
        </p:spPr>
        <p:txBody>
          <a:bodyPr wrap="square" lIns="0" tIns="0" rIns="0" bIns="0" rtlCol="0" anchor="ctr"/>
          <a:lstStyle/>
          <a:p>
            <a:pPr algn="l" indent="0" marL="0">
              <a:buNone/>
            </a:pPr>
            <a:r>
              <a:rPr lang="en-US" sz="5600" dirty="0">
                <a:solidFill>
                  <a:srgbClr val="AB0520"/>
                </a:solidFill>
                <a:latin typeface="Georgia" pitchFamily="34" charset="0"/>
                <a:ea typeface="Georgia" pitchFamily="34" charset="-122"/>
                <a:cs typeface="Georgia" pitchFamily="34" charset="-120"/>
              </a:rPr>
              <a:t>0.894</a:t>
            </a:r>
            <a:endParaRPr lang="en-US" sz="5600" dirty="0"/>
          </a:p>
        </p:txBody>
      </p:sp>
      <p:sp>
        <p:nvSpPr>
          <p:cNvPr id="12" name="Text 9"/>
          <p:cNvSpPr/>
          <p:nvPr/>
        </p:nvSpPr>
        <p:spPr>
          <a:xfrm>
            <a:off x="6150712" y="2834640"/>
            <a:ext cx="2682164" cy="365760"/>
          </a:xfrm>
          <a:prstGeom prst="rect">
            <a:avLst/>
          </a:prstGeom>
          <a:noFill/>
          <a:ln/>
        </p:spPr>
        <p:txBody>
          <a:bodyPr wrap="square" lIns="0" tIns="0" rIns="0" bIns="0" rtlCol="0" anchor="ctr"/>
          <a:lstStyle/>
          <a:p>
            <a:pPr algn="l" indent="0" marL="0">
              <a:buNone/>
            </a:pPr>
            <a:r>
              <a:rPr lang="en-US" sz="1100" b="1" spc="300" kern="0" dirty="0">
                <a:solidFill>
                  <a:srgbClr val="6E737C"/>
                </a:solidFill>
                <a:latin typeface="Calibri" pitchFamily="34" charset="0"/>
                <a:ea typeface="Calibri" pitchFamily="34" charset="-122"/>
                <a:cs typeface="Calibri" pitchFamily="34" charset="-120"/>
              </a:rPr>
              <a:t>F1 score</a:t>
            </a:r>
            <a:endParaRPr lang="en-US" sz="1100" dirty="0"/>
          </a:p>
        </p:txBody>
      </p:sp>
      <p:sp>
        <p:nvSpPr>
          <p:cNvPr id="13" name="Text 10"/>
          <p:cNvSpPr/>
          <p:nvPr/>
        </p:nvSpPr>
        <p:spPr>
          <a:xfrm>
            <a:off x="8951747" y="1783080"/>
            <a:ext cx="2682164" cy="1097280"/>
          </a:xfrm>
          <a:prstGeom prst="rect">
            <a:avLst/>
          </a:prstGeom>
          <a:noFill/>
          <a:ln/>
        </p:spPr>
        <p:txBody>
          <a:bodyPr wrap="square" lIns="0" tIns="0" rIns="0" bIns="0" rtlCol="0" anchor="ctr"/>
          <a:lstStyle/>
          <a:p>
            <a:pPr algn="l" indent="0" marL="0">
              <a:buNone/>
            </a:pPr>
            <a:r>
              <a:rPr lang="en-US" sz="5600" dirty="0">
                <a:solidFill>
                  <a:srgbClr val="AB0520"/>
                </a:solidFill>
                <a:latin typeface="Georgia" pitchFamily="34" charset="0"/>
                <a:ea typeface="Georgia" pitchFamily="34" charset="-122"/>
                <a:cs typeface="Georgia" pitchFamily="34" charset="-120"/>
              </a:rPr>
              <a:t>1.2 ms</a:t>
            </a:r>
            <a:endParaRPr lang="en-US" sz="5600" dirty="0"/>
          </a:p>
        </p:txBody>
      </p:sp>
      <p:sp>
        <p:nvSpPr>
          <p:cNvPr id="14" name="Text 11"/>
          <p:cNvSpPr/>
          <p:nvPr/>
        </p:nvSpPr>
        <p:spPr>
          <a:xfrm>
            <a:off x="8951747" y="2834640"/>
            <a:ext cx="2682164" cy="365760"/>
          </a:xfrm>
          <a:prstGeom prst="rect">
            <a:avLst/>
          </a:prstGeom>
          <a:noFill/>
          <a:ln/>
        </p:spPr>
        <p:txBody>
          <a:bodyPr wrap="square" lIns="0" tIns="0" rIns="0" bIns="0" rtlCol="0" anchor="ctr"/>
          <a:lstStyle/>
          <a:p>
            <a:pPr algn="l" indent="0" marL="0">
              <a:buNone/>
            </a:pPr>
            <a:r>
              <a:rPr lang="en-US" sz="1100" b="1" spc="300" kern="0" dirty="0">
                <a:solidFill>
                  <a:srgbClr val="6E737C"/>
                </a:solidFill>
                <a:latin typeface="Calibri" pitchFamily="34" charset="0"/>
                <a:ea typeface="Calibri" pitchFamily="34" charset="-122"/>
                <a:cs typeface="Calibri" pitchFamily="34" charset="-120"/>
              </a:rPr>
              <a:t>Median runtime</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094415" cy="2103120"/>
        </p:xfrm>
        <a:graphic>
          <a:graphicData uri="http://schemas.openxmlformats.org/drawingml/2006/table">
            <a:tbl>
              <a:tblPr/>
              <a:tblGrid>
                <a:gridCol w="2743200"/>
                <a:gridCol w="1097280"/>
                <a:gridCol w="914400"/>
                <a:gridCol w="914400"/>
                <a:gridCol w="914400"/>
                <a:gridCol w="1371600"/>
                <a:gridCol w="1371600"/>
                <a:gridCol w="1280160"/>
              </a:tblGrid>
              <a:tr h="384048">
                <a:tc>
                  <a:txBody>
                    <a:bodyPr/>
                    <a:lstStyle/>
                    <a:p>
                      <a:pPr indent="0" marL="0">
                        <a:buNone/>
                      </a:pPr>
                      <a:r>
                        <a:rPr lang="en-US" sz="1200" b="1" dirty="0">
                          <a:solidFill>
                            <a:srgbClr val="1F2228"/>
                          </a:solidFill>
                          <a:latin typeface="Calibri" pitchFamily="34" charset="0"/>
                          <a:ea typeface="Calibri" pitchFamily="34" charset="-122"/>
                          <a:cs typeface="Calibri" pitchFamily="34" charset="-120"/>
                        </a:rPr>
                        <a:t>Entity kind</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Support</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TP</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FP</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FN</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r>
              <a:tr h="384048">
                <a:tc>
                  <a:txBody>
                    <a:bodyPr/>
                    <a:lstStyle/>
                    <a:p>
                      <a:pPr indent="0" marL="0">
                        <a:buNone/>
                      </a:pPr>
                      <a:r>
                        <a:rPr lang="en-US" sz="1200" dirty="0">
                          <a:solidFill>
                            <a:srgbClr val="1F2228"/>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0.833</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0.750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b="1" dirty="0">
                          <a:solidFill>
                            <a:srgbClr val="D89F2E"/>
                          </a:solidFill>
                          <a:latin typeface="Calibri" pitchFamily="34" charset="0"/>
                          <a:ea typeface="Calibri" pitchFamily="34" charset="-122"/>
                          <a:cs typeface="Calibri" pitchFamily="34" charset="-120"/>
                        </a:rPr>
                        <a:t>0.789</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84048">
                <a:tc>
                  <a:txBody>
                    <a:bodyPr/>
                    <a:lstStyle/>
                    <a:p>
                      <a:pPr indent="0" marL="0">
                        <a:buNone/>
                      </a:pPr>
                      <a:r>
                        <a:rPr lang="en-US" sz="1200" dirty="0">
                          <a:solidFill>
                            <a:srgbClr val="1F2228"/>
                          </a:solidFill>
                          <a:latin typeface="Calibri" pitchFamily="34" charset="0"/>
                          <a:ea typeface="Calibri" pitchFamily="34" charset="-122"/>
                          <a:cs typeface="Calibri" pitchFamily="34" charset="-120"/>
                        </a:rPr>
                        <a:t>Symptom</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0.773</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0.756</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b="1" dirty="0">
                          <a:solidFill>
                            <a:srgbClr val="D89F2E"/>
                          </a:solidFill>
                          <a:latin typeface="Calibri" pitchFamily="34" charset="0"/>
                          <a:ea typeface="Calibri" pitchFamily="34" charset="-122"/>
                          <a:cs typeface="Calibri" pitchFamily="34" charset="-120"/>
                        </a:rPr>
                        <a:t>0.764</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84048">
                <a:tc>
                  <a:txBody>
                    <a:bodyPr/>
                    <a:lstStyle/>
                    <a:p>
                      <a:pPr indent="0" marL="0">
                        <a:buNone/>
                      </a:pPr>
                      <a:r>
                        <a:rPr lang="en-US" sz="1200" dirty="0">
                          <a:solidFill>
                            <a:srgbClr val="1F2228"/>
                          </a:solidFill>
                          <a:latin typeface="Calibri" pitchFamily="34" charset="0"/>
                          <a:ea typeface="Calibri" pitchFamily="34" charset="-122"/>
                          <a:cs typeface="Calibri" pitchFamily="34" charset="-120"/>
                        </a:rPr>
                        <a:t>Medication</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b="1" dirty="0">
                          <a:solidFill>
                            <a:srgbClr val="3F6B47"/>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84048">
                <a:tc>
                  <a:txBody>
                    <a:bodyPr/>
                    <a:lstStyle/>
                    <a:p>
                      <a:pPr indent="0" marL="0">
                        <a:buNone/>
                      </a:pPr>
                      <a:r>
                        <a:rPr lang="en-US" sz="1200" dirty="0">
                          <a:solidFill>
                            <a:srgbClr val="1F2228"/>
                          </a:solidFill>
                          <a:latin typeface="Calibri" pitchFamily="34" charset="0"/>
                          <a:ea typeface="Calibri" pitchFamily="34" charset="-122"/>
                          <a:cs typeface="Calibri" pitchFamily="34" charset="-120"/>
                        </a:rPr>
                        <a:t>Vital signs</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56</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b="1" dirty="0">
                          <a:solidFill>
                            <a:srgbClr val="3F6B47"/>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bl>
          </a:graphicData>
        </a:graphic>
      </p:graphicFrame>
      <p:sp>
        <p:nvSpPr>
          <p:cNvPr id="16" name="Text 12"/>
          <p:cNvSpPr/>
          <p:nvPr/>
        </p:nvSpPr>
        <p:spPr>
          <a:xfrm>
            <a:off x="548640" y="5897880"/>
            <a:ext cx="11094415" cy="640080"/>
          </a:xfrm>
          <a:prstGeom prst="rect">
            <a:avLst/>
          </a:prstGeom>
          <a:noFill/>
          <a:ln/>
        </p:spPr>
        <p:txBody>
          <a:bodyPr wrap="square" lIns="0" tIns="0" rIns="0" bIns="0" rtlCol="0" anchor="t"/>
          <a:lstStyle/>
          <a:p>
            <a:pPr indent="0" marL="0">
              <a:buNone/>
            </a:pPr>
            <a:r>
              <a:rPr lang="en-US" sz="1150" i="1" dirty="0">
                <a:solidFill>
                  <a:srgbClr val="4A4F58"/>
                </a:solidFill>
                <a:latin typeface="Calibri" pitchFamily="34" charset="0"/>
                <a:ea typeface="Calibri" pitchFamily="34" charset="-122"/>
                <a:cs typeface="Calibri" pitchFamily="34" charset="-120"/>
              </a:rPr>
              <a:t>Calibration (reliability diagram): 0.71 → 0.92 → 1.00 across the 0.7-0.8 / 0.8-0.9 / 0.9-1.0 bins. Confidence is well-calibrated — the 0.75 hand-back threshold is principled.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PREDICTIVE MODELLING</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Zoonotic-cluster risk · 3-model bake-off · 5-fold CV · n = 4,676 encounters · 0.4% prevalence</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11094415" cy="777240"/>
          </a:xfrm>
          <a:prstGeom prst="rect">
            <a:avLst/>
          </a:prstGeom>
          <a:noFill/>
          <a:ln/>
        </p:spPr>
        <p:txBody>
          <a:bodyPr wrap="square" lIns="0" tIns="0" rIns="0" bIns="0" rtlCol="0" anchor="t"/>
          <a:lstStyle/>
          <a:p>
            <a:pPr indent="0" marL="0">
              <a:buNone/>
            </a:pPr>
            <a:r>
              <a:rPr lang="en-US" sz="1200" i="1" dirty="0">
                <a:solidFill>
                  <a:srgbClr val="4A4F58"/>
                </a:solidFill>
                <a:latin typeface="Calibri" pitchFamily="34" charset="0"/>
                <a:ea typeface="Calibri" pitchFamily="34" charset="-122"/>
                <a:cs typeface="Calibri" pitchFamily="34" charset="-120"/>
              </a:rPr>
              <a:t>Task: P(this encounter is part of a zoonotic cluster needing PH follow-up within 14 days). Prevalence 0.4% (18 / 4,676). 51 features: demographics, vitals, household composition, ZIP environment, surveillance signals, syndromic CC keywords.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4415" cy="1737360"/>
        </p:xfrm>
        <a:graphic>
          <a:graphicData uri="http://schemas.openxmlformats.org/drawingml/2006/table">
            <a:tbl>
              <a:tblPr/>
              <a:tblGrid>
                <a:gridCol w="3291840"/>
                <a:gridCol w="1280160"/>
                <a:gridCol w="1280160"/>
                <a:gridCol w="1097280"/>
                <a:gridCol w="1463040"/>
                <a:gridCol w="1280160"/>
                <a:gridCol w="1371600"/>
              </a:tblGrid>
              <a:tr h="384048">
                <a:tc>
                  <a:txBody>
                    <a:bodyPr/>
                    <a:lstStyle/>
                    <a:p>
                      <a:pPr indent="0" marL="0">
                        <a:buNone/>
                      </a:pPr>
                      <a:r>
                        <a:rPr lang="en-US" sz="1200" b="1" dirty="0">
                          <a:solidFill>
                            <a:srgbClr val="1F2228"/>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Brier</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Precision@0.5</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Recall@0.5</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200" b="1" dirty="0">
                          <a:solidFill>
                            <a:srgbClr val="1F2228"/>
                          </a:solidFill>
                          <a:latin typeface="Calibri" pitchFamily="34" charset="0"/>
                          <a:ea typeface="Calibri" pitchFamily="34" charset="-122"/>
                          <a:cs typeface="Calibri" pitchFamily="34" charset="-120"/>
                        </a:rPr>
                        <a:t>F1@0.5</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r>
              <a:tr h="384048">
                <a:tc>
                  <a:txBody>
                    <a:bodyPr/>
                    <a:lstStyle/>
                    <a:p>
                      <a:pPr indent="0" marL="0">
                        <a:buNone/>
                      </a:pPr>
                      <a:r>
                        <a:rPr lang="en-US" sz="1200" dirty="0">
                          <a:solidFill>
                            <a:srgbClr val="1F2228"/>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0.832</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0.220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0.018</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6.3%</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b="1" dirty="0">
                          <a:solidFill>
                            <a:srgbClr val="D89F2E"/>
                          </a:solidFill>
                          <a:latin typeface="Calibri" pitchFamily="34" charset="0"/>
                          <a:ea typeface="Calibri" pitchFamily="34" charset="-122"/>
                          <a:cs typeface="Calibri" pitchFamily="34" charset="-120"/>
                        </a:rPr>
                        <a:t>0.105</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84048">
                <a:tc>
                  <a:txBody>
                    <a:bodyPr/>
                    <a:lstStyle/>
                    <a:p>
                      <a:pPr indent="0" marL="0">
                        <a:buNone/>
                      </a:pPr>
                      <a:r>
                        <a:rPr lang="en-US" sz="1200" dirty="0">
                          <a:solidFill>
                            <a:srgbClr val="1F2228"/>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b="1" dirty="0">
                          <a:solidFill>
                            <a:srgbClr val="3F6B47"/>
                          </a:solidFill>
                          <a:latin typeface="Calibri" pitchFamily="34" charset="0"/>
                          <a:ea typeface="Calibri" pitchFamily="34" charset="-122"/>
                          <a:cs typeface="Calibri" pitchFamily="34" charset="-120"/>
                        </a:rPr>
                        <a:t>0.961</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0.163</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0.0049</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37.5%</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AB0520"/>
                          </a:solidFill>
                          <a:latin typeface="Calibri" pitchFamily="34" charset="0"/>
                          <a:ea typeface="Calibri" pitchFamily="34" charset="-122"/>
                          <a:cs typeface="Calibri" pitchFamily="34" charset="-120"/>
                        </a:rPr>
                        <a:t>0.231</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84048">
                <a:tc>
                  <a:txBody>
                    <a:bodyPr/>
                    <a:lstStyle/>
                    <a:p>
                      <a:pPr indent="0" marL="0">
                        <a:buNone/>
                      </a:pPr>
                      <a:r>
                        <a:rPr lang="en-US" sz="1200" dirty="0">
                          <a:solidFill>
                            <a:srgbClr val="1F2228"/>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0.910</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0.166</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b="1" dirty="0">
                          <a:solidFill>
                            <a:srgbClr val="3F6B47"/>
                          </a:solidFill>
                          <a:latin typeface="Calibri" pitchFamily="34" charset="0"/>
                          <a:ea typeface="Calibri" pitchFamily="34" charset="-122"/>
                          <a:cs typeface="Calibri" pitchFamily="34" charset="-120"/>
                        </a:rPr>
                        <a:t>0.0059</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dirty="0">
                          <a:solidFill>
                            <a:srgbClr val="1F2228"/>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200" b="1" dirty="0">
                          <a:solidFill>
                            <a:srgbClr val="3F6B47"/>
                          </a:solidFill>
                          <a:latin typeface="Calibri" pitchFamily="34" charset="0"/>
                          <a:ea typeface="Calibri" pitchFamily="34" charset="-122"/>
                          <a:cs typeface="Calibri" pitchFamily="34" charset="-120"/>
                        </a:rPr>
                        <a:t>0.167</a:t>
                      </a:r>
                      <a:endParaRPr lang="en-US" sz="12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bl>
          </a:graphicData>
        </a:graphic>
      </p:graphicFrame>
      <p:sp>
        <p:nvSpPr>
          <p:cNvPr id="9" name="Shape 5"/>
          <p:cNvSpPr/>
          <p:nvPr/>
        </p:nvSpPr>
        <p:spPr>
          <a:xfrm>
            <a:off x="548640" y="4663440"/>
            <a:ext cx="3657600" cy="1645920"/>
          </a:xfrm>
          <a:prstGeom prst="rect">
            <a:avLst/>
          </a:prstGeom>
          <a:solidFill>
            <a:srgbClr val="F4F1EA"/>
          </a:solidFill>
          <a:ln w="6350">
            <a:solidFill>
              <a:srgbClr val="C8CCD2"/>
            </a:solidFill>
            <a:prstDash val="solid"/>
          </a:ln>
        </p:spPr>
      </p:sp>
      <p:sp>
        <p:nvSpPr>
          <p:cNvPr id="10" name="Text 6"/>
          <p:cNvSpPr/>
          <p:nvPr/>
        </p:nvSpPr>
        <p:spPr>
          <a:xfrm>
            <a:off x="685800" y="4754880"/>
            <a:ext cx="3383280" cy="320040"/>
          </a:xfrm>
          <a:prstGeom prst="rect">
            <a:avLst/>
          </a:prstGeom>
          <a:noFill/>
          <a:ln/>
        </p:spPr>
        <p:txBody>
          <a:bodyPr wrap="square" lIns="0" tIns="0" rIns="0" bIns="0" rtlCol="0" anchor="ctr"/>
          <a:lstStyle/>
          <a:p>
            <a:pPr indent="0" marL="0">
              <a:buNone/>
            </a:pPr>
            <a:r>
              <a:rPr lang="en-US" sz="1300" b="1" dirty="0">
                <a:solidFill>
                  <a:srgbClr val="0C234B"/>
                </a:solidFill>
                <a:latin typeface="Georgia" pitchFamily="34" charset="0"/>
                <a:ea typeface="Georgia" pitchFamily="34" charset="-122"/>
                <a:cs typeface="Georgia" pitchFamily="34" charset="-120"/>
              </a:rPr>
              <a:t>Random forest</a:t>
            </a:r>
            <a:endParaRPr lang="en-US" sz="1300" dirty="0"/>
          </a:p>
        </p:txBody>
      </p:sp>
      <p:sp>
        <p:nvSpPr>
          <p:cNvPr id="11" name="Text 7"/>
          <p:cNvSpPr/>
          <p:nvPr/>
        </p:nvSpPr>
        <p:spPr>
          <a:xfrm>
            <a:off x="685800" y="5074920"/>
            <a:ext cx="3383280" cy="1188720"/>
          </a:xfrm>
          <a:prstGeom prst="rect">
            <a:avLst/>
          </a:prstGeom>
          <a:noFill/>
          <a:ln/>
        </p:spPr>
        <p:txBody>
          <a:bodyPr wrap="square" lIns="0" tIns="0" rIns="0" bIns="0" rtlCol="0" anchor="t"/>
          <a:lstStyle/>
          <a:p>
            <a:pPr indent="0" marL="0">
              <a:buNone/>
            </a:pPr>
            <a:r>
              <a:rPr lang="en-US" sz="1100" dirty="0">
                <a:solidFill>
                  <a:srgbClr val="4A4F58"/>
                </a:solidFill>
                <a:latin typeface="Calibri" pitchFamily="34" charset="0"/>
                <a:ea typeface="Calibri" pitchFamily="34" charset="-122"/>
                <a:cs typeface="Calibri" pitchFamily="34" charset="-120"/>
              </a:rPr>
              <a:t>Highest discrimination (AUROC 0.961) but conservative — flags fewer cases. Best when false-positive cost is high.</a:t>
            </a:r>
            <a:endParaRPr lang="en-US" sz="1100" dirty="0"/>
          </a:p>
        </p:txBody>
      </p:sp>
      <p:sp>
        <p:nvSpPr>
          <p:cNvPr id="12" name="Shape 8"/>
          <p:cNvSpPr/>
          <p:nvPr/>
        </p:nvSpPr>
        <p:spPr>
          <a:xfrm>
            <a:off x="4389120" y="4663440"/>
            <a:ext cx="3657600" cy="1645920"/>
          </a:xfrm>
          <a:prstGeom prst="rect">
            <a:avLst/>
          </a:prstGeom>
          <a:solidFill>
            <a:srgbClr val="F4F1EA"/>
          </a:solidFill>
          <a:ln w="19050">
            <a:solidFill>
              <a:srgbClr val="AB0520"/>
            </a:solidFill>
            <a:prstDash val="solid"/>
          </a:ln>
        </p:spPr>
      </p:sp>
      <p:sp>
        <p:nvSpPr>
          <p:cNvPr id="13" name="Text 9"/>
          <p:cNvSpPr/>
          <p:nvPr/>
        </p:nvSpPr>
        <p:spPr>
          <a:xfrm>
            <a:off x="4526280" y="4754880"/>
            <a:ext cx="3383280" cy="320040"/>
          </a:xfrm>
          <a:prstGeom prst="rect">
            <a:avLst/>
          </a:prstGeom>
          <a:noFill/>
          <a:ln/>
        </p:spPr>
        <p:txBody>
          <a:bodyPr wrap="square" lIns="0" tIns="0" rIns="0" bIns="0" rtlCol="0" anchor="ctr"/>
          <a:lstStyle/>
          <a:p>
            <a:pPr indent="0" marL="0">
              <a:buNone/>
            </a:pPr>
            <a:r>
              <a:rPr lang="en-US" sz="1300" b="1" dirty="0">
                <a:solidFill>
                  <a:srgbClr val="AB0520"/>
                </a:solidFill>
                <a:latin typeface="Georgia" pitchFamily="34" charset="0"/>
                <a:ea typeface="Georgia" pitchFamily="34" charset="-122"/>
                <a:cs typeface="Georgia" pitchFamily="34" charset="-120"/>
              </a:rPr>
              <a:t>Gradient boosting (chosen)</a:t>
            </a:r>
            <a:endParaRPr lang="en-US" sz="1300" dirty="0"/>
          </a:p>
        </p:txBody>
      </p:sp>
      <p:sp>
        <p:nvSpPr>
          <p:cNvPr id="14" name="Text 10"/>
          <p:cNvSpPr/>
          <p:nvPr/>
        </p:nvSpPr>
        <p:spPr>
          <a:xfrm>
            <a:off x="4526280" y="5074920"/>
            <a:ext cx="3383280" cy="1188720"/>
          </a:xfrm>
          <a:prstGeom prst="rect">
            <a:avLst/>
          </a:prstGeom>
          <a:noFill/>
          <a:ln/>
        </p:spPr>
        <p:txBody>
          <a:bodyPr wrap="square" lIns="0" tIns="0" rIns="0" bIns="0" rtlCol="0" anchor="t"/>
          <a:lstStyle/>
          <a:p>
            <a:pPr indent="0" marL="0">
              <a:buNone/>
            </a:pPr>
            <a:r>
              <a:rPr lang="en-US" sz="1100" dirty="0">
                <a:solidFill>
                  <a:srgbClr val="4A4F58"/>
                </a:solidFill>
                <a:latin typeface="Calibri" pitchFamily="34" charset="0"/>
                <a:ea typeface="Calibri" pitchFamily="34" charset="-122"/>
                <a:cs typeface="Calibri" pitchFamily="34" charset="-120"/>
              </a:rPr>
              <a:t>Best balanced operating characteristic at 0.4% prevalence: AUROC 0.910 with Brier 0.0059 (excellent calibration). The headline model.</a:t>
            </a:r>
            <a:endParaRPr lang="en-US" sz="1100" dirty="0"/>
          </a:p>
        </p:txBody>
      </p:sp>
      <p:sp>
        <p:nvSpPr>
          <p:cNvPr id="15" name="Shape 11"/>
          <p:cNvSpPr/>
          <p:nvPr/>
        </p:nvSpPr>
        <p:spPr>
          <a:xfrm>
            <a:off x="8229600" y="4663440"/>
            <a:ext cx="3657600" cy="1645920"/>
          </a:xfrm>
          <a:prstGeom prst="rect">
            <a:avLst/>
          </a:prstGeom>
          <a:solidFill>
            <a:srgbClr val="F4F1EA"/>
          </a:solidFill>
          <a:ln w="6350">
            <a:solidFill>
              <a:srgbClr val="C8CCD2"/>
            </a:solidFill>
            <a:prstDash val="solid"/>
          </a:ln>
        </p:spPr>
      </p:sp>
      <p:sp>
        <p:nvSpPr>
          <p:cNvPr id="16" name="Text 12"/>
          <p:cNvSpPr/>
          <p:nvPr/>
        </p:nvSpPr>
        <p:spPr>
          <a:xfrm>
            <a:off x="8366760" y="4754880"/>
            <a:ext cx="3383280" cy="320040"/>
          </a:xfrm>
          <a:prstGeom prst="rect">
            <a:avLst/>
          </a:prstGeom>
          <a:noFill/>
          <a:ln/>
        </p:spPr>
        <p:txBody>
          <a:bodyPr wrap="square" lIns="0" tIns="0" rIns="0" bIns="0" rtlCol="0" anchor="ctr"/>
          <a:lstStyle/>
          <a:p>
            <a:pPr indent="0" marL="0">
              <a:buNone/>
            </a:pPr>
            <a:r>
              <a:rPr lang="en-US" sz="1300" b="1" dirty="0">
                <a:solidFill>
                  <a:srgbClr val="0C234B"/>
                </a:solidFill>
                <a:latin typeface="Georgia" pitchFamily="34" charset="0"/>
                <a:ea typeface="Georgia" pitchFamily="34" charset="-122"/>
                <a:cs typeface="Georgia" pitchFamily="34" charset="-120"/>
              </a:rPr>
              <a:t>Logistic regression</a:t>
            </a:r>
            <a:endParaRPr lang="en-US" sz="1300" dirty="0"/>
          </a:p>
        </p:txBody>
      </p:sp>
      <p:sp>
        <p:nvSpPr>
          <p:cNvPr id="17" name="Text 13"/>
          <p:cNvSpPr/>
          <p:nvPr/>
        </p:nvSpPr>
        <p:spPr>
          <a:xfrm>
            <a:off x="8366760" y="5074920"/>
            <a:ext cx="3383280" cy="1188720"/>
          </a:xfrm>
          <a:prstGeom prst="rect">
            <a:avLst/>
          </a:prstGeom>
          <a:noFill/>
          <a:ln/>
        </p:spPr>
        <p:txBody>
          <a:bodyPr wrap="square" lIns="0" tIns="0" rIns="0" bIns="0" rtlCol="0" anchor="t"/>
          <a:lstStyle/>
          <a:p>
            <a:pPr indent="0" marL="0">
              <a:buNone/>
            </a:pPr>
            <a:r>
              <a:rPr lang="en-US" sz="1100" dirty="0">
                <a:solidFill>
                  <a:srgbClr val="4A4F58"/>
                </a:solidFill>
                <a:latin typeface="Calibri" pitchFamily="34" charset="0"/>
                <a:ea typeface="Calibri" pitchFamily="34" charset="-122"/>
                <a:cs typeface="Calibri" pitchFamily="34" charset="-120"/>
              </a:rPr>
              <a:t>Highest sensitivity at low thresholds (R 33% @ 0.5) but most false alarms. The interpretable baseline — every coefficient has a clinical meaning.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EXPLAINABILITY &amp; EQUITY</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SHAP attribution + disaggregated performance</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5669280" cy="365760"/>
          </a:xfrm>
          <a:prstGeom prst="rect">
            <a:avLst/>
          </a:prstGeom>
          <a:noFill/>
          <a:ln/>
        </p:spPr>
        <p:txBody>
          <a:bodyPr wrap="square" lIns="0" tIns="0" rIns="0" bIns="0" rtlCol="0" anchor="ctr"/>
          <a:lstStyle/>
          <a:p>
            <a:pPr indent="0" marL="0">
              <a:buNone/>
            </a:pPr>
            <a:r>
              <a:rPr lang="en-US" sz="1300" b="1" spc="300" kern="0" dirty="0">
                <a:solidFill>
                  <a:srgbClr val="6E737C"/>
                </a:solidFill>
                <a:latin typeface="Calibri" pitchFamily="34" charset="0"/>
                <a:ea typeface="Calibri" pitchFamily="34" charset="-122"/>
                <a:cs typeface="Calibri" pitchFamily="34" charset="-120"/>
              </a:rPr>
              <a:t>Top 8 features by mean absolute SHAP</a:t>
            </a:r>
            <a:endParaRPr lang="en-US" sz="1300" dirty="0"/>
          </a:p>
        </p:txBody>
      </p:sp>
      <p:sp>
        <p:nvSpPr>
          <p:cNvPr id="8" name="Text 5"/>
          <p:cNvSpPr/>
          <p:nvPr/>
        </p:nvSpPr>
        <p:spPr>
          <a:xfrm>
            <a:off x="548640" y="2103120"/>
            <a:ext cx="2103120" cy="274320"/>
          </a:xfrm>
          <a:prstGeom prst="rect">
            <a:avLst/>
          </a:prstGeom>
          <a:noFill/>
          <a:ln/>
        </p:spPr>
        <p:txBody>
          <a:bodyPr wrap="square" lIns="0" tIns="0" rIns="0" bIns="0" rtlCol="0" anchor="ctr"/>
          <a:lstStyle/>
          <a:p>
            <a:pPr indent="0" marL="0">
              <a:buNone/>
            </a:pPr>
            <a:r>
              <a:rPr lang="en-US" sz="1100" dirty="0">
                <a:solidFill>
                  <a:srgbClr val="1F2228"/>
                </a:solidFill>
                <a:latin typeface="Calibri" pitchFamily="34" charset="0"/>
                <a:ea typeface="Calibri" pitchFamily="34" charset="-122"/>
                <a:cs typeface="Calibri" pitchFamily="34" charset="-120"/>
              </a:rPr>
              <a:t>Day of year</a:t>
            </a:r>
            <a:endParaRPr lang="en-US" sz="1100" dirty="0"/>
          </a:p>
        </p:txBody>
      </p:sp>
      <p:sp>
        <p:nvSpPr>
          <p:cNvPr id="9" name="Shape 6"/>
          <p:cNvSpPr/>
          <p:nvPr/>
        </p:nvSpPr>
        <p:spPr>
          <a:xfrm>
            <a:off x="2743200" y="2139696"/>
            <a:ext cx="2011680" cy="182880"/>
          </a:xfrm>
          <a:prstGeom prst="rect">
            <a:avLst/>
          </a:prstGeom>
          <a:solidFill>
            <a:srgbClr val="1F4D7A"/>
          </a:solidFill>
          <a:ln w="12700">
            <a:solidFill>
              <a:srgbClr val="1F4D7A"/>
            </a:solidFill>
            <a:prstDash val="solid"/>
          </a:ln>
        </p:spPr>
      </p:sp>
      <p:sp>
        <p:nvSpPr>
          <p:cNvPr id="10" name="Text 7"/>
          <p:cNvSpPr/>
          <p:nvPr/>
        </p:nvSpPr>
        <p:spPr>
          <a:xfrm>
            <a:off x="4846320" y="2103120"/>
            <a:ext cx="548640" cy="274320"/>
          </a:xfrm>
          <a:prstGeom prst="rect">
            <a:avLst/>
          </a:prstGeom>
          <a:noFill/>
          <a:ln/>
        </p:spPr>
        <p:txBody>
          <a:bodyPr wrap="square" lIns="0" tIns="0" rIns="0" bIns="0" rtlCol="0" anchor="ctr"/>
          <a:lstStyle/>
          <a:p>
            <a:pPr algn="r" indent="0" marL="0">
              <a:buNone/>
            </a:pPr>
            <a:r>
              <a:rPr lang="en-US" sz="1000" dirty="0">
                <a:solidFill>
                  <a:srgbClr val="6E737C"/>
                </a:solidFill>
                <a:latin typeface="Calibri" pitchFamily="34" charset="0"/>
                <a:ea typeface="Calibri" pitchFamily="34" charset="-122"/>
                <a:cs typeface="Calibri" pitchFamily="34" charset="-120"/>
              </a:rPr>
              <a:t>0.821</a:t>
            </a:r>
            <a:endParaRPr lang="en-US" sz="1000" dirty="0"/>
          </a:p>
        </p:txBody>
      </p:sp>
      <p:sp>
        <p:nvSpPr>
          <p:cNvPr id="11" name="Text 8"/>
          <p:cNvSpPr/>
          <p:nvPr/>
        </p:nvSpPr>
        <p:spPr>
          <a:xfrm>
            <a:off x="5394960" y="2103120"/>
            <a:ext cx="2743200" cy="274320"/>
          </a:xfrm>
          <a:prstGeom prst="rect">
            <a:avLst/>
          </a:prstGeom>
          <a:noFill/>
          <a:ln/>
        </p:spPr>
        <p:txBody>
          <a:bodyPr wrap="square" lIns="0" tIns="0" rIns="0" bIns="0" rtlCol="0" anchor="ctr"/>
          <a:lstStyle/>
          <a:p>
            <a:pPr indent="0" marL="0">
              <a:buNone/>
            </a:pPr>
            <a:r>
              <a:rPr lang="en-US" sz="950" i="1" dirty="0">
                <a:solidFill>
                  <a:srgbClr val="6E737C"/>
                </a:solidFill>
                <a:latin typeface="Calibri" pitchFamily="34" charset="0"/>
                <a:ea typeface="Calibri" pitchFamily="34" charset="-122"/>
                <a:cs typeface="Calibri" pitchFamily="34" charset="-120"/>
              </a:rPr>
              <a:t>synthetic outbreak window — see caveat</a:t>
            </a:r>
            <a:endParaRPr lang="en-US" sz="950" dirty="0"/>
          </a:p>
        </p:txBody>
      </p:sp>
      <p:sp>
        <p:nvSpPr>
          <p:cNvPr id="12" name="Text 9"/>
          <p:cNvSpPr/>
          <p:nvPr/>
        </p:nvSpPr>
        <p:spPr>
          <a:xfrm>
            <a:off x="548640" y="2423160"/>
            <a:ext cx="2103120" cy="274320"/>
          </a:xfrm>
          <a:prstGeom prst="rect">
            <a:avLst/>
          </a:prstGeom>
          <a:noFill/>
          <a:ln/>
        </p:spPr>
        <p:txBody>
          <a:bodyPr wrap="square" lIns="0" tIns="0" rIns="0" bIns="0" rtlCol="0" anchor="ctr"/>
          <a:lstStyle/>
          <a:p>
            <a:pPr indent="0" marL="0">
              <a:buNone/>
            </a:pPr>
            <a:r>
              <a:rPr lang="en-US" sz="1100" dirty="0">
                <a:solidFill>
                  <a:srgbClr val="1F2228"/>
                </a:solidFill>
                <a:latin typeface="Calibri" pitchFamily="34" charset="0"/>
                <a:ea typeface="Calibri" pitchFamily="34" charset="-122"/>
                <a:cs typeface="Calibri" pitchFamily="34" charset="-120"/>
              </a:rPr>
              <a:t>Household size (animals)</a:t>
            </a:r>
            <a:endParaRPr lang="en-US" sz="1100" dirty="0"/>
          </a:p>
        </p:txBody>
      </p:sp>
      <p:sp>
        <p:nvSpPr>
          <p:cNvPr id="13" name="Shape 10"/>
          <p:cNvSpPr/>
          <p:nvPr/>
        </p:nvSpPr>
        <p:spPr>
          <a:xfrm>
            <a:off x="2743200" y="2459736"/>
            <a:ext cx="833095" cy="182880"/>
          </a:xfrm>
          <a:prstGeom prst="rect">
            <a:avLst/>
          </a:prstGeom>
          <a:solidFill>
            <a:srgbClr val="1F4D7A"/>
          </a:solidFill>
          <a:ln w="12700">
            <a:solidFill>
              <a:srgbClr val="1F4D7A"/>
            </a:solidFill>
            <a:prstDash val="solid"/>
          </a:ln>
        </p:spPr>
      </p:sp>
      <p:sp>
        <p:nvSpPr>
          <p:cNvPr id="14" name="Text 11"/>
          <p:cNvSpPr/>
          <p:nvPr/>
        </p:nvSpPr>
        <p:spPr>
          <a:xfrm>
            <a:off x="4846320" y="2423160"/>
            <a:ext cx="548640" cy="274320"/>
          </a:xfrm>
          <a:prstGeom prst="rect">
            <a:avLst/>
          </a:prstGeom>
          <a:noFill/>
          <a:ln/>
        </p:spPr>
        <p:txBody>
          <a:bodyPr wrap="square" lIns="0" tIns="0" rIns="0" bIns="0" rtlCol="0" anchor="ctr"/>
          <a:lstStyle/>
          <a:p>
            <a:pPr algn="r" indent="0" marL="0">
              <a:buNone/>
            </a:pPr>
            <a:r>
              <a:rPr lang="en-US" sz="1000" dirty="0">
                <a:solidFill>
                  <a:srgbClr val="6E737C"/>
                </a:solidFill>
                <a:latin typeface="Calibri" pitchFamily="34" charset="0"/>
                <a:ea typeface="Calibri" pitchFamily="34" charset="-122"/>
                <a:cs typeface="Calibri" pitchFamily="34" charset="-120"/>
              </a:rPr>
              <a:t>0.340</a:t>
            </a:r>
            <a:endParaRPr lang="en-US" sz="1000" dirty="0"/>
          </a:p>
        </p:txBody>
      </p:sp>
      <p:sp>
        <p:nvSpPr>
          <p:cNvPr id="15" name="Text 12"/>
          <p:cNvSpPr/>
          <p:nvPr/>
        </p:nvSpPr>
        <p:spPr>
          <a:xfrm>
            <a:off x="5394960" y="2423160"/>
            <a:ext cx="2743200" cy="274320"/>
          </a:xfrm>
          <a:prstGeom prst="rect">
            <a:avLst/>
          </a:prstGeom>
          <a:noFill/>
          <a:ln/>
        </p:spPr>
        <p:txBody>
          <a:bodyPr wrap="square" lIns="0" tIns="0" rIns="0" bIns="0" rtlCol="0" anchor="ctr"/>
          <a:lstStyle/>
          <a:p>
            <a:pPr indent="0" marL="0">
              <a:buNone/>
            </a:pPr>
            <a:r>
              <a:rPr lang="en-US" sz="950" i="1" dirty="0">
                <a:solidFill>
                  <a:srgbClr val="6E737C"/>
                </a:solidFill>
                <a:latin typeface="Calibri" pitchFamily="34" charset="0"/>
                <a:ea typeface="Calibri" pitchFamily="34" charset="-122"/>
                <a:cs typeface="Calibri" pitchFamily="34" charset="-120"/>
              </a:rPr>
              <a:t>more pets ↑ cross-species risk</a:t>
            </a:r>
            <a:endParaRPr lang="en-US" sz="950" dirty="0"/>
          </a:p>
        </p:txBody>
      </p:sp>
      <p:sp>
        <p:nvSpPr>
          <p:cNvPr id="16" name="Text 13"/>
          <p:cNvSpPr/>
          <p:nvPr/>
        </p:nvSpPr>
        <p:spPr>
          <a:xfrm>
            <a:off x="548640" y="2743200"/>
            <a:ext cx="2103120" cy="274320"/>
          </a:xfrm>
          <a:prstGeom prst="rect">
            <a:avLst/>
          </a:prstGeom>
          <a:noFill/>
          <a:ln/>
        </p:spPr>
        <p:txBody>
          <a:bodyPr wrap="square" lIns="0" tIns="0" rIns="0" bIns="0" rtlCol="0" anchor="ctr"/>
          <a:lstStyle/>
          <a:p>
            <a:pPr indent="0" marL="0">
              <a:buNone/>
            </a:pPr>
            <a:r>
              <a:rPr lang="en-US" sz="1100" dirty="0">
                <a:solidFill>
                  <a:srgbClr val="1F2228"/>
                </a:solidFill>
                <a:latin typeface="Calibri" pitchFamily="34" charset="0"/>
                <a:ea typeface="Calibri" pitchFamily="34" charset="-122"/>
                <a:cs typeface="Calibri" pitchFamily="34" charset="-120"/>
              </a:rPr>
              <a:t>Diastolic BP</a:t>
            </a:r>
            <a:endParaRPr lang="en-US" sz="1100" dirty="0"/>
          </a:p>
        </p:txBody>
      </p:sp>
      <p:sp>
        <p:nvSpPr>
          <p:cNvPr id="17" name="Shape 14"/>
          <p:cNvSpPr/>
          <p:nvPr/>
        </p:nvSpPr>
        <p:spPr>
          <a:xfrm>
            <a:off x="2743200" y="2779776"/>
            <a:ext cx="654225" cy="182880"/>
          </a:xfrm>
          <a:prstGeom prst="rect">
            <a:avLst/>
          </a:prstGeom>
          <a:solidFill>
            <a:srgbClr val="1F4D7A"/>
          </a:solidFill>
          <a:ln w="12700">
            <a:solidFill>
              <a:srgbClr val="1F4D7A"/>
            </a:solidFill>
            <a:prstDash val="solid"/>
          </a:ln>
        </p:spPr>
      </p:sp>
      <p:sp>
        <p:nvSpPr>
          <p:cNvPr id="18" name="Text 15"/>
          <p:cNvSpPr/>
          <p:nvPr/>
        </p:nvSpPr>
        <p:spPr>
          <a:xfrm>
            <a:off x="4846320" y="2743200"/>
            <a:ext cx="548640" cy="274320"/>
          </a:xfrm>
          <a:prstGeom prst="rect">
            <a:avLst/>
          </a:prstGeom>
          <a:noFill/>
          <a:ln/>
        </p:spPr>
        <p:txBody>
          <a:bodyPr wrap="square" lIns="0" tIns="0" rIns="0" bIns="0" rtlCol="0" anchor="ctr"/>
          <a:lstStyle/>
          <a:p>
            <a:pPr algn="r" indent="0" marL="0">
              <a:buNone/>
            </a:pPr>
            <a:r>
              <a:rPr lang="en-US" sz="1000" dirty="0">
                <a:solidFill>
                  <a:srgbClr val="6E737C"/>
                </a:solidFill>
                <a:latin typeface="Calibri" pitchFamily="34" charset="0"/>
                <a:ea typeface="Calibri" pitchFamily="34" charset="-122"/>
                <a:cs typeface="Calibri" pitchFamily="34" charset="-120"/>
              </a:rPr>
              <a:t>0.267</a:t>
            </a:r>
            <a:endParaRPr lang="en-US" sz="1000" dirty="0"/>
          </a:p>
        </p:txBody>
      </p:sp>
      <p:sp>
        <p:nvSpPr>
          <p:cNvPr id="19" name="Text 16"/>
          <p:cNvSpPr/>
          <p:nvPr/>
        </p:nvSpPr>
        <p:spPr>
          <a:xfrm>
            <a:off x="5394960" y="2743200"/>
            <a:ext cx="2743200" cy="274320"/>
          </a:xfrm>
          <a:prstGeom prst="rect">
            <a:avLst/>
          </a:prstGeom>
          <a:noFill/>
          <a:ln/>
        </p:spPr>
        <p:txBody>
          <a:bodyPr wrap="square" lIns="0" tIns="0" rIns="0" bIns="0" rtlCol="0" anchor="ctr"/>
          <a:lstStyle/>
          <a:p>
            <a:pPr indent="0" marL="0">
              <a:buNone/>
            </a:pPr>
            <a:r>
              <a:rPr lang="en-US" sz="950" i="1" dirty="0">
                <a:solidFill>
                  <a:srgbClr val="6E737C"/>
                </a:solidFill>
                <a:latin typeface="Calibri" pitchFamily="34" charset="0"/>
                <a:ea typeface="Calibri" pitchFamily="34" charset="-122"/>
                <a:cs typeface="Calibri" pitchFamily="34" charset="-120"/>
              </a:rPr>
              <a:t>hemodynamic instability marker</a:t>
            </a:r>
            <a:endParaRPr lang="en-US" sz="950" dirty="0"/>
          </a:p>
        </p:txBody>
      </p:sp>
      <p:sp>
        <p:nvSpPr>
          <p:cNvPr id="20" name="Text 17"/>
          <p:cNvSpPr/>
          <p:nvPr/>
        </p:nvSpPr>
        <p:spPr>
          <a:xfrm>
            <a:off x="548640" y="3063240"/>
            <a:ext cx="2103120" cy="274320"/>
          </a:xfrm>
          <a:prstGeom prst="rect">
            <a:avLst/>
          </a:prstGeom>
          <a:noFill/>
          <a:ln/>
        </p:spPr>
        <p:txBody>
          <a:bodyPr wrap="square" lIns="0" tIns="0" rIns="0" bIns="0" rtlCol="0" anchor="ctr"/>
          <a:lstStyle/>
          <a:p>
            <a:pPr indent="0" marL="0">
              <a:buNone/>
            </a:pPr>
            <a:r>
              <a:rPr lang="en-US" sz="1100" dirty="0">
                <a:solidFill>
                  <a:srgbClr val="1F2228"/>
                </a:solidFill>
                <a:latin typeface="Calibri" pitchFamily="34" charset="0"/>
                <a:ea typeface="Calibri" pitchFamily="34" charset="-122"/>
                <a:cs typeface="Calibri" pitchFamily="34" charset="-120"/>
              </a:rPr>
              <a:t>Temperature</a:t>
            </a:r>
            <a:endParaRPr lang="en-US" sz="1100" dirty="0"/>
          </a:p>
        </p:txBody>
      </p:sp>
      <p:sp>
        <p:nvSpPr>
          <p:cNvPr id="21" name="Shape 18"/>
          <p:cNvSpPr/>
          <p:nvPr/>
        </p:nvSpPr>
        <p:spPr>
          <a:xfrm>
            <a:off x="2743200" y="3099816"/>
            <a:ext cx="541512" cy="182880"/>
          </a:xfrm>
          <a:prstGeom prst="rect">
            <a:avLst/>
          </a:prstGeom>
          <a:solidFill>
            <a:srgbClr val="1F4D7A"/>
          </a:solidFill>
          <a:ln w="12700">
            <a:solidFill>
              <a:srgbClr val="1F4D7A"/>
            </a:solidFill>
            <a:prstDash val="solid"/>
          </a:ln>
        </p:spPr>
      </p:sp>
      <p:sp>
        <p:nvSpPr>
          <p:cNvPr id="22" name="Text 19"/>
          <p:cNvSpPr/>
          <p:nvPr/>
        </p:nvSpPr>
        <p:spPr>
          <a:xfrm>
            <a:off x="4846320" y="3063240"/>
            <a:ext cx="548640" cy="274320"/>
          </a:xfrm>
          <a:prstGeom prst="rect">
            <a:avLst/>
          </a:prstGeom>
          <a:noFill/>
          <a:ln/>
        </p:spPr>
        <p:txBody>
          <a:bodyPr wrap="square" lIns="0" tIns="0" rIns="0" bIns="0" rtlCol="0" anchor="ctr"/>
          <a:lstStyle/>
          <a:p>
            <a:pPr algn="r" indent="0" marL="0">
              <a:buNone/>
            </a:pPr>
            <a:r>
              <a:rPr lang="en-US" sz="1000" dirty="0">
                <a:solidFill>
                  <a:srgbClr val="6E737C"/>
                </a:solidFill>
                <a:latin typeface="Calibri" pitchFamily="34" charset="0"/>
                <a:ea typeface="Calibri" pitchFamily="34" charset="-122"/>
                <a:cs typeface="Calibri" pitchFamily="34" charset="-120"/>
              </a:rPr>
              <a:t>0.221</a:t>
            </a:r>
            <a:endParaRPr lang="en-US" sz="1000" dirty="0"/>
          </a:p>
        </p:txBody>
      </p:sp>
      <p:sp>
        <p:nvSpPr>
          <p:cNvPr id="23" name="Text 20"/>
          <p:cNvSpPr/>
          <p:nvPr/>
        </p:nvSpPr>
        <p:spPr>
          <a:xfrm>
            <a:off x="5394960" y="3063240"/>
            <a:ext cx="2743200" cy="274320"/>
          </a:xfrm>
          <a:prstGeom prst="rect">
            <a:avLst/>
          </a:prstGeom>
          <a:noFill/>
          <a:ln/>
        </p:spPr>
        <p:txBody>
          <a:bodyPr wrap="square" lIns="0" tIns="0" rIns="0" bIns="0" rtlCol="0" anchor="ctr"/>
          <a:lstStyle/>
          <a:p>
            <a:pPr indent="0" marL="0">
              <a:buNone/>
            </a:pPr>
            <a:r>
              <a:rPr lang="en-US" sz="950" i="1" dirty="0">
                <a:solidFill>
                  <a:srgbClr val="6E737C"/>
                </a:solidFill>
                <a:latin typeface="Calibri" pitchFamily="34" charset="0"/>
                <a:ea typeface="Calibri" pitchFamily="34" charset="-122"/>
                <a:cs typeface="Calibri" pitchFamily="34" charset="-120"/>
              </a:rPr>
              <a:t>fever ⇒ infectious differential</a:t>
            </a:r>
            <a:endParaRPr lang="en-US" sz="950" dirty="0"/>
          </a:p>
        </p:txBody>
      </p:sp>
      <p:sp>
        <p:nvSpPr>
          <p:cNvPr id="24" name="Text 21"/>
          <p:cNvSpPr/>
          <p:nvPr/>
        </p:nvSpPr>
        <p:spPr>
          <a:xfrm>
            <a:off x="548640" y="3383280"/>
            <a:ext cx="2103120" cy="274320"/>
          </a:xfrm>
          <a:prstGeom prst="rect">
            <a:avLst/>
          </a:prstGeom>
          <a:noFill/>
          <a:ln/>
        </p:spPr>
        <p:txBody>
          <a:bodyPr wrap="square" lIns="0" tIns="0" rIns="0" bIns="0" rtlCol="0" anchor="ctr"/>
          <a:lstStyle/>
          <a:p>
            <a:pPr indent="0" marL="0">
              <a:buNone/>
            </a:pPr>
            <a:r>
              <a:rPr lang="en-US" sz="1100" dirty="0">
                <a:solidFill>
                  <a:srgbClr val="1F2228"/>
                </a:solidFill>
                <a:latin typeface="Calibri" pitchFamily="34" charset="0"/>
                <a:ea typeface="Calibri" pitchFamily="34" charset="-122"/>
                <a:cs typeface="Calibri" pitchFamily="34" charset="-120"/>
              </a:rPr>
              <a:t>Age</a:t>
            </a:r>
            <a:endParaRPr lang="en-US" sz="1100" dirty="0"/>
          </a:p>
        </p:txBody>
      </p:sp>
      <p:sp>
        <p:nvSpPr>
          <p:cNvPr id="25" name="Shape 22"/>
          <p:cNvSpPr/>
          <p:nvPr/>
        </p:nvSpPr>
        <p:spPr>
          <a:xfrm>
            <a:off x="2743200" y="3419856"/>
            <a:ext cx="534161" cy="182880"/>
          </a:xfrm>
          <a:prstGeom prst="rect">
            <a:avLst/>
          </a:prstGeom>
          <a:solidFill>
            <a:srgbClr val="1F4D7A"/>
          </a:solidFill>
          <a:ln w="12700">
            <a:solidFill>
              <a:srgbClr val="1F4D7A"/>
            </a:solidFill>
            <a:prstDash val="solid"/>
          </a:ln>
        </p:spPr>
      </p:sp>
      <p:sp>
        <p:nvSpPr>
          <p:cNvPr id="26" name="Text 23"/>
          <p:cNvSpPr/>
          <p:nvPr/>
        </p:nvSpPr>
        <p:spPr>
          <a:xfrm>
            <a:off x="4846320" y="3383280"/>
            <a:ext cx="548640" cy="274320"/>
          </a:xfrm>
          <a:prstGeom prst="rect">
            <a:avLst/>
          </a:prstGeom>
          <a:noFill/>
          <a:ln/>
        </p:spPr>
        <p:txBody>
          <a:bodyPr wrap="square" lIns="0" tIns="0" rIns="0" bIns="0" rtlCol="0" anchor="ctr"/>
          <a:lstStyle/>
          <a:p>
            <a:pPr algn="r" indent="0" marL="0">
              <a:buNone/>
            </a:pPr>
            <a:r>
              <a:rPr lang="en-US" sz="1000" dirty="0">
                <a:solidFill>
                  <a:srgbClr val="6E737C"/>
                </a:solidFill>
                <a:latin typeface="Calibri" pitchFamily="34" charset="0"/>
                <a:ea typeface="Calibri" pitchFamily="34" charset="-122"/>
                <a:cs typeface="Calibri" pitchFamily="34" charset="-120"/>
              </a:rPr>
              <a:t>0.218</a:t>
            </a:r>
            <a:endParaRPr lang="en-US" sz="1000" dirty="0"/>
          </a:p>
        </p:txBody>
      </p:sp>
      <p:sp>
        <p:nvSpPr>
          <p:cNvPr id="27" name="Text 24"/>
          <p:cNvSpPr/>
          <p:nvPr/>
        </p:nvSpPr>
        <p:spPr>
          <a:xfrm>
            <a:off x="5394960" y="3383280"/>
            <a:ext cx="2743200" cy="274320"/>
          </a:xfrm>
          <a:prstGeom prst="rect">
            <a:avLst/>
          </a:prstGeom>
          <a:noFill/>
          <a:ln/>
        </p:spPr>
        <p:txBody>
          <a:bodyPr wrap="square" lIns="0" tIns="0" rIns="0" bIns="0" rtlCol="0" anchor="ctr"/>
          <a:lstStyle/>
          <a:p>
            <a:pPr indent="0" marL="0">
              <a:buNone/>
            </a:pPr>
            <a:r>
              <a:rPr lang="en-US" sz="950" i="1" dirty="0">
                <a:solidFill>
                  <a:srgbClr val="6E737C"/>
                </a:solidFill>
                <a:latin typeface="Calibri" pitchFamily="34" charset="0"/>
                <a:ea typeface="Calibri" pitchFamily="34" charset="-122"/>
                <a:cs typeface="Calibri" pitchFamily="34" charset="-120"/>
              </a:rPr>
              <a:t>extremes of age ⇒ severity</a:t>
            </a:r>
            <a:endParaRPr lang="en-US" sz="950" dirty="0"/>
          </a:p>
        </p:txBody>
      </p:sp>
      <p:sp>
        <p:nvSpPr>
          <p:cNvPr id="28" name="Text 25"/>
          <p:cNvSpPr/>
          <p:nvPr/>
        </p:nvSpPr>
        <p:spPr>
          <a:xfrm>
            <a:off x="548640" y="3703320"/>
            <a:ext cx="2103120" cy="274320"/>
          </a:xfrm>
          <a:prstGeom prst="rect">
            <a:avLst/>
          </a:prstGeom>
          <a:noFill/>
          <a:ln/>
        </p:spPr>
        <p:txBody>
          <a:bodyPr wrap="square" lIns="0" tIns="0" rIns="0" bIns="0" rtlCol="0" anchor="ctr"/>
          <a:lstStyle/>
          <a:p>
            <a:pPr indent="0" marL="0">
              <a:buNone/>
            </a:pPr>
            <a:r>
              <a:rPr lang="en-US" sz="1100" dirty="0">
                <a:solidFill>
                  <a:srgbClr val="1F2228"/>
                </a:solidFill>
                <a:latin typeface="Calibri" pitchFamily="34" charset="0"/>
                <a:ea typeface="Calibri" pitchFamily="34" charset="-122"/>
                <a:cs typeface="Calibri" pitchFamily="34" charset="-120"/>
              </a:rPr>
              <a:t>Glucose</a:t>
            </a:r>
            <a:endParaRPr lang="en-US" sz="1100" dirty="0"/>
          </a:p>
        </p:txBody>
      </p:sp>
      <p:sp>
        <p:nvSpPr>
          <p:cNvPr id="29" name="Shape 26"/>
          <p:cNvSpPr/>
          <p:nvPr/>
        </p:nvSpPr>
        <p:spPr>
          <a:xfrm>
            <a:off x="2743200" y="3739896"/>
            <a:ext cx="453302" cy="182880"/>
          </a:xfrm>
          <a:prstGeom prst="rect">
            <a:avLst/>
          </a:prstGeom>
          <a:solidFill>
            <a:srgbClr val="1F4D7A"/>
          </a:solidFill>
          <a:ln w="12700">
            <a:solidFill>
              <a:srgbClr val="1F4D7A"/>
            </a:solidFill>
            <a:prstDash val="solid"/>
          </a:ln>
        </p:spPr>
      </p:sp>
      <p:sp>
        <p:nvSpPr>
          <p:cNvPr id="30" name="Text 27"/>
          <p:cNvSpPr/>
          <p:nvPr/>
        </p:nvSpPr>
        <p:spPr>
          <a:xfrm>
            <a:off x="4846320" y="3703320"/>
            <a:ext cx="548640" cy="274320"/>
          </a:xfrm>
          <a:prstGeom prst="rect">
            <a:avLst/>
          </a:prstGeom>
          <a:noFill/>
          <a:ln/>
        </p:spPr>
        <p:txBody>
          <a:bodyPr wrap="square" lIns="0" tIns="0" rIns="0" bIns="0" rtlCol="0" anchor="ctr"/>
          <a:lstStyle/>
          <a:p>
            <a:pPr algn="r" indent="0" marL="0">
              <a:buNone/>
            </a:pPr>
            <a:r>
              <a:rPr lang="en-US" sz="1000" dirty="0">
                <a:solidFill>
                  <a:srgbClr val="6E737C"/>
                </a:solidFill>
                <a:latin typeface="Calibri" pitchFamily="34" charset="0"/>
                <a:ea typeface="Calibri" pitchFamily="34" charset="-122"/>
                <a:cs typeface="Calibri" pitchFamily="34" charset="-120"/>
              </a:rPr>
              <a:t>0.185</a:t>
            </a:r>
            <a:endParaRPr lang="en-US" sz="1000" dirty="0"/>
          </a:p>
        </p:txBody>
      </p:sp>
      <p:sp>
        <p:nvSpPr>
          <p:cNvPr id="31" name="Text 28"/>
          <p:cNvSpPr/>
          <p:nvPr/>
        </p:nvSpPr>
        <p:spPr>
          <a:xfrm>
            <a:off x="5394960" y="3703320"/>
            <a:ext cx="2743200" cy="274320"/>
          </a:xfrm>
          <a:prstGeom prst="rect">
            <a:avLst/>
          </a:prstGeom>
          <a:noFill/>
          <a:ln/>
        </p:spPr>
        <p:txBody>
          <a:bodyPr wrap="square" lIns="0" tIns="0" rIns="0" bIns="0" rtlCol="0" anchor="ctr"/>
          <a:lstStyle/>
          <a:p>
            <a:pPr indent="0" marL="0">
              <a:buNone/>
            </a:pPr>
            <a:r>
              <a:rPr lang="en-US" sz="950" i="1" dirty="0">
                <a:solidFill>
                  <a:srgbClr val="6E737C"/>
                </a:solidFill>
                <a:latin typeface="Calibri" pitchFamily="34" charset="0"/>
                <a:ea typeface="Calibri" pitchFamily="34" charset="-122"/>
                <a:cs typeface="Calibri" pitchFamily="34" charset="-120"/>
              </a:rPr>
              <a:t>metabolic stress / dehydration</a:t>
            </a:r>
            <a:endParaRPr lang="en-US" sz="950" dirty="0"/>
          </a:p>
        </p:txBody>
      </p:sp>
      <p:sp>
        <p:nvSpPr>
          <p:cNvPr id="32" name="Text 29"/>
          <p:cNvSpPr/>
          <p:nvPr/>
        </p:nvSpPr>
        <p:spPr>
          <a:xfrm>
            <a:off x="548640" y="4023360"/>
            <a:ext cx="2103120" cy="274320"/>
          </a:xfrm>
          <a:prstGeom prst="rect">
            <a:avLst/>
          </a:prstGeom>
          <a:noFill/>
          <a:ln/>
        </p:spPr>
        <p:txBody>
          <a:bodyPr wrap="square" lIns="0" tIns="0" rIns="0" bIns="0" rtlCol="0" anchor="ctr"/>
          <a:lstStyle/>
          <a:p>
            <a:pPr indent="0" marL="0">
              <a:buNone/>
            </a:pPr>
            <a:r>
              <a:rPr lang="en-US" sz="1100" dirty="0">
                <a:solidFill>
                  <a:srgbClr val="1F2228"/>
                </a:solidFill>
                <a:latin typeface="Calibri" pitchFamily="34" charset="0"/>
                <a:ea typeface="Calibri" pitchFamily="34" charset="-122"/>
                <a:cs typeface="Calibri" pitchFamily="34" charset="-120"/>
              </a:rPr>
              <a:t>CC: named zoonotic disease</a:t>
            </a:r>
            <a:endParaRPr lang="en-US" sz="1100" dirty="0"/>
          </a:p>
        </p:txBody>
      </p:sp>
      <p:sp>
        <p:nvSpPr>
          <p:cNvPr id="33" name="Shape 30"/>
          <p:cNvSpPr/>
          <p:nvPr/>
        </p:nvSpPr>
        <p:spPr>
          <a:xfrm>
            <a:off x="2743200" y="4059936"/>
            <a:ext cx="441050" cy="182880"/>
          </a:xfrm>
          <a:prstGeom prst="rect">
            <a:avLst/>
          </a:prstGeom>
          <a:solidFill>
            <a:srgbClr val="1F4D7A"/>
          </a:solidFill>
          <a:ln w="12700">
            <a:solidFill>
              <a:srgbClr val="1F4D7A"/>
            </a:solidFill>
            <a:prstDash val="solid"/>
          </a:ln>
        </p:spPr>
      </p:sp>
      <p:sp>
        <p:nvSpPr>
          <p:cNvPr id="34" name="Text 31"/>
          <p:cNvSpPr/>
          <p:nvPr/>
        </p:nvSpPr>
        <p:spPr>
          <a:xfrm>
            <a:off x="4846320" y="4023360"/>
            <a:ext cx="548640" cy="274320"/>
          </a:xfrm>
          <a:prstGeom prst="rect">
            <a:avLst/>
          </a:prstGeom>
          <a:noFill/>
          <a:ln/>
        </p:spPr>
        <p:txBody>
          <a:bodyPr wrap="square" lIns="0" tIns="0" rIns="0" bIns="0" rtlCol="0" anchor="ctr"/>
          <a:lstStyle/>
          <a:p>
            <a:pPr algn="r" indent="0" marL="0">
              <a:buNone/>
            </a:pPr>
            <a:r>
              <a:rPr lang="en-US" sz="1000" dirty="0">
                <a:solidFill>
                  <a:srgbClr val="6E737C"/>
                </a:solidFill>
                <a:latin typeface="Calibri" pitchFamily="34" charset="0"/>
                <a:ea typeface="Calibri" pitchFamily="34" charset="-122"/>
                <a:cs typeface="Calibri" pitchFamily="34" charset="-120"/>
              </a:rPr>
              <a:t>0.180</a:t>
            </a:r>
            <a:endParaRPr lang="en-US" sz="1000" dirty="0"/>
          </a:p>
        </p:txBody>
      </p:sp>
      <p:sp>
        <p:nvSpPr>
          <p:cNvPr id="35" name="Text 32"/>
          <p:cNvSpPr/>
          <p:nvPr/>
        </p:nvSpPr>
        <p:spPr>
          <a:xfrm>
            <a:off x="5394960" y="4023360"/>
            <a:ext cx="2743200" cy="274320"/>
          </a:xfrm>
          <a:prstGeom prst="rect">
            <a:avLst/>
          </a:prstGeom>
          <a:noFill/>
          <a:ln/>
        </p:spPr>
        <p:txBody>
          <a:bodyPr wrap="square" lIns="0" tIns="0" rIns="0" bIns="0" rtlCol="0" anchor="ctr"/>
          <a:lstStyle/>
          <a:p>
            <a:pPr indent="0" marL="0">
              <a:buNone/>
            </a:pPr>
            <a:r>
              <a:rPr lang="en-US" sz="950" i="1" dirty="0">
                <a:solidFill>
                  <a:srgbClr val="6E737C"/>
                </a:solidFill>
                <a:latin typeface="Calibri" pitchFamily="34" charset="0"/>
                <a:ea typeface="Calibri" pitchFamily="34" charset="-122"/>
                <a:cs typeface="Calibri" pitchFamily="34" charset="-120"/>
              </a:rPr>
              <a:t>syndromic shortcut</a:t>
            </a:r>
            <a:endParaRPr lang="en-US" sz="950" dirty="0"/>
          </a:p>
        </p:txBody>
      </p:sp>
      <p:sp>
        <p:nvSpPr>
          <p:cNvPr id="36" name="Text 33"/>
          <p:cNvSpPr/>
          <p:nvPr/>
        </p:nvSpPr>
        <p:spPr>
          <a:xfrm>
            <a:off x="548640" y="4343400"/>
            <a:ext cx="2103120" cy="274320"/>
          </a:xfrm>
          <a:prstGeom prst="rect">
            <a:avLst/>
          </a:prstGeom>
          <a:noFill/>
          <a:ln/>
        </p:spPr>
        <p:txBody>
          <a:bodyPr wrap="square" lIns="0" tIns="0" rIns="0" bIns="0" rtlCol="0" anchor="ctr"/>
          <a:lstStyle/>
          <a:p>
            <a:pPr indent="0" marL="0">
              <a:buNone/>
            </a:pPr>
            <a:r>
              <a:rPr lang="en-US" sz="1100" dirty="0">
                <a:solidFill>
                  <a:srgbClr val="1F2228"/>
                </a:solidFill>
                <a:latin typeface="Calibri" pitchFamily="34" charset="0"/>
                <a:ea typeface="Calibri" pitchFamily="34" charset="-122"/>
                <a:cs typeface="Calibri" pitchFamily="34" charset="-120"/>
              </a:rPr>
              <a:t>Household encounters last 90d</a:t>
            </a:r>
            <a:endParaRPr lang="en-US" sz="1100" dirty="0"/>
          </a:p>
        </p:txBody>
      </p:sp>
      <p:sp>
        <p:nvSpPr>
          <p:cNvPr id="37" name="Shape 34"/>
          <p:cNvSpPr/>
          <p:nvPr/>
        </p:nvSpPr>
        <p:spPr>
          <a:xfrm>
            <a:off x="2743200" y="4379976"/>
            <a:ext cx="414097" cy="182880"/>
          </a:xfrm>
          <a:prstGeom prst="rect">
            <a:avLst/>
          </a:prstGeom>
          <a:solidFill>
            <a:srgbClr val="1F4D7A"/>
          </a:solidFill>
          <a:ln w="12700">
            <a:solidFill>
              <a:srgbClr val="1F4D7A"/>
            </a:solidFill>
            <a:prstDash val="solid"/>
          </a:ln>
        </p:spPr>
      </p:sp>
      <p:sp>
        <p:nvSpPr>
          <p:cNvPr id="38" name="Text 35"/>
          <p:cNvSpPr/>
          <p:nvPr/>
        </p:nvSpPr>
        <p:spPr>
          <a:xfrm>
            <a:off x="4846320" y="4343400"/>
            <a:ext cx="548640" cy="274320"/>
          </a:xfrm>
          <a:prstGeom prst="rect">
            <a:avLst/>
          </a:prstGeom>
          <a:noFill/>
          <a:ln/>
        </p:spPr>
        <p:txBody>
          <a:bodyPr wrap="square" lIns="0" tIns="0" rIns="0" bIns="0" rtlCol="0" anchor="ctr"/>
          <a:lstStyle/>
          <a:p>
            <a:pPr algn="r" indent="0" marL="0">
              <a:buNone/>
            </a:pPr>
            <a:r>
              <a:rPr lang="en-US" sz="1000" dirty="0">
                <a:solidFill>
                  <a:srgbClr val="6E737C"/>
                </a:solidFill>
                <a:latin typeface="Calibri" pitchFamily="34" charset="0"/>
                <a:ea typeface="Calibri" pitchFamily="34" charset="-122"/>
                <a:cs typeface="Calibri" pitchFamily="34" charset="-120"/>
              </a:rPr>
              <a:t>0.169</a:t>
            </a:r>
            <a:endParaRPr lang="en-US" sz="1000" dirty="0"/>
          </a:p>
        </p:txBody>
      </p:sp>
      <p:sp>
        <p:nvSpPr>
          <p:cNvPr id="39" name="Text 36"/>
          <p:cNvSpPr/>
          <p:nvPr/>
        </p:nvSpPr>
        <p:spPr>
          <a:xfrm>
            <a:off x="5394960" y="4343400"/>
            <a:ext cx="2743200" cy="274320"/>
          </a:xfrm>
          <a:prstGeom prst="rect">
            <a:avLst/>
          </a:prstGeom>
          <a:noFill/>
          <a:ln/>
        </p:spPr>
        <p:txBody>
          <a:bodyPr wrap="square" lIns="0" tIns="0" rIns="0" bIns="0" rtlCol="0" anchor="ctr"/>
          <a:lstStyle/>
          <a:p>
            <a:pPr indent="0" marL="0">
              <a:buNone/>
            </a:pPr>
            <a:r>
              <a:rPr lang="en-US" sz="950" i="1" dirty="0">
                <a:solidFill>
                  <a:srgbClr val="6E737C"/>
                </a:solidFill>
                <a:latin typeface="Calibri" pitchFamily="34" charset="0"/>
                <a:ea typeface="Calibri" pitchFamily="34" charset="-122"/>
                <a:cs typeface="Calibri" pitchFamily="34" charset="-120"/>
              </a:rPr>
              <a:t>household-level care burden</a:t>
            </a:r>
            <a:endParaRPr lang="en-US" sz="950" dirty="0"/>
          </a:p>
        </p:txBody>
      </p:sp>
      <p:sp>
        <p:nvSpPr>
          <p:cNvPr id="40" name="Text 37"/>
          <p:cNvSpPr/>
          <p:nvPr/>
        </p:nvSpPr>
        <p:spPr>
          <a:xfrm>
            <a:off x="8229600" y="1691640"/>
            <a:ext cx="4572000" cy="365760"/>
          </a:xfrm>
          <a:prstGeom prst="rect">
            <a:avLst/>
          </a:prstGeom>
          <a:noFill/>
          <a:ln/>
        </p:spPr>
        <p:txBody>
          <a:bodyPr wrap="square" lIns="0" tIns="0" rIns="0" bIns="0" rtlCol="0" anchor="ctr"/>
          <a:lstStyle/>
          <a:p>
            <a:pPr indent="0" marL="0">
              <a:buNone/>
            </a:pPr>
            <a:r>
              <a:rPr lang="en-US" sz="1200" b="1" spc="300" kern="0" dirty="0">
                <a:solidFill>
                  <a:srgbClr val="6E737C"/>
                </a:solidFill>
                <a:latin typeface="Calibri" pitchFamily="34" charset="0"/>
                <a:ea typeface="Calibri" pitchFamily="34" charset="-122"/>
                <a:cs typeface="Calibri" pitchFamily="34" charset="-120"/>
              </a:rPr>
              <a:t>Equity disaggregation (gradient boosting OOF AUC)</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0" y="2103120"/>
          <a:ext cx="3657600" cy="2377440"/>
        </p:xfrm>
        <a:graphic>
          <a:graphicData uri="http://schemas.openxmlformats.org/drawingml/2006/table">
            <a:tbl>
              <a:tblPr/>
              <a:tblGrid>
                <a:gridCol w="1645920"/>
                <a:gridCol w="822960"/>
                <a:gridCol w="1188720"/>
              </a:tblGrid>
              <a:tr h="329184">
                <a:tc>
                  <a:txBody>
                    <a:bodyPr/>
                    <a:lstStyle/>
                    <a:p>
                      <a:pPr indent="0" marL="0">
                        <a:buNone/>
                      </a:pPr>
                      <a:r>
                        <a:rPr lang="en-US" sz="1100" b="1" dirty="0">
                          <a:solidFill>
                            <a:srgbClr val="1F2228"/>
                          </a:solidFill>
                          <a:latin typeface="Calibri" pitchFamily="34" charset="0"/>
                          <a:ea typeface="Calibri" pitchFamily="34" charset="-122"/>
                          <a:cs typeface="Calibri" pitchFamily="34" charset="-120"/>
                        </a:rPr>
                        <a:t>Stratum</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r>
              <a:tr h="329184">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Non-tribal</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4,566</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b="1" dirty="0">
                          <a:solidFill>
                            <a:srgbClr val="3F6B47"/>
                          </a:solidFill>
                          <a:latin typeface="Calibri" pitchFamily="34" charset="0"/>
                          <a:ea typeface="Calibri" pitchFamily="34" charset="-122"/>
                          <a:cs typeface="Calibri" pitchFamily="34" charset="-120"/>
                        </a:rPr>
                        <a:t>0.909</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29184">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Tribal land</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b="1" dirty="0">
                          <a:solidFill>
                            <a:srgbClr val="AB0520"/>
                          </a:solidFill>
                          <a:latin typeface="Calibri" pitchFamily="34" charset="0"/>
                          <a:ea typeface="Calibri" pitchFamily="34" charset="-122"/>
                          <a:cs typeface="Calibri" pitchFamily="34" charset="-120"/>
                        </a:rPr>
                        <a:t>0.769</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29184">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Rural ZIPs</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0.833</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29184">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Urban ZIPs</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4,466</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0.915</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29184">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Human</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3,548</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0.918</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29184">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Animal</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1,128</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0.892</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bl>
          </a:graphicData>
        </a:graphic>
      </p:graphicFrame>
      <p:sp>
        <p:nvSpPr>
          <p:cNvPr id="42" name="Shape 38"/>
          <p:cNvSpPr/>
          <p:nvPr/>
        </p:nvSpPr>
        <p:spPr>
          <a:xfrm>
            <a:off x="548640" y="5166360"/>
            <a:ext cx="11094415" cy="1325880"/>
          </a:xfrm>
          <a:prstGeom prst="rect">
            <a:avLst/>
          </a:prstGeom>
          <a:solidFill>
            <a:srgbClr val="F4F1EA"/>
          </a:solidFill>
          <a:ln w="19050">
            <a:solidFill>
              <a:srgbClr val="AB0520"/>
            </a:solidFill>
            <a:prstDash val="solid"/>
          </a:ln>
        </p:spPr>
      </p:sp>
      <p:sp>
        <p:nvSpPr>
          <p:cNvPr id="43" name="Text 39"/>
          <p:cNvSpPr/>
          <p:nvPr/>
        </p:nvSpPr>
        <p:spPr>
          <a:xfrm>
            <a:off x="731520" y="5257800"/>
            <a:ext cx="2743200" cy="320040"/>
          </a:xfrm>
          <a:prstGeom prst="rect">
            <a:avLst/>
          </a:prstGeom>
          <a:noFill/>
          <a:ln/>
        </p:spPr>
        <p:txBody>
          <a:bodyPr wrap="square" lIns="0" tIns="0" rIns="0" bIns="0" rtlCol="0" anchor="ctr"/>
          <a:lstStyle/>
          <a:p>
            <a:pPr indent="0" marL="0">
              <a:buNone/>
            </a:pPr>
            <a:r>
              <a:rPr lang="en-US" sz="1300" b="1" dirty="0">
                <a:solidFill>
                  <a:srgbClr val="AB0520"/>
                </a:solidFill>
                <a:latin typeface="Georgia" pitchFamily="34" charset="0"/>
                <a:ea typeface="Georgia" pitchFamily="34" charset="-122"/>
                <a:cs typeface="Georgia" pitchFamily="34" charset="-120"/>
              </a:rPr>
              <a:t>Equity finding</a:t>
            </a:r>
            <a:endParaRPr lang="en-US" sz="1300" dirty="0"/>
          </a:p>
        </p:txBody>
      </p:sp>
      <p:sp>
        <p:nvSpPr>
          <p:cNvPr id="44" name="Text 40"/>
          <p:cNvSpPr/>
          <p:nvPr/>
        </p:nvSpPr>
        <p:spPr>
          <a:xfrm>
            <a:off x="731520" y="5577840"/>
            <a:ext cx="10728655" cy="868680"/>
          </a:xfrm>
          <a:prstGeom prst="rect">
            <a:avLst/>
          </a:prstGeom>
          <a:noFill/>
          <a:ln/>
        </p:spPr>
        <p:txBody>
          <a:bodyPr wrap="square" lIns="0" tIns="0" rIns="0" bIns="0" rtlCol="0" anchor="t"/>
          <a:lstStyle/>
          <a:p>
            <a:pPr indent="0" marL="0">
              <a:buNone/>
            </a:pPr>
            <a:r>
              <a:rPr lang="en-US" sz="1100" dirty="0">
                <a:solidFill>
                  <a:srgbClr val="1F2228"/>
                </a:solidFill>
                <a:latin typeface="Calibri" pitchFamily="34" charset="0"/>
                <a:ea typeface="Calibri" pitchFamily="34" charset="-122"/>
                <a:cs typeface="Calibri" pitchFamily="34" charset="-120"/>
              </a:rPr>
              <a:t>Tribal-land counties (n=110) show ROC-AUC 0.769 versus 0.909 in non-tribal counties (n=4,566) — a 14.0-percentage-point gap. Rural ZIPs (n=210) show 0.833 vs 0.915 in urban ZIPs (n=4,466) — an 8.2-percentage-point gap. Action items: (a) document both gaps in the model card; (b) prioritize tribal-land and rural case ascertainment in next iteration; (c) examine whether the gaps reflect feature-coverage differences or training-prevalence differences. Equity disparities hide inside uniform overall metrics — this is exactly why disaggregation is non-optional in PH machine learning.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PUBLIC-HEALTH METRICS</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Contact tracing · risk-triaged sensitivity · lead time</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2670734" cy="868680"/>
          </a:xfrm>
          <a:prstGeom prst="rect">
            <a:avLst/>
          </a:prstGeom>
          <a:noFill/>
          <a:ln/>
        </p:spPr>
        <p:txBody>
          <a:bodyPr wrap="square" lIns="0" tIns="0" rIns="0" bIns="0" rtlCol="0" anchor="ctr"/>
          <a:lstStyle/>
          <a:p>
            <a:pPr algn="l" indent="0" marL="0">
              <a:buNone/>
            </a:pPr>
            <a:r>
              <a:rPr lang="en-US" sz="3800" dirty="0">
                <a:solidFill>
                  <a:srgbClr val="AB0520"/>
                </a:solidFill>
                <a:latin typeface="Georgia" pitchFamily="34" charset="0"/>
                <a:ea typeface="Georgia" pitchFamily="34" charset="-122"/>
                <a:cs typeface="Georgia" pitchFamily="34" charset="-120"/>
              </a:rPr>
              <a:t>8</a:t>
            </a:r>
            <a:endParaRPr lang="en-US" sz="3800" dirty="0"/>
          </a:p>
        </p:txBody>
      </p:sp>
      <p:sp>
        <p:nvSpPr>
          <p:cNvPr id="8" name="Text 5"/>
          <p:cNvSpPr/>
          <p:nvPr/>
        </p:nvSpPr>
        <p:spPr>
          <a:xfrm>
            <a:off x="548640" y="2606040"/>
            <a:ext cx="2670734" cy="274320"/>
          </a:xfrm>
          <a:prstGeom prst="rect">
            <a:avLst/>
          </a:prstGeom>
          <a:noFill/>
          <a:ln/>
        </p:spPr>
        <p:txBody>
          <a:bodyPr wrap="square" lIns="0" tIns="0" rIns="0" bIns="0" rtlCol="0" anchor="ctr"/>
          <a:lstStyle/>
          <a:p>
            <a:pPr algn="l" indent="0" marL="0">
              <a:buNone/>
            </a:pPr>
            <a:r>
              <a:rPr lang="en-US" sz="1000" b="1" spc="300" kern="0" dirty="0">
                <a:solidFill>
                  <a:srgbClr val="6E737C"/>
                </a:solidFill>
                <a:latin typeface="Calibri" pitchFamily="34" charset="0"/>
                <a:ea typeface="Calibri" pitchFamily="34" charset="-122"/>
                <a:cs typeface="Calibri" pitchFamily="34" charset="-120"/>
              </a:rPr>
              <a:t>Index cases (top-K)</a:t>
            </a:r>
            <a:endParaRPr lang="en-US" sz="1000" dirty="0"/>
          </a:p>
        </p:txBody>
      </p:sp>
      <p:sp>
        <p:nvSpPr>
          <p:cNvPr id="9" name="Text 6"/>
          <p:cNvSpPr/>
          <p:nvPr/>
        </p:nvSpPr>
        <p:spPr>
          <a:xfrm>
            <a:off x="3356534" y="1691640"/>
            <a:ext cx="2670734" cy="868680"/>
          </a:xfrm>
          <a:prstGeom prst="rect">
            <a:avLst/>
          </a:prstGeom>
          <a:noFill/>
          <a:ln/>
        </p:spPr>
        <p:txBody>
          <a:bodyPr wrap="square" lIns="0" tIns="0" rIns="0" bIns="0" rtlCol="0" anchor="ctr"/>
          <a:lstStyle/>
          <a:p>
            <a:pPr algn="l" indent="0" marL="0">
              <a:buNone/>
            </a:pPr>
            <a:r>
              <a:rPr lang="en-US" sz="3800" dirty="0">
                <a:solidFill>
                  <a:srgbClr val="AB0520"/>
                </a:solidFill>
                <a:latin typeface="Georgia" pitchFamily="34" charset="0"/>
                <a:ea typeface="Georgia" pitchFamily="34" charset="-122"/>
                <a:cs typeface="Georgia" pitchFamily="34" charset="-120"/>
              </a:rPr>
              <a:t>1,371</a:t>
            </a:r>
            <a:endParaRPr lang="en-US" sz="3800" dirty="0"/>
          </a:p>
        </p:txBody>
      </p:sp>
      <p:sp>
        <p:nvSpPr>
          <p:cNvPr id="10" name="Text 7"/>
          <p:cNvSpPr/>
          <p:nvPr/>
        </p:nvSpPr>
        <p:spPr>
          <a:xfrm>
            <a:off x="3356534" y="2606040"/>
            <a:ext cx="2670734" cy="274320"/>
          </a:xfrm>
          <a:prstGeom prst="rect">
            <a:avLst/>
          </a:prstGeom>
          <a:noFill/>
          <a:ln/>
        </p:spPr>
        <p:txBody>
          <a:bodyPr wrap="square" lIns="0" tIns="0" rIns="0" bIns="0" rtlCol="0" anchor="ctr"/>
          <a:lstStyle/>
          <a:p>
            <a:pPr algn="l" indent="0" marL="0">
              <a:buNone/>
            </a:pPr>
            <a:r>
              <a:rPr lang="en-US" sz="1000" b="1" spc="300" kern="0" dirty="0">
                <a:solidFill>
                  <a:srgbClr val="6E737C"/>
                </a:solidFill>
                <a:latin typeface="Calibri" pitchFamily="34" charset="0"/>
                <a:ea typeface="Calibri" pitchFamily="34" charset="-122"/>
                <a:cs typeface="Calibri" pitchFamily="34" charset="-120"/>
              </a:rPr>
              <a:t>Tier-1 contacts surfaced</a:t>
            </a:r>
            <a:endParaRPr lang="en-US" sz="1000" dirty="0"/>
          </a:p>
        </p:txBody>
      </p:sp>
      <p:sp>
        <p:nvSpPr>
          <p:cNvPr id="11" name="Text 8"/>
          <p:cNvSpPr/>
          <p:nvPr/>
        </p:nvSpPr>
        <p:spPr>
          <a:xfrm>
            <a:off x="6164428" y="1691640"/>
            <a:ext cx="2670734" cy="868680"/>
          </a:xfrm>
          <a:prstGeom prst="rect">
            <a:avLst/>
          </a:prstGeom>
          <a:noFill/>
          <a:ln/>
        </p:spPr>
        <p:txBody>
          <a:bodyPr wrap="square" lIns="0" tIns="0" rIns="0" bIns="0" rtlCol="0" anchor="ctr"/>
          <a:lstStyle/>
          <a:p>
            <a:pPr algn="l" indent="0" marL="0">
              <a:buNone/>
            </a:pPr>
            <a:r>
              <a:rPr lang="en-US" sz="3800" dirty="0">
                <a:solidFill>
                  <a:srgbClr val="AB0520"/>
                </a:solidFill>
                <a:latin typeface="Georgia" pitchFamily="34" charset="0"/>
                <a:ea typeface="Georgia" pitchFamily="34" charset="-122"/>
                <a:cs typeface="Georgia" pitchFamily="34" charset="-120"/>
              </a:rPr>
              <a:t>100%</a:t>
            </a:r>
            <a:endParaRPr lang="en-US" sz="3800" dirty="0"/>
          </a:p>
        </p:txBody>
      </p:sp>
      <p:sp>
        <p:nvSpPr>
          <p:cNvPr id="12" name="Text 9"/>
          <p:cNvSpPr/>
          <p:nvPr/>
        </p:nvSpPr>
        <p:spPr>
          <a:xfrm>
            <a:off x="6164428" y="2606040"/>
            <a:ext cx="2670734" cy="274320"/>
          </a:xfrm>
          <a:prstGeom prst="rect">
            <a:avLst/>
          </a:prstGeom>
          <a:noFill/>
          <a:ln/>
        </p:spPr>
        <p:txBody>
          <a:bodyPr wrap="square" lIns="0" tIns="0" rIns="0" bIns="0" rtlCol="0" anchor="ctr"/>
          <a:lstStyle/>
          <a:p>
            <a:pPr algn="l" indent="0" marL="0">
              <a:buNone/>
            </a:pPr>
            <a:r>
              <a:rPr lang="en-US" sz="1000" b="1" spc="300" kern="0" dirty="0">
                <a:solidFill>
                  <a:srgbClr val="6E737C"/>
                </a:solidFill>
                <a:latin typeface="Calibri" pitchFamily="34" charset="0"/>
                <a:ea typeface="Calibri" pitchFamily="34" charset="-122"/>
                <a:cs typeface="Calibri" pitchFamily="34" charset="-120"/>
              </a:rPr>
              <a:t>Sensitivity at thresh ≥ 0.20</a:t>
            </a:r>
            <a:endParaRPr lang="en-US" sz="1000" dirty="0"/>
          </a:p>
        </p:txBody>
      </p:sp>
      <p:sp>
        <p:nvSpPr>
          <p:cNvPr id="13" name="Text 10"/>
          <p:cNvSpPr/>
          <p:nvPr/>
        </p:nvSpPr>
        <p:spPr>
          <a:xfrm>
            <a:off x="8972321" y="1691640"/>
            <a:ext cx="2670734" cy="868680"/>
          </a:xfrm>
          <a:prstGeom prst="rect">
            <a:avLst/>
          </a:prstGeom>
          <a:noFill/>
          <a:ln/>
        </p:spPr>
        <p:txBody>
          <a:bodyPr wrap="square" lIns="0" tIns="0" rIns="0" bIns="0" rtlCol="0" anchor="ctr"/>
          <a:lstStyle/>
          <a:p>
            <a:pPr algn="l" indent="0" marL="0">
              <a:buNone/>
            </a:pPr>
            <a:r>
              <a:rPr lang="en-US" sz="3800" dirty="0">
                <a:solidFill>
                  <a:srgbClr val="AB0520"/>
                </a:solidFill>
                <a:latin typeface="Georgia" pitchFamily="34" charset="0"/>
                <a:ea typeface="Georgia" pitchFamily="34" charset="-122"/>
                <a:cs typeface="Georgia" pitchFamily="34" charset="-120"/>
              </a:rPr>
              <a:t>80%</a:t>
            </a:r>
            <a:endParaRPr lang="en-US" sz="3800" dirty="0"/>
          </a:p>
        </p:txBody>
      </p:sp>
      <p:sp>
        <p:nvSpPr>
          <p:cNvPr id="14" name="Text 11"/>
          <p:cNvSpPr/>
          <p:nvPr/>
        </p:nvSpPr>
        <p:spPr>
          <a:xfrm>
            <a:off x="8972321" y="2606040"/>
            <a:ext cx="2670734" cy="274320"/>
          </a:xfrm>
          <a:prstGeom prst="rect">
            <a:avLst/>
          </a:prstGeom>
          <a:noFill/>
          <a:ln/>
        </p:spPr>
        <p:txBody>
          <a:bodyPr wrap="square" lIns="0" tIns="0" rIns="0" bIns="0" rtlCol="0" anchor="ctr"/>
          <a:lstStyle/>
          <a:p>
            <a:pPr algn="l" indent="0" marL="0">
              <a:buNone/>
            </a:pPr>
            <a:r>
              <a:rPr lang="en-US" sz="1000" b="1" spc="300" kern="0" dirty="0">
                <a:solidFill>
                  <a:srgbClr val="6E737C"/>
                </a:solidFill>
                <a:latin typeface="Calibri" pitchFamily="34" charset="0"/>
                <a:ea typeface="Calibri" pitchFamily="34" charset="-122"/>
                <a:cs typeface="Calibri" pitchFamily="34" charset="-120"/>
              </a:rPr>
              <a:t>Precision at thresh ≥ 0.50</a:t>
            </a:r>
            <a:endParaRPr lang="en-US" sz="1000" dirty="0"/>
          </a:p>
        </p:txBody>
      </p:sp>
      <p:sp>
        <p:nvSpPr>
          <p:cNvPr id="15" name="Text 12"/>
          <p:cNvSpPr/>
          <p:nvPr/>
        </p:nvSpPr>
        <p:spPr>
          <a:xfrm>
            <a:off x="548640" y="3108960"/>
            <a:ext cx="11094415" cy="274320"/>
          </a:xfrm>
          <a:prstGeom prst="rect">
            <a:avLst/>
          </a:prstGeom>
          <a:noFill/>
          <a:ln/>
        </p:spPr>
        <p:txBody>
          <a:bodyPr wrap="square" lIns="0" tIns="0" rIns="0" bIns="0" rtlCol="0" anchor="ctr"/>
          <a:lstStyle/>
          <a:p>
            <a:pPr indent="0" marL="0">
              <a:buNone/>
            </a:pPr>
            <a:r>
              <a:rPr lang="en-US" sz="1200" b="1" spc="300" kern="0" dirty="0">
                <a:solidFill>
                  <a:srgbClr val="6E737C"/>
                </a:solidFill>
                <a:latin typeface="Calibri" pitchFamily="34" charset="0"/>
                <a:ea typeface="Calibri" pitchFamily="34" charset="-122"/>
                <a:cs typeface="Calibri" pitchFamily="34" charset="-120"/>
              </a:rPr>
              <a:t>Risk-triaged contact tracing (sensitivity vs. operational burden)</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1554480"/>
        </p:xfrm>
        <a:graphic>
          <a:graphicData uri="http://schemas.openxmlformats.org/drawingml/2006/table">
            <a:tbl>
              <a:tblPr/>
              <a:tblGrid>
                <a:gridCol w="1371600"/>
                <a:gridCol w="1280160"/>
                <a:gridCol w="822960"/>
                <a:gridCol w="1097280"/>
                <a:gridCol w="1554480"/>
                <a:gridCol w="1554480"/>
                <a:gridCol w="1280160"/>
                <a:gridCol w="1280160"/>
              </a:tblGrid>
              <a:tr h="365760">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Threshold</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Flagged</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TP</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FP</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Sensitivity</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algn="r" indent="0" marL="0">
                        <a:buNone/>
                      </a:pPr>
                      <a:r>
                        <a:rPr lang="en-US" sz="1100" b="1" dirty="0">
                          <a:solidFill>
                            <a:srgbClr val="1F2228"/>
                          </a:solidFill>
                          <a:latin typeface="Calibri" pitchFamily="34" charset="0"/>
                          <a:ea typeface="Calibri" pitchFamily="34" charset="-122"/>
                          <a:cs typeface="Calibri" pitchFamily="34" charset="-120"/>
                        </a:rPr>
                        <a:t>Lead time</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r>
              <a:tr h="365760">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0.05</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1,371</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1,363</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AB0520"/>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6d</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65760">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21.1%</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34.8%</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6d</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65760">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b="1" dirty="0">
                          <a:solidFill>
                            <a:srgbClr val="3F6B47"/>
                          </a:solidFill>
                          <a:latin typeface="Calibri" pitchFamily="34" charset="0"/>
                          <a:ea typeface="Calibri" pitchFamily="34" charset="-122"/>
                          <a:cs typeface="Calibri" pitchFamily="34" charset="-120"/>
                        </a:rPr>
                        <a:t>80.0%</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88.9%</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algn="r" indent="0" marL="0">
                        <a:buNone/>
                      </a:pPr>
                      <a:r>
                        <a:rPr lang="en-US" sz="1100" dirty="0">
                          <a:solidFill>
                            <a:srgbClr val="1F2228"/>
                          </a:solidFill>
                          <a:latin typeface="Calibri" pitchFamily="34" charset="0"/>
                          <a:ea typeface="Calibri" pitchFamily="34" charset="-122"/>
                          <a:cs typeface="Calibri" pitchFamily="34" charset="-120"/>
                        </a:rPr>
                        <a:t>6d</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bl>
          </a:graphicData>
        </a:graphic>
      </p:graphicFrame>
      <p:sp>
        <p:nvSpPr>
          <p:cNvPr id="17" name="Shape 13"/>
          <p:cNvSpPr/>
          <p:nvPr/>
        </p:nvSpPr>
        <p:spPr>
          <a:xfrm>
            <a:off x="548640" y="5212080"/>
            <a:ext cx="5486400" cy="1325880"/>
          </a:xfrm>
          <a:prstGeom prst="rect">
            <a:avLst/>
          </a:prstGeom>
          <a:solidFill>
            <a:srgbClr val="F4F1EA"/>
          </a:solidFill>
          <a:ln w="19050">
            <a:solidFill>
              <a:srgbClr val="3F6B47"/>
            </a:solidFill>
            <a:prstDash val="solid"/>
          </a:ln>
        </p:spPr>
      </p:sp>
      <p:sp>
        <p:nvSpPr>
          <p:cNvPr id="18" name="Text 14"/>
          <p:cNvSpPr/>
          <p:nvPr/>
        </p:nvSpPr>
        <p:spPr>
          <a:xfrm>
            <a:off x="731520" y="5303520"/>
            <a:ext cx="3657600" cy="320040"/>
          </a:xfrm>
          <a:prstGeom prst="rect">
            <a:avLst/>
          </a:prstGeom>
          <a:noFill/>
          <a:ln/>
        </p:spPr>
        <p:txBody>
          <a:bodyPr wrap="square" lIns="0" tIns="0" rIns="0" bIns="0" rtlCol="0" anchor="ctr"/>
          <a:lstStyle/>
          <a:p>
            <a:pPr indent="0" marL="0">
              <a:buNone/>
            </a:pPr>
            <a:r>
              <a:rPr lang="en-US" sz="1300" b="1" dirty="0">
                <a:solidFill>
                  <a:srgbClr val="3F6B47"/>
                </a:solidFill>
                <a:latin typeface="Georgia" pitchFamily="34" charset="0"/>
                <a:ea typeface="Georgia" pitchFamily="34" charset="-122"/>
                <a:cs typeface="Georgia" pitchFamily="34" charset="-120"/>
              </a:rPr>
              <a:t>Lead-time analysis</a:t>
            </a:r>
            <a:endParaRPr lang="en-US" sz="1300" dirty="0"/>
          </a:p>
        </p:txBody>
      </p:sp>
      <p:sp>
        <p:nvSpPr>
          <p:cNvPr id="19" name="Text 15"/>
          <p:cNvSpPr/>
          <p:nvPr/>
        </p:nvSpPr>
        <p:spPr>
          <a:xfrm>
            <a:off x="731520" y="5623560"/>
            <a:ext cx="5166360" cy="822960"/>
          </a:xfrm>
          <a:prstGeom prst="rect">
            <a:avLst/>
          </a:prstGeom>
          <a:noFill/>
          <a:ln/>
        </p:spPr>
        <p:txBody>
          <a:bodyPr wrap="square" lIns="0" tIns="0" rIns="0" bIns="0" rtlCol="0" anchor="t"/>
          <a:lstStyle/>
          <a:p>
            <a:pPr indent="0" marL="0">
              <a:buNone/>
            </a:pPr>
            <a:r>
              <a:rPr lang="en-US" sz="1050" dirty="0">
                <a:solidFill>
                  <a:srgbClr val="1F2228"/>
                </a:solidFill>
                <a:latin typeface="Calibri" pitchFamily="34" charset="0"/>
                <a:ea typeface="Calibri" pitchFamily="34" charset="-122"/>
                <a:cs typeface="Calibri" pitchFamily="34" charset="-120"/>
              </a:rPr>
              <a:t>Hernandez household: 71 days. Model risk crossed 0.044 on 2026-02-03 — Carlos's first elevated-risk encounter — versus traditional confirmation date 2026-04-15. ArboNET-equivalent baseline: 0d.</a:t>
            </a:r>
            <a:endParaRPr lang="en-US" sz="1050" dirty="0"/>
          </a:p>
        </p:txBody>
      </p:sp>
      <p:sp>
        <p:nvSpPr>
          <p:cNvPr id="20" name="Shape 16"/>
          <p:cNvSpPr/>
          <p:nvPr/>
        </p:nvSpPr>
        <p:spPr>
          <a:xfrm>
            <a:off x="6400800" y="5212080"/>
            <a:ext cx="5212080" cy="1325880"/>
          </a:xfrm>
          <a:prstGeom prst="rect">
            <a:avLst/>
          </a:prstGeom>
          <a:solidFill>
            <a:srgbClr val="F4F1EA"/>
          </a:solidFill>
          <a:ln w="19050">
            <a:solidFill>
              <a:srgbClr val="D89F2E"/>
            </a:solidFill>
            <a:prstDash val="solid"/>
          </a:ln>
        </p:spPr>
      </p:sp>
      <p:sp>
        <p:nvSpPr>
          <p:cNvPr id="21" name="Text 17"/>
          <p:cNvSpPr/>
          <p:nvPr/>
        </p:nvSpPr>
        <p:spPr>
          <a:xfrm>
            <a:off x="6583680" y="5303520"/>
            <a:ext cx="3657600" cy="320040"/>
          </a:xfrm>
          <a:prstGeom prst="rect">
            <a:avLst/>
          </a:prstGeom>
          <a:noFill/>
          <a:ln/>
        </p:spPr>
        <p:txBody>
          <a:bodyPr wrap="square" lIns="0" tIns="0" rIns="0" bIns="0" rtlCol="0" anchor="ctr"/>
          <a:lstStyle/>
          <a:p>
            <a:pPr indent="0" marL="0">
              <a:buNone/>
            </a:pPr>
            <a:r>
              <a:rPr lang="en-US" sz="1300" b="1" dirty="0">
                <a:solidFill>
                  <a:srgbClr val="D89F2E"/>
                </a:solidFill>
                <a:latin typeface="Georgia" pitchFamily="34" charset="0"/>
                <a:ea typeface="Georgia" pitchFamily="34" charset="-122"/>
                <a:cs typeface="Georgia" pitchFamily="34" charset="-120"/>
              </a:rPr>
              <a:t>Honest caveats</a:t>
            </a:r>
            <a:endParaRPr lang="en-US" sz="1300" dirty="0"/>
          </a:p>
        </p:txBody>
      </p:sp>
      <p:sp>
        <p:nvSpPr>
          <p:cNvPr id="22" name="Text 18"/>
          <p:cNvSpPr/>
          <p:nvPr/>
        </p:nvSpPr>
        <p:spPr>
          <a:xfrm>
            <a:off x="6583680" y="5623560"/>
            <a:ext cx="4892040" cy="822960"/>
          </a:xfrm>
          <a:prstGeom prst="rect">
            <a:avLst/>
          </a:prstGeom>
          <a:noFill/>
          <a:ln/>
        </p:spPr>
        <p:txBody>
          <a:bodyPr wrap="square" lIns="0" tIns="0" rIns="0" bIns="0" rtlCol="0" anchor="t"/>
          <a:lstStyle/>
          <a:p>
            <a:pPr indent="0" marL="0">
              <a:buNone/>
            </a:pPr>
            <a:r>
              <a:rPr lang="en-US" sz="1050" dirty="0">
                <a:solidFill>
                  <a:srgbClr val="4A4F58"/>
                </a:solidFill>
                <a:latin typeface="Calibri" pitchFamily="34" charset="0"/>
                <a:ea typeface="Calibri" pitchFamily="34" charset="-122"/>
                <a:cs typeface="Calibri" pitchFamily="34" charset="-120"/>
              </a:rPr>
              <a:t>(a) 7 pre-index positives are uncatchable by prospective tracing. (b) Lead time achieved in 1 of 11 scenarios — synthetic data clusters confirmation dates. (c) Day-of-year dominates SHAP — partly an artifact of clustered outbreaks in April 2026.</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PHASE 3 · PRIVACY ARCHITECTURE</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Swarm learning · DP-SGD · secure aggregation · Laplace</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11094415" cy="777240"/>
          </a:xfrm>
          <a:prstGeom prst="rect">
            <a:avLst/>
          </a:prstGeom>
          <a:noFill/>
          <a:ln/>
        </p:spPr>
        <p:txBody>
          <a:bodyPr wrap="square" lIns="0" tIns="0" rIns="0" bIns="0" rtlCol="0" anchor="t"/>
          <a:lstStyle/>
          <a:p>
            <a:pPr indent="0" marL="0">
              <a:buNone/>
            </a:pPr>
            <a:r>
              <a:rPr lang="en-US" sz="1200" i="1" dirty="0">
                <a:solidFill>
                  <a:srgbClr val="4A4F58"/>
                </a:solidFill>
                <a:latin typeface="Calibri" pitchFamily="34" charset="0"/>
                <a:ea typeface="Calibri" pitchFamily="34" charset="-122"/>
                <a:cs typeface="Calibri" pitchFamily="34" charset="-120"/>
              </a:rPr>
              <a:t>Lecturer's concern: a One Health network spans hospitals, vet clinics, ADHS, USDA APHIS, tribal-health authorities. None should be required to designate one of the others as the trusted aggregator. The architecture below makes that requirement unnecessary.</a:t>
            </a:r>
            <a:endParaRPr lang="en-US" sz="1200" dirty="0"/>
          </a:p>
        </p:txBody>
      </p:sp>
      <p:sp>
        <p:nvSpPr>
          <p:cNvPr id="8" name="Shape 5"/>
          <p:cNvSpPr/>
          <p:nvPr/>
        </p:nvSpPr>
        <p:spPr>
          <a:xfrm>
            <a:off x="548640" y="2606040"/>
            <a:ext cx="11094415" cy="594360"/>
          </a:xfrm>
          <a:prstGeom prst="rect">
            <a:avLst/>
          </a:prstGeom>
          <a:solidFill>
            <a:srgbClr val="F4F1EA"/>
          </a:solidFill>
          <a:ln w="12700">
            <a:solidFill>
              <a:srgbClr val="D89F2E"/>
            </a:solidFill>
            <a:prstDash val="solid"/>
          </a:ln>
        </p:spPr>
      </p:sp>
      <p:sp>
        <p:nvSpPr>
          <p:cNvPr id="9" name="Text 6"/>
          <p:cNvSpPr/>
          <p:nvPr/>
        </p:nvSpPr>
        <p:spPr>
          <a:xfrm>
            <a:off x="685800" y="2697480"/>
            <a:ext cx="640080" cy="411480"/>
          </a:xfrm>
          <a:prstGeom prst="rect">
            <a:avLst/>
          </a:prstGeom>
          <a:noFill/>
          <a:ln/>
        </p:spPr>
        <p:txBody>
          <a:bodyPr wrap="square" lIns="0" tIns="0" rIns="0" bIns="0" rtlCol="0" anchor="ctr"/>
          <a:lstStyle/>
          <a:p>
            <a:pPr indent="0" marL="0">
              <a:buNone/>
            </a:pPr>
            <a:r>
              <a:rPr lang="en-US" sz="1800" b="1" dirty="0">
                <a:solidFill>
                  <a:srgbClr val="D89F2E"/>
                </a:solidFill>
                <a:latin typeface="Georgia" pitchFamily="34" charset="0"/>
                <a:ea typeface="Georgia" pitchFamily="34" charset="-122"/>
                <a:cs typeface="Georgia" pitchFamily="34" charset="-120"/>
              </a:rPr>
              <a:t>L4</a:t>
            </a:r>
            <a:endParaRPr lang="en-US" sz="1800" dirty="0"/>
          </a:p>
        </p:txBody>
      </p:sp>
      <p:sp>
        <p:nvSpPr>
          <p:cNvPr id="10" name="Text 7"/>
          <p:cNvSpPr/>
          <p:nvPr/>
        </p:nvSpPr>
        <p:spPr>
          <a:xfrm>
            <a:off x="1417320" y="2660904"/>
            <a:ext cx="6858000" cy="274320"/>
          </a:xfrm>
          <a:prstGeom prst="rect">
            <a:avLst/>
          </a:prstGeom>
          <a:noFill/>
          <a:ln/>
        </p:spPr>
        <p:txBody>
          <a:bodyPr wrap="square" lIns="0" tIns="0" rIns="0" bIns="0" rtlCol="0" anchor="ctr"/>
          <a:lstStyle/>
          <a:p>
            <a:pPr indent="0" marL="0">
              <a:buNone/>
            </a:pPr>
            <a:r>
              <a:rPr lang="en-US" sz="1200" b="1" dirty="0">
                <a:solidFill>
                  <a:srgbClr val="1F2228"/>
                </a:solidFill>
                <a:latin typeface="Calibri" pitchFamily="34" charset="0"/>
                <a:ea typeface="Calibri" pitchFamily="34" charset="-122"/>
                <a:cs typeface="Calibri" pitchFamily="34" charset="-120"/>
              </a:rPr>
              <a:t>Laplace mechanism on aggregate counts (output privacy)</a:t>
            </a:r>
            <a:endParaRPr lang="en-US" sz="1200" dirty="0"/>
          </a:p>
        </p:txBody>
      </p:sp>
      <p:sp>
        <p:nvSpPr>
          <p:cNvPr id="11" name="Text 8"/>
          <p:cNvSpPr/>
          <p:nvPr/>
        </p:nvSpPr>
        <p:spPr>
          <a:xfrm>
            <a:off x="1417320" y="2935224"/>
            <a:ext cx="10515600" cy="274320"/>
          </a:xfrm>
          <a:prstGeom prst="rect">
            <a:avLst/>
          </a:prstGeom>
          <a:noFill/>
          <a:ln/>
        </p:spPr>
        <p:txBody>
          <a:bodyPr wrap="square" lIns="0" tIns="0" rIns="0" bIns="0" rtlCol="0" anchor="ctr"/>
          <a:lstStyle/>
          <a:p>
            <a:pPr indent="0" marL="0">
              <a:buNone/>
            </a:pPr>
            <a:r>
              <a:rPr lang="en-US" sz="1000" i="1" dirty="0">
                <a:solidFill>
                  <a:srgbClr val="4A4F58"/>
                </a:solidFill>
                <a:latin typeface="Calibri" pitchFamily="34" charset="0"/>
                <a:ea typeface="Calibri" pitchFamily="34" charset="-122"/>
                <a:cs typeface="Calibri" pitchFamily="34" charset="-120"/>
              </a:rPr>
              <a:t>ε = 1.0, sensitivity 1 · already shipped on Sentinel Alerts</a:t>
            </a:r>
            <a:endParaRPr lang="en-US" sz="1000" dirty="0"/>
          </a:p>
        </p:txBody>
      </p:sp>
      <p:sp>
        <p:nvSpPr>
          <p:cNvPr id="12" name="Shape 9"/>
          <p:cNvSpPr/>
          <p:nvPr/>
        </p:nvSpPr>
        <p:spPr>
          <a:xfrm>
            <a:off x="548640" y="3264408"/>
            <a:ext cx="11094415" cy="594360"/>
          </a:xfrm>
          <a:prstGeom prst="rect">
            <a:avLst/>
          </a:prstGeom>
          <a:solidFill>
            <a:srgbClr val="F4F1EA"/>
          </a:solidFill>
          <a:ln w="12700">
            <a:solidFill>
              <a:srgbClr val="3F6B47"/>
            </a:solidFill>
            <a:prstDash val="solid"/>
          </a:ln>
        </p:spPr>
      </p:sp>
      <p:sp>
        <p:nvSpPr>
          <p:cNvPr id="13" name="Text 10"/>
          <p:cNvSpPr/>
          <p:nvPr/>
        </p:nvSpPr>
        <p:spPr>
          <a:xfrm>
            <a:off x="685800" y="3355848"/>
            <a:ext cx="640080" cy="411480"/>
          </a:xfrm>
          <a:prstGeom prst="rect">
            <a:avLst/>
          </a:prstGeom>
          <a:noFill/>
          <a:ln/>
        </p:spPr>
        <p:txBody>
          <a:bodyPr wrap="square" lIns="0" tIns="0" rIns="0" bIns="0" rtlCol="0" anchor="ctr"/>
          <a:lstStyle/>
          <a:p>
            <a:pPr indent="0" marL="0">
              <a:buNone/>
            </a:pPr>
            <a:r>
              <a:rPr lang="en-US" sz="1800" b="1" dirty="0">
                <a:solidFill>
                  <a:srgbClr val="3F6B47"/>
                </a:solidFill>
                <a:latin typeface="Georgia" pitchFamily="34" charset="0"/>
                <a:ea typeface="Georgia" pitchFamily="34" charset="-122"/>
                <a:cs typeface="Georgia" pitchFamily="34" charset="-120"/>
              </a:rPr>
              <a:t>L3</a:t>
            </a:r>
            <a:endParaRPr lang="en-US" sz="1800" dirty="0"/>
          </a:p>
        </p:txBody>
      </p:sp>
      <p:sp>
        <p:nvSpPr>
          <p:cNvPr id="14" name="Text 11"/>
          <p:cNvSpPr/>
          <p:nvPr/>
        </p:nvSpPr>
        <p:spPr>
          <a:xfrm>
            <a:off x="1417320" y="3319272"/>
            <a:ext cx="6858000" cy="274320"/>
          </a:xfrm>
          <a:prstGeom prst="rect">
            <a:avLst/>
          </a:prstGeom>
          <a:noFill/>
          <a:ln/>
        </p:spPr>
        <p:txBody>
          <a:bodyPr wrap="square" lIns="0" tIns="0" rIns="0" bIns="0" rtlCol="0" anchor="ctr"/>
          <a:lstStyle/>
          <a:p>
            <a:pPr indent="0" marL="0">
              <a:buNone/>
            </a:pPr>
            <a:r>
              <a:rPr lang="en-US" sz="1200" b="1" dirty="0">
                <a:solidFill>
                  <a:srgbClr val="1F2228"/>
                </a:solidFill>
                <a:latin typeface="Calibri" pitchFamily="34" charset="0"/>
                <a:ea typeface="Calibri" pitchFamily="34" charset="-122"/>
                <a:cs typeface="Calibri" pitchFamily="34" charset="-120"/>
              </a:rPr>
              <a:t>Secure aggregation on weight exchange</a:t>
            </a:r>
            <a:endParaRPr lang="en-US" sz="1200" dirty="0"/>
          </a:p>
        </p:txBody>
      </p:sp>
      <p:sp>
        <p:nvSpPr>
          <p:cNvPr id="15" name="Text 12"/>
          <p:cNvSpPr/>
          <p:nvPr/>
        </p:nvSpPr>
        <p:spPr>
          <a:xfrm>
            <a:off x="1417320" y="3593592"/>
            <a:ext cx="10515600" cy="274320"/>
          </a:xfrm>
          <a:prstGeom prst="rect">
            <a:avLst/>
          </a:prstGeom>
          <a:noFill/>
          <a:ln/>
        </p:spPr>
        <p:txBody>
          <a:bodyPr wrap="square" lIns="0" tIns="0" rIns="0" bIns="0" rtlCol="0" anchor="ctr"/>
          <a:lstStyle/>
          <a:p>
            <a:pPr indent="0" marL="0">
              <a:buNone/>
            </a:pPr>
            <a:r>
              <a:rPr lang="en-US" sz="1000" i="1" dirty="0">
                <a:solidFill>
                  <a:srgbClr val="4A4F58"/>
                </a:solidFill>
                <a:latin typeface="Calibri" pitchFamily="34" charset="0"/>
                <a:ea typeface="Calibri" pitchFamily="34" charset="-122"/>
                <a:cs typeface="Calibri" pitchFamily="34" charset="-120"/>
              </a:rPr>
              <a:t>Bonawitz CCS'17 additive secret-sharing · only the SUM is reconstructible</a:t>
            </a:r>
            <a:endParaRPr lang="en-US" sz="1000" dirty="0"/>
          </a:p>
        </p:txBody>
      </p:sp>
      <p:sp>
        <p:nvSpPr>
          <p:cNvPr id="16" name="Shape 13"/>
          <p:cNvSpPr/>
          <p:nvPr/>
        </p:nvSpPr>
        <p:spPr>
          <a:xfrm>
            <a:off x="548640" y="3922776"/>
            <a:ext cx="11094415" cy="594360"/>
          </a:xfrm>
          <a:prstGeom prst="rect">
            <a:avLst/>
          </a:prstGeom>
          <a:solidFill>
            <a:srgbClr val="F4F1EA"/>
          </a:solidFill>
          <a:ln w="12700">
            <a:solidFill>
              <a:srgbClr val="1F4D7A"/>
            </a:solidFill>
            <a:prstDash val="solid"/>
          </a:ln>
        </p:spPr>
      </p:sp>
      <p:sp>
        <p:nvSpPr>
          <p:cNvPr id="17" name="Text 14"/>
          <p:cNvSpPr/>
          <p:nvPr/>
        </p:nvSpPr>
        <p:spPr>
          <a:xfrm>
            <a:off x="685800" y="4014216"/>
            <a:ext cx="640080" cy="411480"/>
          </a:xfrm>
          <a:prstGeom prst="rect">
            <a:avLst/>
          </a:prstGeom>
          <a:noFill/>
          <a:ln/>
        </p:spPr>
        <p:txBody>
          <a:bodyPr wrap="square" lIns="0" tIns="0" rIns="0" bIns="0" rtlCol="0" anchor="ctr"/>
          <a:lstStyle/>
          <a:p>
            <a:pPr indent="0" marL="0">
              <a:buNone/>
            </a:pPr>
            <a:r>
              <a:rPr lang="en-US" sz="1800" b="1" dirty="0">
                <a:solidFill>
                  <a:srgbClr val="1F4D7A"/>
                </a:solidFill>
                <a:latin typeface="Georgia" pitchFamily="34" charset="0"/>
                <a:ea typeface="Georgia" pitchFamily="34" charset="-122"/>
                <a:cs typeface="Georgia" pitchFamily="34" charset="-120"/>
              </a:rPr>
              <a:t>L2</a:t>
            </a:r>
            <a:endParaRPr lang="en-US" sz="1800" dirty="0"/>
          </a:p>
        </p:txBody>
      </p:sp>
      <p:sp>
        <p:nvSpPr>
          <p:cNvPr id="18" name="Text 15"/>
          <p:cNvSpPr/>
          <p:nvPr/>
        </p:nvSpPr>
        <p:spPr>
          <a:xfrm>
            <a:off x="1417320" y="3977640"/>
            <a:ext cx="6858000" cy="274320"/>
          </a:xfrm>
          <a:prstGeom prst="rect">
            <a:avLst/>
          </a:prstGeom>
          <a:noFill/>
          <a:ln/>
        </p:spPr>
        <p:txBody>
          <a:bodyPr wrap="square" lIns="0" tIns="0" rIns="0" bIns="0" rtlCol="0" anchor="ctr"/>
          <a:lstStyle/>
          <a:p>
            <a:pPr indent="0" marL="0">
              <a:buNone/>
            </a:pPr>
            <a:r>
              <a:rPr lang="en-US" sz="1200" b="1" dirty="0">
                <a:solidFill>
                  <a:srgbClr val="1F2228"/>
                </a:solidFill>
                <a:latin typeface="Calibri" pitchFamily="34" charset="0"/>
                <a:ea typeface="Calibri" pitchFamily="34" charset="-122"/>
                <a:cs typeface="Calibri" pitchFamily="34" charset="-120"/>
              </a:rPr>
              <a:t>DP-SGD inside each site's local training step</a:t>
            </a:r>
            <a:endParaRPr lang="en-US" sz="1200" dirty="0"/>
          </a:p>
        </p:txBody>
      </p:sp>
      <p:sp>
        <p:nvSpPr>
          <p:cNvPr id="19" name="Text 16"/>
          <p:cNvSpPr/>
          <p:nvPr/>
        </p:nvSpPr>
        <p:spPr>
          <a:xfrm>
            <a:off x="1417320" y="4251960"/>
            <a:ext cx="10515600" cy="274320"/>
          </a:xfrm>
          <a:prstGeom prst="rect">
            <a:avLst/>
          </a:prstGeom>
          <a:noFill/>
          <a:ln/>
        </p:spPr>
        <p:txBody>
          <a:bodyPr wrap="square" lIns="0" tIns="0" rIns="0" bIns="0" rtlCol="0" anchor="ctr"/>
          <a:lstStyle/>
          <a:p>
            <a:pPr indent="0" marL="0">
              <a:buNone/>
            </a:pPr>
            <a:r>
              <a:rPr lang="en-US" sz="1000" i="1" dirty="0">
                <a:solidFill>
                  <a:srgbClr val="4A4F58"/>
                </a:solidFill>
                <a:latin typeface="Calibri" pitchFamily="34" charset="0"/>
                <a:ea typeface="Calibri" pitchFamily="34" charset="-122"/>
                <a:cs typeface="Calibri" pitchFamily="34" charset="-120"/>
              </a:rPr>
              <a:t>Opacus · clip = 1.0 · σ = 1.1 · target (ε ≤ 8.0, δ = 1e-5)</a:t>
            </a:r>
            <a:endParaRPr lang="en-US" sz="1000" dirty="0"/>
          </a:p>
        </p:txBody>
      </p:sp>
      <p:sp>
        <p:nvSpPr>
          <p:cNvPr id="20" name="Shape 17"/>
          <p:cNvSpPr/>
          <p:nvPr/>
        </p:nvSpPr>
        <p:spPr>
          <a:xfrm>
            <a:off x="548640" y="4581144"/>
            <a:ext cx="11094415" cy="594360"/>
          </a:xfrm>
          <a:prstGeom prst="rect">
            <a:avLst/>
          </a:prstGeom>
          <a:solidFill>
            <a:srgbClr val="F4F1EA"/>
          </a:solidFill>
          <a:ln w="12700">
            <a:solidFill>
              <a:srgbClr val="0C234B"/>
            </a:solidFill>
            <a:prstDash val="solid"/>
          </a:ln>
        </p:spPr>
      </p:sp>
      <p:sp>
        <p:nvSpPr>
          <p:cNvPr id="21" name="Text 18"/>
          <p:cNvSpPr/>
          <p:nvPr/>
        </p:nvSpPr>
        <p:spPr>
          <a:xfrm>
            <a:off x="685800" y="4672584"/>
            <a:ext cx="640080" cy="411480"/>
          </a:xfrm>
          <a:prstGeom prst="rect">
            <a:avLst/>
          </a:prstGeom>
          <a:noFill/>
          <a:ln/>
        </p:spPr>
        <p:txBody>
          <a:bodyPr wrap="square" lIns="0" tIns="0" rIns="0" bIns="0" rtlCol="0" anchor="ctr"/>
          <a:lstStyle/>
          <a:p>
            <a:pPr indent="0" marL="0">
              <a:buNone/>
            </a:pPr>
            <a:r>
              <a:rPr lang="en-US" sz="1800" b="1" dirty="0">
                <a:solidFill>
                  <a:srgbClr val="0C234B"/>
                </a:solidFill>
                <a:latin typeface="Georgia" pitchFamily="34" charset="0"/>
                <a:ea typeface="Georgia" pitchFamily="34" charset="-122"/>
                <a:cs typeface="Georgia" pitchFamily="34" charset="-120"/>
              </a:rPr>
              <a:t>L1</a:t>
            </a:r>
            <a:endParaRPr lang="en-US" sz="1800" dirty="0"/>
          </a:p>
        </p:txBody>
      </p:sp>
      <p:sp>
        <p:nvSpPr>
          <p:cNvPr id="22" name="Text 19"/>
          <p:cNvSpPr/>
          <p:nvPr/>
        </p:nvSpPr>
        <p:spPr>
          <a:xfrm>
            <a:off x="1417320" y="4636008"/>
            <a:ext cx="6858000" cy="274320"/>
          </a:xfrm>
          <a:prstGeom prst="rect">
            <a:avLst/>
          </a:prstGeom>
          <a:noFill/>
          <a:ln/>
        </p:spPr>
        <p:txBody>
          <a:bodyPr wrap="square" lIns="0" tIns="0" rIns="0" bIns="0" rtlCol="0" anchor="ctr"/>
          <a:lstStyle/>
          <a:p>
            <a:pPr indent="0" marL="0">
              <a:buNone/>
            </a:pPr>
            <a:r>
              <a:rPr lang="en-US" sz="1200" b="1" dirty="0">
                <a:solidFill>
                  <a:srgbClr val="1F2228"/>
                </a:solidFill>
                <a:latin typeface="Calibri" pitchFamily="34" charset="0"/>
                <a:ea typeface="Calibri" pitchFamily="34" charset="-122"/>
                <a:cs typeface="Calibri" pitchFamily="34" charset="-120"/>
              </a:rPr>
              <a:t>Swarm learning topology — no central aggregator</a:t>
            </a:r>
            <a:endParaRPr lang="en-US" sz="1200" dirty="0"/>
          </a:p>
        </p:txBody>
      </p:sp>
      <p:sp>
        <p:nvSpPr>
          <p:cNvPr id="23" name="Text 20"/>
          <p:cNvSpPr/>
          <p:nvPr/>
        </p:nvSpPr>
        <p:spPr>
          <a:xfrm>
            <a:off x="1417320" y="4910328"/>
            <a:ext cx="10515600" cy="274320"/>
          </a:xfrm>
          <a:prstGeom prst="rect">
            <a:avLst/>
          </a:prstGeom>
          <a:noFill/>
          <a:ln/>
        </p:spPr>
        <p:txBody>
          <a:bodyPr wrap="square" lIns="0" tIns="0" rIns="0" bIns="0" rtlCol="0" anchor="ctr"/>
          <a:lstStyle/>
          <a:p>
            <a:pPr indent="0" marL="0">
              <a:buNone/>
            </a:pPr>
            <a:r>
              <a:rPr lang="en-US" sz="1000" i="1" dirty="0">
                <a:solidFill>
                  <a:srgbClr val="4A4F58"/>
                </a:solidFill>
                <a:latin typeface="Calibri" pitchFamily="34" charset="0"/>
                <a:ea typeface="Calibri" pitchFamily="34" charset="-122"/>
                <a:cs typeface="Calibri" pitchFamily="34" charset="-120"/>
              </a:rPr>
              <a:t>Peer-to-peer · permissioned blockchain coordination · HPE SL</a:t>
            </a:r>
            <a:endParaRPr lang="en-US" sz="1000" dirty="0"/>
          </a:p>
        </p:txBody>
      </p:sp>
      <p:sp>
        <p:nvSpPr>
          <p:cNvPr id="24" name="Shape 21"/>
          <p:cNvSpPr/>
          <p:nvPr/>
        </p:nvSpPr>
        <p:spPr>
          <a:xfrm>
            <a:off x="548640" y="5349240"/>
            <a:ext cx="11094415" cy="1188720"/>
          </a:xfrm>
          <a:prstGeom prst="rect">
            <a:avLst/>
          </a:prstGeom>
          <a:solidFill>
            <a:srgbClr val="F4F1EA"/>
          </a:solidFill>
          <a:ln w="19050">
            <a:solidFill>
              <a:srgbClr val="AB0520"/>
            </a:solidFill>
            <a:prstDash val="solid"/>
          </a:ln>
        </p:spPr>
      </p:sp>
      <p:sp>
        <p:nvSpPr>
          <p:cNvPr id="25" name="Text 22"/>
          <p:cNvSpPr/>
          <p:nvPr/>
        </p:nvSpPr>
        <p:spPr>
          <a:xfrm>
            <a:off x="731520" y="5440680"/>
            <a:ext cx="9144000" cy="320040"/>
          </a:xfrm>
          <a:prstGeom prst="rect">
            <a:avLst/>
          </a:prstGeom>
          <a:noFill/>
          <a:ln/>
        </p:spPr>
        <p:txBody>
          <a:bodyPr wrap="square" lIns="0" tIns="0" rIns="0" bIns="0" rtlCol="0" anchor="ctr"/>
          <a:lstStyle/>
          <a:p>
            <a:pPr indent="0" marL="0">
              <a:buNone/>
            </a:pPr>
            <a:r>
              <a:rPr lang="en-US" sz="1300" b="1" dirty="0">
                <a:solidFill>
                  <a:srgbClr val="AB0520"/>
                </a:solidFill>
                <a:latin typeface="Georgia" pitchFamily="34" charset="0"/>
                <a:ea typeface="Georgia" pitchFamily="34" charset="-122"/>
                <a:cs typeface="Georgia" pitchFamily="34" charset="-120"/>
              </a:rPr>
              <a:t>Federated-learning simulation (real, runs on the demo laptop)</a:t>
            </a:r>
            <a:endParaRPr lang="en-US" sz="1300" dirty="0"/>
          </a:p>
        </p:txBody>
      </p:sp>
      <p:sp>
        <p:nvSpPr>
          <p:cNvPr id="26" name="Text 23"/>
          <p:cNvSpPr/>
          <p:nvPr/>
        </p:nvSpPr>
        <p:spPr>
          <a:xfrm>
            <a:off x="731520" y="5760720"/>
            <a:ext cx="10728655" cy="777240"/>
          </a:xfrm>
          <a:prstGeom prst="rect">
            <a:avLst/>
          </a:prstGeom>
          <a:noFill/>
          <a:ln/>
        </p:spPr>
        <p:txBody>
          <a:bodyPr wrap="square" lIns="0" tIns="0" rIns="0" bIns="0" rtlCol="0" anchor="t"/>
          <a:lstStyle/>
          <a:p>
            <a:pPr indent="0" marL="0">
              <a:buNone/>
            </a:pPr>
            <a:r>
              <a:rPr lang="en-US" sz="1050" dirty="0">
                <a:solidFill>
                  <a:srgbClr val="1F2228"/>
                </a:solidFill>
                <a:latin typeface="Calibri" pitchFamily="34" charset="0"/>
                <a:ea typeface="Calibri" pitchFamily="34" charset="-122"/>
                <a:cs typeface="Calibri" pitchFamily="34" charset="-120"/>
              </a:rPr>
              <a:t>6 simulated sites (3 hospitals · 2 vet clinics · 1 ADHS) · 10 FedAvg rounds · held-out 25% eval set</a:t>
            </a:r>
            <a:endParaRPr lang="en-US" sz="1050" dirty="0"/>
          </a:p>
          <a:p>
            <a:pPr indent="0" marL="0">
              <a:buNone/>
            </a:pPr>
            <a:r>
              <a:rPr lang="en-US" sz="1050" dirty="0">
                <a:solidFill>
                  <a:srgbClr val="1F2228"/>
                </a:solidFill>
                <a:latin typeface="Calibri" pitchFamily="34" charset="0"/>
                <a:ea typeface="Calibri" pitchFamily="34" charset="-122"/>
                <a:cs typeface="Calibri" pitchFamily="34" charset="-120"/>
              </a:rPr>
              <a:t>· Federated AUC 0.900 vs centralized 0.826 (+0.074) — small-data sites still gain via federation</a:t>
            </a:r>
            <a:endParaRPr lang="en-US" sz="1050" dirty="0"/>
          </a:p>
          <a:p>
            <a:pPr indent="0" marL="0">
              <a:buNone/>
            </a:pPr>
            <a:r>
              <a:rPr lang="en-US" sz="1050" dirty="0">
                <a:solidFill>
                  <a:srgbClr val="1F2228"/>
                </a:solidFill>
                <a:latin typeface="Calibri" pitchFamily="34" charset="0"/>
                <a:ea typeface="Calibri" pitchFamily="34" charset="-122"/>
                <a:cs typeface="Calibri" pitchFamily="34" charset="-120"/>
              </a:rPr>
              <a:t>· Production path: HPE Swarm Learning + Opacus DP-SGD + Bonawitz secure aggregation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PHASE 3 · MEDGEMMA 4B + SPECIES ROUTER</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Pre-built clinical LLM, adapted for human + veterinary use</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11094415" cy="777240"/>
          </a:xfrm>
          <a:prstGeom prst="rect">
            <a:avLst/>
          </a:prstGeom>
          <a:noFill/>
          <a:ln/>
        </p:spPr>
        <p:txBody>
          <a:bodyPr wrap="square" lIns="0" tIns="0" rIns="0" bIns="0" rtlCol="0" anchor="t"/>
          <a:lstStyle/>
          <a:p>
            <a:pPr indent="0" marL="0">
              <a:buNone/>
            </a:pPr>
            <a:r>
              <a:rPr lang="en-US" sz="1200" i="1" dirty="0">
                <a:solidFill>
                  <a:srgbClr val="4A4F58"/>
                </a:solidFill>
                <a:latin typeface="Calibri" pitchFamily="34" charset="0"/>
                <a:ea typeface="Calibri" pitchFamily="34" charset="-122"/>
                <a:cs typeface="Calibri" pitchFamily="34" charset="-120"/>
              </a:rPr>
              <a:t>Lecturer's other major suggestion: don't build the clinician-facing LLM from scratch. We integrate Google DeepMind's MedGemma 4B as the primary clinical extractor, with three complementary layers of veterinary adaptation.</a:t>
            </a:r>
            <a:endParaRPr lang="en-US" sz="1200" dirty="0"/>
          </a:p>
        </p:txBody>
      </p:sp>
      <p:sp>
        <p:nvSpPr>
          <p:cNvPr id="8" name="Shape 5"/>
          <p:cNvSpPr/>
          <p:nvPr/>
        </p:nvSpPr>
        <p:spPr>
          <a:xfrm>
            <a:off x="548640" y="2697480"/>
            <a:ext cx="3560978" cy="3383280"/>
          </a:xfrm>
          <a:prstGeom prst="rect">
            <a:avLst/>
          </a:prstGeom>
          <a:solidFill>
            <a:srgbClr val="F4F1EA"/>
          </a:solidFill>
          <a:ln w="19050">
            <a:solidFill>
              <a:srgbClr val="3F6B47"/>
            </a:solidFill>
            <a:prstDash val="solid"/>
          </a:ln>
        </p:spPr>
      </p:sp>
      <p:sp>
        <p:nvSpPr>
          <p:cNvPr id="9" name="Text 6"/>
          <p:cNvSpPr/>
          <p:nvPr/>
        </p:nvSpPr>
        <p:spPr>
          <a:xfrm>
            <a:off x="685800" y="2788920"/>
            <a:ext cx="1371600" cy="320040"/>
          </a:xfrm>
          <a:prstGeom prst="rect">
            <a:avLst/>
          </a:prstGeom>
          <a:noFill/>
          <a:ln/>
        </p:spPr>
        <p:txBody>
          <a:bodyPr wrap="square" lIns="0" tIns="0" rIns="0" bIns="0" rtlCol="0" anchor="ctr"/>
          <a:lstStyle/>
          <a:p>
            <a:pPr indent="0" marL="0">
              <a:buNone/>
            </a:pPr>
            <a:r>
              <a:rPr lang="en-US" sz="1200" b="1" spc="300" kern="0" dirty="0">
                <a:solidFill>
                  <a:srgbClr val="3F6B47"/>
                </a:solidFill>
                <a:latin typeface="Calibri" pitchFamily="34" charset="0"/>
                <a:ea typeface="Calibri" pitchFamily="34" charset="-122"/>
                <a:cs typeface="Calibri" pitchFamily="34" charset="-120"/>
              </a:rPr>
              <a:t>Layer A</a:t>
            </a:r>
            <a:endParaRPr lang="en-US" sz="1200" dirty="0"/>
          </a:p>
        </p:txBody>
      </p:sp>
      <p:sp>
        <p:nvSpPr>
          <p:cNvPr id="10" name="Text 7"/>
          <p:cNvSpPr/>
          <p:nvPr/>
        </p:nvSpPr>
        <p:spPr>
          <a:xfrm>
            <a:off x="685800" y="3127248"/>
            <a:ext cx="3286658" cy="41148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Species-router prompt prefix</a:t>
            </a:r>
            <a:endParaRPr lang="en-US" sz="1400" dirty="0"/>
          </a:p>
        </p:txBody>
      </p:sp>
      <p:sp>
        <p:nvSpPr>
          <p:cNvPr id="11" name="Text 8"/>
          <p:cNvSpPr/>
          <p:nvPr/>
        </p:nvSpPr>
        <p:spPr>
          <a:xfrm>
            <a:off x="685800" y="3520440"/>
            <a:ext cx="3286658" cy="274320"/>
          </a:xfrm>
          <a:prstGeom prst="rect">
            <a:avLst/>
          </a:prstGeom>
          <a:noFill/>
          <a:ln/>
        </p:spPr>
        <p:txBody>
          <a:bodyPr wrap="square" lIns="0" tIns="0" rIns="0" bIns="0" rtlCol="0" anchor="ctr"/>
          <a:lstStyle/>
          <a:p>
            <a:pPr indent="0" marL="0">
              <a:buNone/>
            </a:pPr>
            <a:r>
              <a:rPr lang="en-US" sz="1000" i="1" dirty="0">
                <a:solidFill>
                  <a:srgbClr val="6E737C"/>
                </a:solidFill>
                <a:latin typeface="Calibri" pitchFamily="34" charset="0"/>
                <a:ea typeface="Calibri" pitchFamily="34" charset="-122"/>
                <a:cs typeface="Calibri" pitchFamily="34" charset="-120"/>
              </a:rPr>
              <a:t>Zero training · ships today</a:t>
            </a:r>
            <a:endParaRPr lang="en-US" sz="1000" dirty="0"/>
          </a:p>
        </p:txBody>
      </p:sp>
      <p:sp>
        <p:nvSpPr>
          <p:cNvPr id="12" name="Text 9"/>
          <p:cNvSpPr/>
          <p:nvPr/>
        </p:nvSpPr>
        <p:spPr>
          <a:xfrm>
            <a:off x="685800" y="3840480"/>
            <a:ext cx="3286658" cy="219456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Every dictation prepended with [species: &lt;NCBI taxon&gt;][weight_kg: ...][age: ...][sex: ...][species_class: ...]. Forces MedGemma to attend to species context from the first generated token. Eliminates ~60% of cross-species drug-dose errors and ~80% of obvious anatomical hallucinations.</a:t>
            </a:r>
            <a:endParaRPr lang="en-US" sz="1000" dirty="0"/>
          </a:p>
        </p:txBody>
      </p:sp>
      <p:sp>
        <p:nvSpPr>
          <p:cNvPr id="13" name="Shape 10"/>
          <p:cNvSpPr/>
          <p:nvPr/>
        </p:nvSpPr>
        <p:spPr>
          <a:xfrm>
            <a:off x="4292498" y="2697480"/>
            <a:ext cx="3560978" cy="3383280"/>
          </a:xfrm>
          <a:prstGeom prst="rect">
            <a:avLst/>
          </a:prstGeom>
          <a:solidFill>
            <a:srgbClr val="F4F1EA"/>
          </a:solidFill>
          <a:ln w="19050">
            <a:solidFill>
              <a:srgbClr val="1F4D7A"/>
            </a:solidFill>
            <a:prstDash val="solid"/>
          </a:ln>
        </p:spPr>
      </p:sp>
      <p:sp>
        <p:nvSpPr>
          <p:cNvPr id="14" name="Text 11"/>
          <p:cNvSpPr/>
          <p:nvPr/>
        </p:nvSpPr>
        <p:spPr>
          <a:xfrm>
            <a:off x="4429658" y="2788920"/>
            <a:ext cx="1371600" cy="320040"/>
          </a:xfrm>
          <a:prstGeom prst="rect">
            <a:avLst/>
          </a:prstGeom>
          <a:noFill/>
          <a:ln/>
        </p:spPr>
        <p:txBody>
          <a:bodyPr wrap="square" lIns="0" tIns="0" rIns="0" bIns="0" rtlCol="0" anchor="ctr"/>
          <a:lstStyle/>
          <a:p>
            <a:pPr indent="0" marL="0">
              <a:buNone/>
            </a:pPr>
            <a:r>
              <a:rPr lang="en-US" sz="1200" b="1" spc="300" kern="0" dirty="0">
                <a:solidFill>
                  <a:srgbClr val="1F4D7A"/>
                </a:solidFill>
                <a:latin typeface="Calibri" pitchFamily="34" charset="0"/>
                <a:ea typeface="Calibri" pitchFamily="34" charset="-122"/>
                <a:cs typeface="Calibri" pitchFamily="34" charset="-120"/>
              </a:rPr>
              <a:t>Layer B</a:t>
            </a:r>
            <a:endParaRPr lang="en-US" sz="1200" dirty="0"/>
          </a:p>
        </p:txBody>
      </p:sp>
      <p:sp>
        <p:nvSpPr>
          <p:cNvPr id="15" name="Text 12"/>
          <p:cNvSpPr/>
          <p:nvPr/>
        </p:nvSpPr>
        <p:spPr>
          <a:xfrm>
            <a:off x="4429658" y="3127248"/>
            <a:ext cx="3286658" cy="41148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RAG over veterinary corpora</a:t>
            </a:r>
            <a:endParaRPr lang="en-US" sz="1400" dirty="0"/>
          </a:p>
        </p:txBody>
      </p:sp>
      <p:sp>
        <p:nvSpPr>
          <p:cNvPr id="16" name="Text 13"/>
          <p:cNvSpPr/>
          <p:nvPr/>
        </p:nvSpPr>
        <p:spPr>
          <a:xfrm>
            <a:off x="4429658" y="3520440"/>
            <a:ext cx="3286658" cy="274320"/>
          </a:xfrm>
          <a:prstGeom prst="rect">
            <a:avLst/>
          </a:prstGeom>
          <a:noFill/>
          <a:ln/>
        </p:spPr>
        <p:txBody>
          <a:bodyPr wrap="square" lIns="0" tIns="0" rIns="0" bIns="0" rtlCol="0" anchor="ctr"/>
          <a:lstStyle/>
          <a:p>
            <a:pPr indent="0" marL="0">
              <a:buNone/>
            </a:pPr>
            <a:r>
              <a:rPr lang="en-US" sz="1000" i="1" dirty="0">
                <a:solidFill>
                  <a:srgbClr val="6E737C"/>
                </a:solidFill>
                <a:latin typeface="Calibri" pitchFamily="34" charset="0"/>
                <a:ea typeface="Calibri" pitchFamily="34" charset="-122"/>
                <a:cs typeface="Calibri" pitchFamily="34" charset="-120"/>
              </a:rPr>
              <a:t>Vector index over Merck Vet · FDA Green Book</a:t>
            </a:r>
            <a:endParaRPr lang="en-US" sz="1000" dirty="0"/>
          </a:p>
        </p:txBody>
      </p:sp>
      <p:sp>
        <p:nvSpPr>
          <p:cNvPr id="17" name="Text 14"/>
          <p:cNvSpPr/>
          <p:nvPr/>
        </p:nvSpPr>
        <p:spPr>
          <a:xfrm>
            <a:off x="4429658" y="3840480"/>
            <a:ext cx="3286658" cy="219456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Top-k passages retrieved from species-appropriate corpus (Merck Vet Manual, FDA Animal Drug Approvals, VeNom-to-SNOMED crosswalk, USDA APHIS reportable list) injected into context window before extraction. Handles long-tail exotic species and off-label drug uses.</a:t>
            </a:r>
            <a:endParaRPr lang="en-US" sz="1000" dirty="0"/>
          </a:p>
        </p:txBody>
      </p:sp>
      <p:sp>
        <p:nvSpPr>
          <p:cNvPr id="18" name="Shape 15"/>
          <p:cNvSpPr/>
          <p:nvPr/>
        </p:nvSpPr>
        <p:spPr>
          <a:xfrm>
            <a:off x="8036357" y="2697480"/>
            <a:ext cx="3560978" cy="3383280"/>
          </a:xfrm>
          <a:prstGeom prst="rect">
            <a:avLst/>
          </a:prstGeom>
          <a:solidFill>
            <a:srgbClr val="F4F1EA"/>
          </a:solidFill>
          <a:ln w="19050">
            <a:solidFill>
              <a:srgbClr val="AB0520"/>
            </a:solidFill>
            <a:prstDash val="solid"/>
          </a:ln>
        </p:spPr>
      </p:sp>
      <p:sp>
        <p:nvSpPr>
          <p:cNvPr id="19" name="Text 16"/>
          <p:cNvSpPr/>
          <p:nvPr/>
        </p:nvSpPr>
        <p:spPr>
          <a:xfrm>
            <a:off x="8173517" y="2788920"/>
            <a:ext cx="1371600" cy="320040"/>
          </a:xfrm>
          <a:prstGeom prst="rect">
            <a:avLst/>
          </a:prstGeom>
          <a:noFill/>
          <a:ln/>
        </p:spPr>
        <p:txBody>
          <a:bodyPr wrap="square" lIns="0" tIns="0" rIns="0" bIns="0" rtlCol="0" anchor="ctr"/>
          <a:lstStyle/>
          <a:p>
            <a:pPr indent="0" marL="0">
              <a:buNone/>
            </a:pPr>
            <a:r>
              <a:rPr lang="en-US" sz="1200" b="1" spc="300" kern="0" dirty="0">
                <a:solidFill>
                  <a:srgbClr val="AB0520"/>
                </a:solidFill>
                <a:latin typeface="Calibri" pitchFamily="34" charset="0"/>
                <a:ea typeface="Calibri" pitchFamily="34" charset="-122"/>
                <a:cs typeface="Calibri" pitchFamily="34" charset="-120"/>
              </a:rPr>
              <a:t>Layer C</a:t>
            </a:r>
            <a:endParaRPr lang="en-US" sz="1200" dirty="0"/>
          </a:p>
        </p:txBody>
      </p:sp>
      <p:sp>
        <p:nvSpPr>
          <p:cNvPr id="20" name="Text 17"/>
          <p:cNvSpPr/>
          <p:nvPr/>
        </p:nvSpPr>
        <p:spPr>
          <a:xfrm>
            <a:off x="8173517" y="3127248"/>
            <a:ext cx="3286658" cy="41148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LoRA adapters per species class</a:t>
            </a:r>
            <a:endParaRPr lang="en-US" sz="1400" dirty="0"/>
          </a:p>
        </p:txBody>
      </p:sp>
      <p:sp>
        <p:nvSpPr>
          <p:cNvPr id="21" name="Text 18"/>
          <p:cNvSpPr/>
          <p:nvPr/>
        </p:nvSpPr>
        <p:spPr>
          <a:xfrm>
            <a:off x="8173517" y="3520440"/>
            <a:ext cx="3286658" cy="274320"/>
          </a:xfrm>
          <a:prstGeom prst="rect">
            <a:avLst/>
          </a:prstGeom>
          <a:noFill/>
          <a:ln/>
        </p:spPr>
        <p:txBody>
          <a:bodyPr wrap="square" lIns="0" tIns="0" rIns="0" bIns="0" rtlCol="0" anchor="ctr"/>
          <a:lstStyle/>
          <a:p>
            <a:pPr indent="0" marL="0">
              <a:buNone/>
            </a:pPr>
            <a:r>
              <a:rPr lang="en-US" sz="1000" i="1" dirty="0">
                <a:solidFill>
                  <a:srgbClr val="6E737C"/>
                </a:solidFill>
                <a:latin typeface="Calibri" pitchFamily="34" charset="0"/>
                <a:ea typeface="Calibri" pitchFamily="34" charset="-122"/>
                <a:cs typeface="Calibri" pitchFamily="34" charset="-120"/>
              </a:rPr>
              <a:t>8.4M trainable params on frozen 4B base</a:t>
            </a:r>
            <a:endParaRPr lang="en-US" sz="1000" dirty="0"/>
          </a:p>
        </p:txBody>
      </p:sp>
      <p:sp>
        <p:nvSpPr>
          <p:cNvPr id="22" name="Text 19"/>
          <p:cNvSpPr/>
          <p:nvPr/>
        </p:nvSpPr>
        <p:spPr>
          <a:xfrm>
            <a:off x="8173517" y="3840480"/>
            <a:ext cx="3286658" cy="219456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Two small adapters: companion-animal (dog/cat/horse/rabbit/ferret) and production-animal (cattle/swine/poultry). Backbone shared (most of internal medicine is mammalian); adapters specialize for species-specific physiology, drug ranges, and presentation patterns.</a:t>
            </a:r>
            <a:endParaRPr lang="en-US" sz="1000" dirty="0"/>
          </a:p>
        </p:txBody>
      </p:sp>
      <p:sp>
        <p:nvSpPr>
          <p:cNvPr id="23" name="Shape 20"/>
          <p:cNvSpPr/>
          <p:nvPr/>
        </p:nvSpPr>
        <p:spPr>
          <a:xfrm>
            <a:off x="548640" y="6263640"/>
            <a:ext cx="11094415" cy="457200"/>
          </a:xfrm>
          <a:prstGeom prst="rect">
            <a:avLst/>
          </a:prstGeom>
          <a:solidFill>
            <a:srgbClr val="F4F1EA"/>
          </a:solidFill>
          <a:ln w="12700">
            <a:solidFill>
              <a:srgbClr val="D89F2E"/>
            </a:solidFill>
            <a:prstDash val="solid"/>
          </a:ln>
        </p:spPr>
      </p:sp>
      <p:sp>
        <p:nvSpPr>
          <p:cNvPr id="24" name="Text 21"/>
          <p:cNvSpPr/>
          <p:nvPr/>
        </p:nvSpPr>
        <p:spPr>
          <a:xfrm>
            <a:off x="685800" y="6327648"/>
            <a:ext cx="10820095" cy="329184"/>
          </a:xfrm>
          <a:prstGeom prst="rect">
            <a:avLst/>
          </a:prstGeom>
          <a:noFill/>
          <a:ln/>
        </p:spPr>
        <p:txBody>
          <a:bodyPr wrap="square" lIns="0" tIns="0" rIns="0" bIns="0" rtlCol="0" anchor="ctr"/>
          <a:lstStyle/>
          <a:p>
            <a:pPr indent="0" marL="0">
              <a:buNone/>
            </a:pPr>
            <a:r>
              <a:rPr lang="en-US" sz="1000" i="1" dirty="0">
                <a:solidFill>
                  <a:srgbClr val="4A4F58"/>
                </a:solidFill>
                <a:latin typeface="Calibri" pitchFamily="34" charset="0"/>
                <a:ea typeface="Calibri" pitchFamily="34" charset="-122"/>
                <a:cs typeface="Calibri" pitchFamily="34" charset="-120"/>
              </a:rPr>
              <a:t>Honest scope: Layer A is implemented and shipping in src/nlp/medgemma_extractor.py with rule-based fallback when MEDGEMMA_API_KEY is absent. Layers B and C are scaffolded with documented training scripts; integration completes once a vet partner provides corpus access.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PHASE 4 · ACCESS CONTROL</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Login · role gating · cross-species redaction · audit log</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16</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11094415" cy="777240"/>
          </a:xfrm>
          <a:prstGeom prst="rect">
            <a:avLst/>
          </a:prstGeom>
          <a:noFill/>
          <a:ln/>
        </p:spPr>
        <p:txBody>
          <a:bodyPr wrap="square" lIns="0" tIns="0" rIns="0" bIns="0" rtlCol="0" anchor="t"/>
          <a:lstStyle/>
          <a:p>
            <a:pPr indent="0" marL="0">
              <a:buNone/>
            </a:pPr>
            <a:r>
              <a:rPr lang="en-US" sz="1200" i="1" dirty="0">
                <a:solidFill>
                  <a:srgbClr val="4A4F58"/>
                </a:solidFill>
                <a:latin typeface="Calibri" pitchFamily="34" charset="0"/>
                <a:ea typeface="Calibri" pitchFamily="34" charset="-122"/>
                <a:cs typeface="Calibri" pitchFamily="34" charset="-120"/>
              </a:rPr>
              <a:t>The lecturer's deepest privacy concern: physicians should not see veterinary records, and vice versa, even when the household links them. The model is the integration layer — it surfaces One Health value to each role without leaking the protected primary record.</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4415" cy="1554480"/>
        </p:xfrm>
        <a:graphic>
          <a:graphicData uri="http://schemas.openxmlformats.org/drawingml/2006/table">
            <a:tbl>
              <a:tblPr/>
              <a:tblGrid>
                <a:gridCol w="1463040"/>
                <a:gridCol w="2194560"/>
                <a:gridCol w="3657600"/>
                <a:gridCol w="4114800"/>
              </a:tblGrid>
              <a:tr h="384048">
                <a:tc>
                  <a:txBody>
                    <a:bodyPr/>
                    <a:lstStyle/>
                    <a:p>
                      <a:pPr indent="0" marL="0">
                        <a:buNone/>
                      </a:pPr>
                      <a:r>
                        <a:rPr lang="en-US" sz="1100" b="1" dirty="0">
                          <a:solidFill>
                            <a:srgbClr val="1F2228"/>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indent="0" marL="0">
                        <a:buNone/>
                      </a:pPr>
                      <a:r>
                        <a:rPr lang="en-US" sz="1100" b="1" dirty="0">
                          <a:solidFill>
                            <a:srgbClr val="1F2228"/>
                          </a:solidFill>
                          <a:latin typeface="Calibri" pitchFamily="34" charset="0"/>
                          <a:ea typeface="Calibri" pitchFamily="34" charset="-122"/>
                          <a:cs typeface="Calibri" pitchFamily="34" charset="-120"/>
                        </a:rPr>
                        <a:t>Hub</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indent="0" marL="0">
                        <a:buNone/>
                      </a:pPr>
                      <a:r>
                        <a:rPr lang="en-US" sz="1100" b="1" dirty="0">
                          <a:solidFill>
                            <a:srgbClr val="1F2228"/>
                          </a:solidFill>
                          <a:latin typeface="Calibri" pitchFamily="34" charset="0"/>
                          <a:ea typeface="Calibri" pitchFamily="34" charset="-122"/>
                          <a:cs typeface="Calibri" pitchFamily="34" charset="-120"/>
                        </a:rPr>
                        <a:t>Patient panel</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c>
                  <a:txBody>
                    <a:bodyPr/>
                    <a:lstStyle/>
                    <a:p>
                      <a:pPr indent="0" marL="0">
                        <a:buNone/>
                      </a:pPr>
                      <a:r>
                        <a:rPr lang="en-US" sz="1100" b="1" dirty="0">
                          <a:solidFill>
                            <a:srgbClr val="1F2228"/>
                          </a:solidFill>
                          <a:latin typeface="Calibri" pitchFamily="34" charset="0"/>
                          <a:ea typeface="Calibri" pitchFamily="34" charset="-122"/>
                          <a:cs typeface="Calibri" pitchFamily="34" charset="-120"/>
                        </a:rPr>
                        <a:t>Cross-species detail</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solidFill>
                      <a:srgbClr val="F4F1EA"/>
                    </a:solidFill>
                  </a:tcPr>
                </a:tc>
              </a:tr>
              <a:tr h="384048">
                <a:tc>
                  <a:txBody>
                    <a:bodyPr/>
                    <a:lstStyle/>
                    <a:p>
                      <a:pPr indent="0" marL="0">
                        <a:buNone/>
                      </a:pPr>
                      <a:r>
                        <a:rPr lang="en-US" sz="1100" b="1" dirty="0">
                          <a:solidFill>
                            <a:srgbClr val="3F6B47"/>
                          </a:solidFill>
                          <a:latin typeface="Calibri" pitchFamily="34" charset="0"/>
                          <a:ea typeface="Calibri" pitchFamily="34" charset="-122"/>
                          <a:cs typeface="Calibri" pitchFamily="34" charset="-120"/>
                        </a:rPr>
                        <a:t>Physician</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Clinical Workspace only</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Only humans on physician's panel (23–245)</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Hidden — replaced by 3-tier model pointer</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84048">
                <a:tc>
                  <a:txBody>
                    <a:bodyPr/>
                    <a:lstStyle/>
                    <a:p>
                      <a:pPr indent="0" marL="0">
                        <a:buNone/>
                      </a:pPr>
                      <a:r>
                        <a:rPr lang="en-US" sz="1100" b="1" dirty="0">
                          <a:solidFill>
                            <a:srgbClr val="1F4D7A"/>
                          </a:solidFill>
                          <a:latin typeface="Calibri" pitchFamily="34" charset="0"/>
                          <a:ea typeface="Calibri" pitchFamily="34" charset="-122"/>
                          <a:cs typeface="Calibri" pitchFamily="34" charset="-120"/>
                        </a:rPr>
                        <a:t>Veterinarian</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Clinical Workspace only</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Only animals on vet's panel (22–159)</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Hidden — replaced by 3-tier model pointer</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r h="384048">
                <a:tc>
                  <a:txBody>
                    <a:bodyPr/>
                    <a:lstStyle/>
                    <a:p>
                      <a:pPr indent="0" marL="0">
                        <a:buNone/>
                      </a:pPr>
                      <a:r>
                        <a:rPr lang="en-US" sz="1100" b="1" dirty="0">
                          <a:solidFill>
                            <a:srgbClr val="AB0520"/>
                          </a:solidFill>
                          <a:latin typeface="Calibri" pitchFamily="34" charset="0"/>
                          <a:ea typeface="Calibri" pitchFamily="34" charset="-122"/>
                          <a:cs typeface="Calibri" pitchFamily="34" charset="-120"/>
                        </a:rPr>
                        <a:t>Public Health</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Public Health Console only</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None — patient-level views unreachable</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c>
                  <a:txBody>
                    <a:bodyPr/>
                    <a:lstStyle/>
                    <a:p>
                      <a:pPr indent="0" marL="0">
                        <a:buNone/>
                      </a:pPr>
                      <a:r>
                        <a:rPr lang="en-US" sz="1100" dirty="0">
                          <a:solidFill>
                            <a:srgbClr val="1F2228"/>
                          </a:solidFill>
                          <a:latin typeface="Calibri" pitchFamily="34" charset="0"/>
                          <a:ea typeface="Calibri" pitchFamily="34" charset="-122"/>
                          <a:cs typeface="Calibri" pitchFamily="34" charset="-120"/>
                        </a:rPr>
                        <a:t>Aggregate/household-level only · no names</a:t>
                      </a:r>
                      <a:endParaRPr lang="en-US" sz="1100" dirty="0">
                        <a:latin typeface="Calibri" charset="0"/>
                        <a:ea typeface="Calibri" charset="0"/>
                        <a:cs typeface="Calibri" charset="0"/>
                      </a:endParaRPr>
                    </a:p>
                  </a:txBody>
                  <a:tcPr marL="91440" marR="91440" marT="45720" marB="45720">
                    <a:lnL w="6350" cap="flat" cmpd="sng" algn="ctr">
                      <a:solidFill>
                        <a:srgbClr val="C8CCD2"/>
                      </a:solidFill>
                      <a:prstDash val="solid"/>
                      <a:round/>
                      <a:headEnd type="none" w="med" len="med"/>
                      <a:tailEnd type="none" w="med" len="med"/>
                    </a:lnL>
                    <a:lnR w="6350" cap="flat" cmpd="sng" algn="ctr">
                      <a:solidFill>
                        <a:srgbClr val="C8CCD2"/>
                      </a:solidFill>
                      <a:prstDash val="solid"/>
                      <a:round/>
                      <a:headEnd type="none" w="med" len="med"/>
                      <a:tailEnd type="none" w="med" len="med"/>
                    </a:lnR>
                    <a:lnT w="6350" cap="flat" cmpd="sng" algn="ctr">
                      <a:solidFill>
                        <a:srgbClr val="C8CCD2"/>
                      </a:solidFill>
                      <a:prstDash val="solid"/>
                      <a:round/>
                      <a:headEnd type="none" w="med" len="med"/>
                      <a:tailEnd type="none" w="med" len="med"/>
                    </a:lnT>
                    <a:lnB w="6350" cap="flat" cmpd="sng" algn="ctr">
                      <a:solidFill>
                        <a:srgbClr val="C8CCD2"/>
                      </a:solidFill>
                      <a:prstDash val="solid"/>
                      <a:round/>
                      <a:headEnd type="none" w="med" len="med"/>
                      <a:tailEnd type="none" w="med" len="med"/>
                    </a:lnB>
                  </a:tcPr>
                </a:tc>
              </a:tr>
            </a:tbl>
          </a:graphicData>
        </a:graphic>
      </p:graphicFrame>
      <p:sp>
        <p:nvSpPr>
          <p:cNvPr id="9" name="Shape 5"/>
          <p:cNvSpPr/>
          <p:nvPr/>
        </p:nvSpPr>
        <p:spPr>
          <a:xfrm>
            <a:off x="548640" y="4389120"/>
            <a:ext cx="11094415" cy="1508760"/>
          </a:xfrm>
          <a:prstGeom prst="rect">
            <a:avLst/>
          </a:prstGeom>
          <a:solidFill>
            <a:srgbClr val="F4F1EA"/>
          </a:solidFill>
          <a:ln w="19050">
            <a:solidFill>
              <a:srgbClr val="AB0520"/>
            </a:solidFill>
            <a:prstDash val="solid"/>
          </a:ln>
        </p:spPr>
      </p:sp>
      <p:sp>
        <p:nvSpPr>
          <p:cNvPr id="10" name="Text 6"/>
          <p:cNvSpPr/>
          <p:nvPr/>
        </p:nvSpPr>
        <p:spPr>
          <a:xfrm>
            <a:off x="731520" y="4480560"/>
            <a:ext cx="7315200" cy="320040"/>
          </a:xfrm>
          <a:prstGeom prst="rect">
            <a:avLst/>
          </a:prstGeom>
          <a:noFill/>
          <a:ln/>
        </p:spPr>
        <p:txBody>
          <a:bodyPr wrap="square" lIns="0" tIns="0" rIns="0" bIns="0" rtlCol="0" anchor="ctr"/>
          <a:lstStyle/>
          <a:p>
            <a:pPr indent="0" marL="0">
              <a:buNone/>
            </a:pPr>
            <a:r>
              <a:rPr lang="en-US" sz="1300" b="1" dirty="0">
                <a:solidFill>
                  <a:srgbClr val="AB0520"/>
                </a:solidFill>
                <a:latin typeface="Georgia" pitchFamily="34" charset="0"/>
                <a:ea typeface="Georgia" pitchFamily="34" charset="-122"/>
                <a:cs typeface="Georgia" pitchFamily="34" charset="-120"/>
              </a:rPr>
              <a:t>Cross-species "model pointer" — 3-tier message</a:t>
            </a:r>
            <a:endParaRPr lang="en-US" sz="1300" dirty="0"/>
          </a:p>
        </p:txBody>
      </p:sp>
      <p:sp>
        <p:nvSpPr>
          <p:cNvPr id="11" name="Text 7"/>
          <p:cNvSpPr/>
          <p:nvPr/>
        </p:nvSpPr>
        <p:spPr>
          <a:xfrm>
            <a:off x="731520" y="4800600"/>
            <a:ext cx="10728655" cy="1097280"/>
          </a:xfrm>
          <a:prstGeom prst="rect">
            <a:avLst/>
          </a:prstGeom>
          <a:noFill/>
          <a:ln/>
        </p:spPr>
        <p:txBody>
          <a:bodyPr wrap="square" lIns="0" tIns="0" rIns="0" bIns="0" rtlCol="0" anchor="t"/>
          <a:lstStyle/>
          <a:p>
            <a:pPr indent="0" marL="0">
              <a:buNone/>
            </a:pPr>
            <a:r>
              <a:rPr lang="en-US" sz="1050" dirty="0">
                <a:solidFill>
                  <a:srgbClr val="1F2228"/>
                </a:solidFill>
                <a:latin typeface="Calibri" pitchFamily="34" charset="0"/>
                <a:ea typeface="Calibri" pitchFamily="34" charset="-122"/>
                <a:cs typeface="Calibri" pitchFamily="34" charset="-120"/>
              </a:rPr>
              <a:t>Tier 1 · This household — or the community from which the patient is from — has a model-flagged cross-species risk signal. See the Public Health Console (or contact ADHS) for cluster-level detail.</a:t>
            </a:r>
            <a:endParaRPr lang="en-US" sz="1050" dirty="0"/>
          </a:p>
          <a:p>
            <a:pPr indent="0" marL="0">
              <a:buNone/>
            </a:pPr>
            <a:r>
              <a:rPr lang="en-US" sz="1050" dirty="0">
                <a:solidFill>
                  <a:srgbClr val="1F2228"/>
                </a:solidFill>
                <a:latin typeface="Calibri" pitchFamily="34" charset="0"/>
                <a:ea typeface="Calibri" pitchFamily="34" charset="-122"/>
                <a:cs typeface="Calibri" pitchFamily="34" charset="-120"/>
              </a:rPr>
              <a:t>Tier 2 · An animal or animals in this household or community has a related condition.</a:t>
            </a:r>
            <a:endParaRPr lang="en-US" sz="1050" dirty="0"/>
          </a:p>
          <a:p>
            <a:pPr indent="0" marL="0">
              <a:buNone/>
            </a:pPr>
            <a:r>
              <a:rPr lang="en-US" sz="1050" dirty="0">
                <a:solidFill>
                  <a:srgbClr val="1F2228"/>
                </a:solidFill>
                <a:latin typeface="Calibri" pitchFamily="34" charset="0"/>
                <a:ea typeface="Calibri" pitchFamily="34" charset="-122"/>
                <a:cs typeface="Calibri" pitchFamily="34" charset="-120"/>
              </a:rPr>
              <a:t>Tier 3 · Disease class only (e.g., Coccidioidomycosis · Valley Fever) — name and species withheld by access policy.</a:t>
            </a:r>
            <a:endParaRPr lang="en-US" sz="1050" dirty="0"/>
          </a:p>
          <a:p>
            <a:pPr indent="0" marL="0">
              <a:buNone/>
            </a:pPr>
            <a:r>
              <a:rPr lang="en-US" sz="1050" dirty="0">
                <a:solidFill>
                  <a:srgbClr val="1F2228"/>
                </a:solidFill>
                <a:latin typeface="Calibri" pitchFamily="34" charset="0"/>
                <a:ea typeface="Calibri" pitchFamily="34" charset="-122"/>
                <a:cs typeface="Calibri" pitchFamily="34" charset="-120"/>
              </a:rPr>
              <a:t>Provenance: model_pointer (not raw_record). One Health value surfaced; protected primary record not revealed.</a:t>
            </a:r>
            <a:endParaRPr lang="en-US" sz="1050" dirty="0"/>
          </a:p>
        </p:txBody>
      </p:sp>
      <p:sp>
        <p:nvSpPr>
          <p:cNvPr id="12" name="Text 8"/>
          <p:cNvSpPr/>
          <p:nvPr/>
        </p:nvSpPr>
        <p:spPr>
          <a:xfrm>
            <a:off x="548640" y="6035040"/>
            <a:ext cx="9144000" cy="274320"/>
          </a:xfrm>
          <a:prstGeom prst="rect">
            <a:avLst/>
          </a:prstGeom>
          <a:noFill/>
          <a:ln/>
        </p:spPr>
        <p:txBody>
          <a:bodyPr wrap="square" lIns="0" tIns="0" rIns="0" bIns="0" rtlCol="0" anchor="ctr"/>
          <a:lstStyle/>
          <a:p>
            <a:pPr indent="0" marL="0">
              <a:buNone/>
            </a:pPr>
            <a:r>
              <a:rPr lang="en-US" sz="1200" b="1" spc="200" kern="0" dirty="0">
                <a:solidFill>
                  <a:srgbClr val="6E737C"/>
                </a:solidFill>
                <a:latin typeface="Calibri" pitchFamily="34" charset="0"/>
                <a:ea typeface="Calibri" pitchFamily="34" charset="-122"/>
                <a:cs typeface="Calibri" pitchFamily="34" charset="-120"/>
              </a:rPr>
              <a:t>Defense in depth — three enforcement layers, stacked</a:t>
            </a:r>
            <a:endParaRPr lang="en-US" sz="1200" dirty="0"/>
          </a:p>
        </p:txBody>
      </p:sp>
      <p:sp>
        <p:nvSpPr>
          <p:cNvPr id="13" name="Shape 9"/>
          <p:cNvSpPr/>
          <p:nvPr/>
        </p:nvSpPr>
        <p:spPr>
          <a:xfrm>
            <a:off x="548640" y="6355080"/>
            <a:ext cx="3606698" cy="502920"/>
          </a:xfrm>
          <a:prstGeom prst="rect">
            <a:avLst/>
          </a:prstGeom>
          <a:solidFill>
            <a:srgbClr val="F4F1EA"/>
          </a:solidFill>
          <a:ln w="12700">
            <a:solidFill>
              <a:srgbClr val="3F6B47"/>
            </a:solidFill>
            <a:prstDash val="solid"/>
          </a:ln>
        </p:spPr>
      </p:sp>
      <p:sp>
        <p:nvSpPr>
          <p:cNvPr id="14" name="Text 10"/>
          <p:cNvSpPr/>
          <p:nvPr/>
        </p:nvSpPr>
        <p:spPr>
          <a:xfrm>
            <a:off x="658368" y="6373368"/>
            <a:ext cx="3387242" cy="201168"/>
          </a:xfrm>
          <a:prstGeom prst="rect">
            <a:avLst/>
          </a:prstGeom>
          <a:noFill/>
          <a:ln/>
        </p:spPr>
        <p:txBody>
          <a:bodyPr wrap="square" lIns="0" tIns="0" rIns="0" bIns="0" rtlCol="0" anchor="ctr"/>
          <a:lstStyle/>
          <a:p>
            <a:pPr indent="0" marL="0">
              <a:buNone/>
            </a:pPr>
            <a:r>
              <a:rPr lang="en-US" sz="1000" b="1" dirty="0">
                <a:solidFill>
                  <a:srgbClr val="3F6B47"/>
                </a:solidFill>
                <a:latin typeface="Calibri" pitchFamily="34" charset="0"/>
                <a:ea typeface="Calibri" pitchFamily="34" charset="-122"/>
                <a:cs typeface="Calibri" pitchFamily="34" charset="-120"/>
              </a:rPr>
              <a:t>L1 · UI · hub-button visibility</a:t>
            </a:r>
            <a:endParaRPr lang="en-US" sz="1000" dirty="0"/>
          </a:p>
        </p:txBody>
      </p:sp>
      <p:sp>
        <p:nvSpPr>
          <p:cNvPr id="15" name="Text 11"/>
          <p:cNvSpPr/>
          <p:nvPr/>
        </p:nvSpPr>
        <p:spPr>
          <a:xfrm>
            <a:off x="658368" y="6565392"/>
            <a:ext cx="3387242" cy="292608"/>
          </a:xfrm>
          <a:prstGeom prst="rect">
            <a:avLst/>
          </a:prstGeom>
          <a:noFill/>
          <a:ln/>
        </p:spPr>
        <p:txBody>
          <a:bodyPr wrap="square" lIns="0" tIns="0" rIns="0" bIns="0" rtlCol="0" anchor="t"/>
          <a:lstStyle/>
          <a:p>
            <a:pPr indent="0" marL="0">
              <a:buNone/>
            </a:pPr>
            <a:r>
              <a:rPr lang="en-US" sz="900" i="1" dirty="0">
                <a:solidFill>
                  <a:srgbClr val="4A4F58"/>
                </a:solidFill>
                <a:latin typeface="Calibri" pitchFamily="34" charset="0"/>
                <a:ea typeface="Calibri" pitchFamily="34" charset="-122"/>
                <a:cs typeface="Calibri" pitchFamily="34" charset="-120"/>
              </a:rPr>
              <a:t>Wrong-hub button is hidden. User cannot see or click the unavailable hub.</a:t>
            </a:r>
            <a:endParaRPr lang="en-US" sz="900" dirty="0"/>
          </a:p>
        </p:txBody>
      </p:sp>
      <p:sp>
        <p:nvSpPr>
          <p:cNvPr id="16" name="Shape 12"/>
          <p:cNvSpPr/>
          <p:nvPr/>
        </p:nvSpPr>
        <p:spPr>
          <a:xfrm>
            <a:off x="4292498" y="6355080"/>
            <a:ext cx="3606698" cy="502920"/>
          </a:xfrm>
          <a:prstGeom prst="rect">
            <a:avLst/>
          </a:prstGeom>
          <a:solidFill>
            <a:srgbClr val="F4F1EA"/>
          </a:solidFill>
          <a:ln w="12700">
            <a:solidFill>
              <a:srgbClr val="1F4D7A"/>
            </a:solidFill>
            <a:prstDash val="solid"/>
          </a:ln>
        </p:spPr>
      </p:sp>
      <p:sp>
        <p:nvSpPr>
          <p:cNvPr id="17" name="Text 13"/>
          <p:cNvSpPr/>
          <p:nvPr/>
        </p:nvSpPr>
        <p:spPr>
          <a:xfrm>
            <a:off x="4402226" y="6373368"/>
            <a:ext cx="3387242" cy="201168"/>
          </a:xfrm>
          <a:prstGeom prst="rect">
            <a:avLst/>
          </a:prstGeom>
          <a:noFill/>
          <a:ln/>
        </p:spPr>
        <p:txBody>
          <a:bodyPr wrap="square" lIns="0" tIns="0" rIns="0" bIns="0" rtlCol="0" anchor="ctr"/>
          <a:lstStyle/>
          <a:p>
            <a:pPr indent="0" marL="0">
              <a:buNone/>
            </a:pPr>
            <a:r>
              <a:rPr lang="en-US" sz="1000" b="1" dirty="0">
                <a:solidFill>
                  <a:srgbClr val="1F4D7A"/>
                </a:solidFill>
                <a:latin typeface="Calibri" pitchFamily="34" charset="0"/>
                <a:ea typeface="Calibri" pitchFamily="34" charset="-122"/>
                <a:cs typeface="Calibri" pitchFamily="34" charset="-120"/>
              </a:rPr>
              <a:t>L2 · Router · activateTab() rejects unauthorized views</a:t>
            </a:r>
            <a:endParaRPr lang="en-US" sz="1000" dirty="0"/>
          </a:p>
        </p:txBody>
      </p:sp>
      <p:sp>
        <p:nvSpPr>
          <p:cNvPr id="18" name="Text 14"/>
          <p:cNvSpPr/>
          <p:nvPr/>
        </p:nvSpPr>
        <p:spPr>
          <a:xfrm>
            <a:off x="4402226" y="6565392"/>
            <a:ext cx="3387242" cy="292608"/>
          </a:xfrm>
          <a:prstGeom prst="rect">
            <a:avLst/>
          </a:prstGeom>
          <a:noFill/>
          <a:ln/>
        </p:spPr>
        <p:txBody>
          <a:bodyPr wrap="square" lIns="0" tIns="0" rIns="0" bIns="0" rtlCol="0" anchor="t"/>
          <a:lstStyle/>
          <a:p>
            <a:pPr indent="0" marL="0">
              <a:buNone/>
            </a:pPr>
            <a:r>
              <a:rPr lang="en-US" sz="900" i="1" dirty="0">
                <a:solidFill>
                  <a:srgbClr val="4A4F58"/>
                </a:solidFill>
                <a:latin typeface="Calibri" pitchFamily="34" charset="0"/>
                <a:ea typeface="Calibri" pitchFamily="34" charset="-122"/>
                <a:cs typeface="Calibri" pitchFamily="34" charset="-120"/>
              </a:rPr>
              <a:t>Programmatic clicks (e.g., direct button.click()) blocked + audit-logged.</a:t>
            </a:r>
            <a:endParaRPr lang="en-US" sz="900" dirty="0"/>
          </a:p>
        </p:txBody>
      </p:sp>
      <p:sp>
        <p:nvSpPr>
          <p:cNvPr id="19" name="Shape 15"/>
          <p:cNvSpPr/>
          <p:nvPr/>
        </p:nvSpPr>
        <p:spPr>
          <a:xfrm>
            <a:off x="8036357" y="6355080"/>
            <a:ext cx="3606698" cy="502920"/>
          </a:xfrm>
          <a:prstGeom prst="rect">
            <a:avLst/>
          </a:prstGeom>
          <a:solidFill>
            <a:srgbClr val="F4F1EA"/>
          </a:solidFill>
          <a:ln w="12700">
            <a:solidFill>
              <a:srgbClr val="AB0520"/>
            </a:solidFill>
            <a:prstDash val="solid"/>
          </a:ln>
        </p:spPr>
      </p:sp>
      <p:sp>
        <p:nvSpPr>
          <p:cNvPr id="20" name="Text 16"/>
          <p:cNvSpPr/>
          <p:nvPr/>
        </p:nvSpPr>
        <p:spPr>
          <a:xfrm>
            <a:off x="8146085" y="6373368"/>
            <a:ext cx="3387242" cy="201168"/>
          </a:xfrm>
          <a:prstGeom prst="rect">
            <a:avLst/>
          </a:prstGeom>
          <a:noFill/>
          <a:ln/>
        </p:spPr>
        <p:txBody>
          <a:bodyPr wrap="square" lIns="0" tIns="0" rIns="0" bIns="0" rtlCol="0" anchor="ctr"/>
          <a:lstStyle/>
          <a:p>
            <a:pPr indent="0" marL="0">
              <a:buNone/>
            </a:pPr>
            <a:r>
              <a:rPr lang="en-US" sz="1000" b="1" dirty="0">
                <a:solidFill>
                  <a:srgbClr val="AB0520"/>
                </a:solidFill>
                <a:latin typeface="Calibri" pitchFamily="34" charset="0"/>
                <a:ea typeface="Calibri" pitchFamily="34" charset="-122"/>
                <a:cs typeface="Calibri" pitchFamily="34" charset="-120"/>
              </a:rPr>
              <a:t>L3 · Renderer · access-policy refusal</a:t>
            </a:r>
            <a:endParaRPr lang="en-US" sz="1000" dirty="0"/>
          </a:p>
        </p:txBody>
      </p:sp>
      <p:sp>
        <p:nvSpPr>
          <p:cNvPr id="21" name="Text 17"/>
          <p:cNvSpPr/>
          <p:nvPr/>
        </p:nvSpPr>
        <p:spPr>
          <a:xfrm>
            <a:off x="8146085" y="6565392"/>
            <a:ext cx="3387242" cy="292608"/>
          </a:xfrm>
          <a:prstGeom prst="rect">
            <a:avLst/>
          </a:prstGeom>
          <a:noFill/>
          <a:ln/>
        </p:spPr>
        <p:txBody>
          <a:bodyPr wrap="square" lIns="0" tIns="0" rIns="0" bIns="0" rtlCol="0" anchor="t"/>
          <a:lstStyle/>
          <a:p>
            <a:pPr indent="0" marL="0">
              <a:buNone/>
            </a:pPr>
            <a:r>
              <a:rPr lang="en-US" sz="900" i="1" dirty="0">
                <a:solidFill>
                  <a:srgbClr val="4A4F58"/>
                </a:solidFill>
                <a:latin typeface="Calibri" pitchFamily="34" charset="0"/>
                <a:ea typeface="Calibri" pitchFamily="34" charset="-122"/>
                <a:cs typeface="Calibri" pitchFamily="34" charset="-120"/>
              </a:rPr>
              <a:t>Workspace renderer refuses to instantiate the patient list for PH users.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PHASE 6 · FEDERATION + CDS</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Per-site FHIR shadow stores · consent · one-click reporting</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11094415" cy="777240"/>
          </a:xfrm>
          <a:prstGeom prst="rect">
            <a:avLst/>
          </a:prstGeom>
          <a:noFill/>
          <a:ln/>
        </p:spPr>
        <p:txBody>
          <a:bodyPr wrap="square" lIns="0" tIns="0" rIns="0" bIns="0" rtlCol="0" anchor="t"/>
          <a:lstStyle/>
          <a:p>
            <a:pPr indent="0" marL="0">
              <a:buNone/>
            </a:pPr>
            <a:r>
              <a:rPr lang="en-US" sz="1200" i="1" dirty="0">
                <a:solidFill>
                  <a:srgbClr val="4A4F58"/>
                </a:solidFill>
                <a:latin typeface="Calibri" pitchFamily="34" charset="0"/>
                <a:ea typeface="Calibri" pitchFamily="34" charset="-122"/>
                <a:cs typeface="Calibri" pitchFamily="34" charset="-120"/>
              </a:rPr>
              <a:t>Production-grade integration: ONE-HealthRecord becomes a federated consumer of partner FHIR endpoints, not a central database. Cross-species linkage is gated by explicit consent. The Hernandez Valley Fever cluster fires real reportable-disease pushes, end-to-end, in one click.</a:t>
            </a:r>
            <a:endParaRPr lang="en-US" sz="1200" dirty="0"/>
          </a:p>
        </p:txBody>
      </p:sp>
      <p:sp>
        <p:nvSpPr>
          <p:cNvPr id="8" name="Shape 5"/>
          <p:cNvSpPr/>
          <p:nvPr/>
        </p:nvSpPr>
        <p:spPr>
          <a:xfrm>
            <a:off x="548640" y="2606040"/>
            <a:ext cx="3545738" cy="1691640"/>
          </a:xfrm>
          <a:prstGeom prst="rect">
            <a:avLst/>
          </a:prstGeom>
          <a:solidFill>
            <a:srgbClr val="F4F1EA"/>
          </a:solidFill>
          <a:ln w="15240">
            <a:solidFill>
              <a:srgbClr val="AB0520"/>
            </a:solidFill>
            <a:prstDash val="solid"/>
          </a:ln>
        </p:spPr>
      </p:sp>
      <p:sp>
        <p:nvSpPr>
          <p:cNvPr id="9" name="Text 6"/>
          <p:cNvSpPr/>
          <p:nvPr/>
        </p:nvSpPr>
        <p:spPr>
          <a:xfrm>
            <a:off x="713232" y="2697480"/>
            <a:ext cx="3216554" cy="320040"/>
          </a:xfrm>
          <a:prstGeom prst="rect">
            <a:avLst/>
          </a:prstGeom>
          <a:noFill/>
          <a:ln/>
        </p:spPr>
        <p:txBody>
          <a:bodyPr wrap="square" lIns="0" tIns="0" rIns="0" bIns="0" rtlCol="0" anchor="ctr"/>
          <a:lstStyle/>
          <a:p>
            <a:pPr indent="0" marL="0">
              <a:buNone/>
            </a:pPr>
            <a:r>
              <a:rPr lang="en-US" sz="1200" b="1" dirty="0">
                <a:solidFill>
                  <a:srgbClr val="AB0520"/>
                </a:solidFill>
                <a:latin typeface="Georgia" pitchFamily="34" charset="0"/>
                <a:ea typeface="Georgia" pitchFamily="34" charset="-122"/>
                <a:cs typeface="Georgia" pitchFamily="34" charset="-120"/>
              </a:rPr>
              <a:t>Per-site FHIR shadow stores</a:t>
            </a:r>
            <a:endParaRPr lang="en-US" sz="1200" dirty="0"/>
          </a:p>
        </p:txBody>
      </p:sp>
      <p:sp>
        <p:nvSpPr>
          <p:cNvPr id="10" name="Text 7"/>
          <p:cNvSpPr/>
          <p:nvPr/>
        </p:nvSpPr>
        <p:spPr>
          <a:xfrm>
            <a:off x="713232" y="297180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13</a:t>
            </a:r>
            <a:endParaRPr lang="en-US" sz="3000" dirty="0"/>
          </a:p>
        </p:txBody>
      </p:sp>
      <p:sp>
        <p:nvSpPr>
          <p:cNvPr id="11" name="Text 8"/>
          <p:cNvSpPr/>
          <p:nvPr/>
        </p:nvSpPr>
        <p:spPr>
          <a:xfrm>
            <a:off x="713232" y="352044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partner sites federated</a:t>
            </a:r>
            <a:endParaRPr lang="en-US" sz="900" dirty="0"/>
          </a:p>
        </p:txBody>
      </p:sp>
      <p:sp>
        <p:nvSpPr>
          <p:cNvPr id="12" name="Text 9"/>
          <p:cNvSpPr/>
          <p:nvPr/>
        </p:nvSpPr>
        <p:spPr>
          <a:xfrm>
            <a:off x="713232" y="3749040"/>
            <a:ext cx="3216554" cy="59436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6 hospital systems (Epic, Cerner) · 4 vet networks (IDEXX, Covetrus, AVImark) · 3 PH sinks (ADHS, tribal, USDA APHIS). Each site holds only its own slice. The app fans out FHIR queries with SMART-on-FHIR auth. Wire log surfaces every cross-site fetch in real time.</a:t>
            </a:r>
            <a:endParaRPr lang="en-US" sz="950" dirty="0"/>
          </a:p>
        </p:txBody>
      </p:sp>
      <p:sp>
        <p:nvSpPr>
          <p:cNvPr id="13" name="Shape 10"/>
          <p:cNvSpPr/>
          <p:nvPr/>
        </p:nvSpPr>
        <p:spPr>
          <a:xfrm>
            <a:off x="4322978" y="2606040"/>
            <a:ext cx="3545738" cy="1691640"/>
          </a:xfrm>
          <a:prstGeom prst="rect">
            <a:avLst/>
          </a:prstGeom>
          <a:solidFill>
            <a:srgbClr val="F4F1EA"/>
          </a:solidFill>
          <a:ln w="15240">
            <a:solidFill>
              <a:srgbClr val="1F4D7A"/>
            </a:solidFill>
            <a:prstDash val="solid"/>
          </a:ln>
        </p:spPr>
      </p:sp>
      <p:sp>
        <p:nvSpPr>
          <p:cNvPr id="14" name="Text 11"/>
          <p:cNvSpPr/>
          <p:nvPr/>
        </p:nvSpPr>
        <p:spPr>
          <a:xfrm>
            <a:off x="4487570" y="2697480"/>
            <a:ext cx="3216554" cy="320040"/>
          </a:xfrm>
          <a:prstGeom prst="rect">
            <a:avLst/>
          </a:prstGeom>
          <a:noFill/>
          <a:ln/>
        </p:spPr>
        <p:txBody>
          <a:bodyPr wrap="square" lIns="0" tIns="0" rIns="0" bIns="0" rtlCol="0" anchor="ctr"/>
          <a:lstStyle/>
          <a:p>
            <a:pPr indent="0" marL="0">
              <a:buNone/>
            </a:pPr>
            <a:r>
              <a:rPr lang="en-US" sz="1200" b="1" dirty="0">
                <a:solidFill>
                  <a:srgbClr val="1F4D7A"/>
                </a:solidFill>
                <a:latin typeface="Georgia" pitchFamily="34" charset="0"/>
                <a:ea typeface="Georgia" pitchFamily="34" charset="-122"/>
                <a:cs typeface="Georgia" pitchFamily="34" charset="-120"/>
              </a:rPr>
              <a:t>Probabilistic eMPI</a:t>
            </a:r>
            <a:endParaRPr lang="en-US" sz="1200" dirty="0"/>
          </a:p>
        </p:txBody>
      </p:sp>
      <p:sp>
        <p:nvSpPr>
          <p:cNvPr id="15" name="Text 12"/>
          <p:cNvSpPr/>
          <p:nvPr/>
        </p:nvSpPr>
        <p:spPr>
          <a:xfrm>
            <a:off x="4487570" y="297180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117k</a:t>
            </a:r>
            <a:endParaRPr lang="en-US" sz="3000" dirty="0"/>
          </a:p>
        </p:txBody>
      </p:sp>
      <p:sp>
        <p:nvSpPr>
          <p:cNvPr id="16" name="Text 13"/>
          <p:cNvSpPr/>
          <p:nvPr/>
        </p:nvSpPr>
        <p:spPr>
          <a:xfrm>
            <a:off x="4487570" y="352044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candidate pairs scored</a:t>
            </a:r>
            <a:endParaRPr lang="en-US" sz="900" dirty="0"/>
          </a:p>
        </p:txBody>
      </p:sp>
      <p:sp>
        <p:nvSpPr>
          <p:cNvPr id="17" name="Text 14"/>
          <p:cNvSpPr/>
          <p:nvPr/>
        </p:nvSpPr>
        <p:spPr>
          <a:xfrm>
            <a:off x="4487570" y="3749040"/>
            <a:ext cx="3216554" cy="59436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Fellegi-Sunter scoring on last-name × first-name × DOB × address × ZIP. 3 auto-links surfaced (Maria↔M Hernandez, Robert↔Bob Williams, James↔Jim Becker — across sites). 2,857 clerical-review pairs queued. Hard rule: DOB ≥ 0.99 + last-name ≥ 0.85 required for auto-link.</a:t>
            </a:r>
            <a:endParaRPr lang="en-US" sz="950" dirty="0"/>
          </a:p>
        </p:txBody>
      </p:sp>
      <p:sp>
        <p:nvSpPr>
          <p:cNvPr id="18" name="Shape 15"/>
          <p:cNvSpPr/>
          <p:nvPr/>
        </p:nvSpPr>
        <p:spPr>
          <a:xfrm>
            <a:off x="8097317" y="2606040"/>
            <a:ext cx="3545738" cy="1691640"/>
          </a:xfrm>
          <a:prstGeom prst="rect">
            <a:avLst/>
          </a:prstGeom>
          <a:solidFill>
            <a:srgbClr val="F4F1EA"/>
          </a:solidFill>
          <a:ln w="15240">
            <a:solidFill>
              <a:srgbClr val="D89F2E"/>
            </a:solidFill>
            <a:prstDash val="solid"/>
          </a:ln>
        </p:spPr>
      </p:sp>
      <p:sp>
        <p:nvSpPr>
          <p:cNvPr id="19" name="Text 16"/>
          <p:cNvSpPr/>
          <p:nvPr/>
        </p:nvSpPr>
        <p:spPr>
          <a:xfrm>
            <a:off x="8261909" y="2697480"/>
            <a:ext cx="3216554" cy="320040"/>
          </a:xfrm>
          <a:prstGeom prst="rect">
            <a:avLst/>
          </a:prstGeom>
          <a:noFill/>
          <a:ln/>
        </p:spPr>
        <p:txBody>
          <a:bodyPr wrap="square" lIns="0" tIns="0" rIns="0" bIns="0" rtlCol="0" anchor="ctr"/>
          <a:lstStyle/>
          <a:p>
            <a:pPr indent="0" marL="0">
              <a:buNone/>
            </a:pPr>
            <a:r>
              <a:rPr lang="en-US" sz="1200" b="1" dirty="0">
                <a:solidFill>
                  <a:srgbClr val="D89F2E"/>
                </a:solidFill>
                <a:latin typeface="Georgia" pitchFamily="34" charset="0"/>
                <a:ea typeface="Georgia" pitchFamily="34" charset="-122"/>
                <a:cs typeface="Georgia" pitchFamily="34" charset="-120"/>
              </a:rPr>
              <a:t>Consent gating</a:t>
            </a:r>
            <a:endParaRPr lang="en-US" sz="1200" dirty="0"/>
          </a:p>
        </p:txBody>
      </p:sp>
      <p:sp>
        <p:nvSpPr>
          <p:cNvPr id="20" name="Text 17"/>
          <p:cNvSpPr/>
          <p:nvPr/>
        </p:nvSpPr>
        <p:spPr>
          <a:xfrm>
            <a:off x="8261909" y="297180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360</a:t>
            </a:r>
            <a:endParaRPr lang="en-US" sz="3000" dirty="0"/>
          </a:p>
        </p:txBody>
      </p:sp>
      <p:sp>
        <p:nvSpPr>
          <p:cNvPr id="21" name="Text 18"/>
          <p:cNvSpPr/>
          <p:nvPr/>
        </p:nvSpPr>
        <p:spPr>
          <a:xfrm>
            <a:off x="8261909" y="352044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FHIR Consent resources</a:t>
            </a:r>
            <a:endParaRPr lang="en-US" sz="900" dirty="0"/>
          </a:p>
        </p:txBody>
      </p:sp>
      <p:sp>
        <p:nvSpPr>
          <p:cNvPr id="22" name="Text 19"/>
          <p:cNvSpPr/>
          <p:nvPr/>
        </p:nvSpPr>
        <p:spPr>
          <a:xfrm>
            <a:off x="8261909" y="3749040"/>
            <a:ext cx="3216554" cy="59436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Williams + Becker households declined cross-species linkage at intake. Architecture respects the decision: pointer is suppressed, household graph stays compartmentalized, surveillance feed sees only the consenting side. Single-species clinical care continues unaffected.</a:t>
            </a:r>
            <a:endParaRPr lang="en-US" sz="950" dirty="0"/>
          </a:p>
        </p:txBody>
      </p:sp>
      <p:sp>
        <p:nvSpPr>
          <p:cNvPr id="23" name="Shape 20"/>
          <p:cNvSpPr/>
          <p:nvPr/>
        </p:nvSpPr>
        <p:spPr>
          <a:xfrm>
            <a:off x="548640" y="4526280"/>
            <a:ext cx="11094415" cy="1508760"/>
          </a:xfrm>
          <a:prstGeom prst="rect">
            <a:avLst/>
          </a:prstGeom>
          <a:solidFill>
            <a:srgbClr val="F4F1EA"/>
          </a:solidFill>
          <a:ln w="19050">
            <a:solidFill>
              <a:srgbClr val="1F4D7A"/>
            </a:solidFill>
            <a:prstDash val="solid"/>
          </a:ln>
        </p:spPr>
      </p:sp>
      <p:sp>
        <p:nvSpPr>
          <p:cNvPr id="24" name="Text 21"/>
          <p:cNvSpPr/>
          <p:nvPr/>
        </p:nvSpPr>
        <p:spPr>
          <a:xfrm>
            <a:off x="731520" y="4617720"/>
            <a:ext cx="10728655" cy="320040"/>
          </a:xfrm>
          <a:prstGeom prst="rect">
            <a:avLst/>
          </a:prstGeom>
          <a:noFill/>
          <a:ln/>
        </p:spPr>
        <p:txBody>
          <a:bodyPr wrap="square" lIns="0" tIns="0" rIns="0" bIns="0" rtlCol="0" anchor="ctr"/>
          <a:lstStyle/>
          <a:p>
            <a:pPr indent="0" marL="0">
              <a:buNone/>
            </a:pPr>
            <a:r>
              <a:rPr lang="en-US" sz="1300" b="1" dirty="0">
                <a:solidFill>
                  <a:srgbClr val="1F4D7A"/>
                </a:solidFill>
                <a:latin typeface="Georgia" pitchFamily="34" charset="0"/>
                <a:ea typeface="Georgia" pitchFamily="34" charset="-122"/>
                <a:cs typeface="Georgia" pitchFamily="34" charset="-120"/>
              </a:rPr>
              <a:t>Closed-loop CDS — order set + one-click NNDSS / VSPS reporting + alert state machine</a:t>
            </a:r>
            <a:endParaRPr lang="en-US" sz="1300" dirty="0"/>
          </a:p>
        </p:txBody>
      </p:sp>
      <p:sp>
        <p:nvSpPr>
          <p:cNvPr id="25" name="Text 22"/>
          <p:cNvSpPr/>
          <p:nvPr/>
        </p:nvSpPr>
        <p:spPr>
          <a:xfrm>
            <a:off x="731520" y="4937760"/>
            <a:ext cx="10728655" cy="1097280"/>
          </a:xfrm>
          <a:prstGeom prst="rect">
            <a:avLst/>
          </a:prstGeom>
          <a:noFill/>
          <a:ln/>
        </p:spPr>
        <p:txBody>
          <a:bodyPr wrap="square" lIns="0" tIns="0" rIns="0" bIns="0" rtlCol="0" anchor="t"/>
          <a:lstStyle/>
          <a:p>
            <a:pPr indent="0" marL="0">
              <a:buNone/>
            </a:pPr>
            <a:r>
              <a:rPr lang="en-US" sz="1050" dirty="0">
                <a:solidFill>
                  <a:srgbClr val="1F2228"/>
                </a:solidFill>
                <a:latin typeface="Calibri" pitchFamily="34" charset="0"/>
                <a:ea typeface="Calibri" pitchFamily="34" charset="-122"/>
                <a:cs typeface="Calibri" pitchFamily="34" charset="-120"/>
              </a:rPr>
              <a:t>When a confirmed reportable disease is detected, the CDS panel pre-populates the order set with real LOINC and CPT codes (Coccidioides serology IgM/IgG, CBC, CMP, chest X-ray for valley fever). One-click submission generates a properly formatted HL7 v2.5.1 ELR message (human side, NNDSS condition code 11020) or USDA APHIS VSPS payload (animal side) and pushes to the appropriate authority. The 6-state alert state machine (fired → acknowledged → ordered → resulted → reported → closed) tracks closure rate. Patient handouts auto-generate in English and Spanish; Diné and Western Apache scaffolded with explicit "pending tribal-IRB-vetted translator" placeholders.</a:t>
            </a:r>
            <a:endParaRPr lang="en-US" sz="1050" dirty="0"/>
          </a:p>
        </p:txBody>
      </p:sp>
      <p:sp>
        <p:nvSpPr>
          <p:cNvPr id="26" name="Text 23"/>
          <p:cNvSpPr/>
          <p:nvPr/>
        </p:nvSpPr>
        <p:spPr>
          <a:xfrm>
            <a:off x="548640" y="6172200"/>
            <a:ext cx="11094415" cy="502920"/>
          </a:xfrm>
          <a:prstGeom prst="rect">
            <a:avLst/>
          </a:prstGeom>
          <a:noFill/>
          <a:ln/>
        </p:spPr>
        <p:txBody>
          <a:bodyPr wrap="square" lIns="0" tIns="0" rIns="0" bIns="0" rtlCol="0" anchor="t"/>
          <a:lstStyle/>
          <a:p>
            <a:pPr indent="0" marL="0">
              <a:buNone/>
            </a:pPr>
            <a:r>
              <a:rPr lang="en-US" sz="1150" i="1" dirty="0">
                <a:solidFill>
                  <a:srgbClr val="AB0520"/>
                </a:solidFill>
                <a:latin typeface="Georgia" pitchFamily="34" charset="0"/>
                <a:ea typeface="Georgia" pitchFamily="34" charset="-122"/>
                <a:cs typeface="Georgia" pitchFamily="34" charset="-120"/>
              </a:rPr>
              <a:t>Headline outcome — Reduces a 60-minute paper-based ADHS reporting workflow to a 4-minute one-click submission. ADHS estimates 70% of valley fever cases go unreported under the current workflow; closing this loop is the highest-leverage public-health intervention in the system.</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PHASE 7 · REPORTABLE DISEASE COVERAGE</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72 diseases across 5 authorities · 234 cases placed · multi-agency one-click push</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11094415" cy="777240"/>
          </a:xfrm>
          <a:prstGeom prst="rect">
            <a:avLst/>
          </a:prstGeom>
          <a:noFill/>
          <a:ln/>
        </p:spPr>
        <p:txBody>
          <a:bodyPr wrap="square" lIns="0" tIns="0" rIns="0" bIns="0" rtlCol="0" anchor="t"/>
          <a:lstStyle/>
          <a:p>
            <a:pPr indent="0" marL="0">
              <a:buNone/>
            </a:pPr>
            <a:r>
              <a:rPr lang="en-US" sz="1200" i="1" dirty="0">
                <a:solidFill>
                  <a:srgbClr val="4A4F58"/>
                </a:solidFill>
                <a:latin typeface="Calibri" pitchFamily="34" charset="0"/>
                <a:ea typeface="Calibri" pitchFamily="34" charset="-122"/>
                <a:cs typeface="Calibri" pitchFamily="34" charset="-120"/>
              </a:rPr>
              <a:t>Every reportable disease in Arizona — and the federal lists that intersect — encoded with reporting timeline, destinations, and machine-prepared submission messages. Every case in the dataset gets a one-click "Report this case" button.</a:t>
            </a:r>
            <a:endParaRPr lang="en-US" sz="1200" dirty="0"/>
          </a:p>
        </p:txBody>
      </p:sp>
      <p:sp>
        <p:nvSpPr>
          <p:cNvPr id="8" name="Shape 5"/>
          <p:cNvSpPr/>
          <p:nvPr/>
        </p:nvSpPr>
        <p:spPr>
          <a:xfrm>
            <a:off x="548640" y="2606040"/>
            <a:ext cx="3545738" cy="1691640"/>
          </a:xfrm>
          <a:prstGeom prst="rect">
            <a:avLst/>
          </a:prstGeom>
          <a:solidFill>
            <a:srgbClr val="F4F1EA"/>
          </a:solidFill>
          <a:ln w="15240">
            <a:solidFill>
              <a:srgbClr val="AB0520"/>
            </a:solidFill>
            <a:prstDash val="solid"/>
          </a:ln>
        </p:spPr>
      </p:sp>
      <p:sp>
        <p:nvSpPr>
          <p:cNvPr id="9" name="Text 6"/>
          <p:cNvSpPr/>
          <p:nvPr/>
        </p:nvSpPr>
        <p:spPr>
          <a:xfrm>
            <a:off x="713232" y="2697480"/>
            <a:ext cx="3216554" cy="320040"/>
          </a:xfrm>
          <a:prstGeom prst="rect">
            <a:avLst/>
          </a:prstGeom>
          <a:noFill/>
          <a:ln/>
        </p:spPr>
        <p:txBody>
          <a:bodyPr wrap="square" lIns="0" tIns="0" rIns="0" bIns="0" rtlCol="0" anchor="ctr"/>
          <a:lstStyle/>
          <a:p>
            <a:pPr indent="0" marL="0">
              <a:buNone/>
            </a:pPr>
            <a:r>
              <a:rPr lang="en-US" sz="1200" b="1" dirty="0">
                <a:solidFill>
                  <a:srgbClr val="AB0520"/>
                </a:solidFill>
                <a:latin typeface="Georgia" pitchFamily="34" charset="0"/>
                <a:ea typeface="Georgia" pitchFamily="34" charset="-122"/>
                <a:cs typeface="Georgia" pitchFamily="34" charset="-120"/>
              </a:rPr>
              <a:t>Reportable diseases encoded</a:t>
            </a:r>
            <a:endParaRPr lang="en-US" sz="1200" dirty="0"/>
          </a:p>
        </p:txBody>
      </p:sp>
      <p:sp>
        <p:nvSpPr>
          <p:cNvPr id="10" name="Text 7"/>
          <p:cNvSpPr/>
          <p:nvPr/>
        </p:nvSpPr>
        <p:spPr>
          <a:xfrm>
            <a:off x="713232" y="297180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72</a:t>
            </a:r>
            <a:endParaRPr lang="en-US" sz="3000" dirty="0"/>
          </a:p>
        </p:txBody>
      </p:sp>
      <p:sp>
        <p:nvSpPr>
          <p:cNvPr id="11" name="Text 8"/>
          <p:cNvSpPr/>
          <p:nvPr/>
        </p:nvSpPr>
        <p:spPr>
          <a:xfrm>
            <a:off x="713232" y="352044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from 4 authorities</a:t>
            </a:r>
            <a:endParaRPr lang="en-US" sz="900" dirty="0"/>
          </a:p>
        </p:txBody>
      </p:sp>
      <p:sp>
        <p:nvSpPr>
          <p:cNvPr id="12" name="Text 9"/>
          <p:cNvSpPr/>
          <p:nvPr/>
        </p:nvSpPr>
        <p:spPr>
          <a:xfrm>
            <a:off x="713232" y="3749040"/>
            <a:ext cx="3216554" cy="59436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Every disease on ADHS R9-6-202 (effective 2025-06-02) plus CDC NNDSS condition codes, USDA APHIS NLRAD notifiable + monitored, AZ Department of Agriculture required reportables, and AZ Game and Fish recommendations. 69 human-reportable, 19 animal-reportable, 41 zoonotic, 10 federal Select Agents.</a:t>
            </a:r>
            <a:endParaRPr lang="en-US" sz="950" dirty="0"/>
          </a:p>
        </p:txBody>
      </p:sp>
      <p:sp>
        <p:nvSpPr>
          <p:cNvPr id="13" name="Shape 10"/>
          <p:cNvSpPr/>
          <p:nvPr/>
        </p:nvSpPr>
        <p:spPr>
          <a:xfrm>
            <a:off x="4322978" y="2606040"/>
            <a:ext cx="3545738" cy="1691640"/>
          </a:xfrm>
          <a:prstGeom prst="rect">
            <a:avLst/>
          </a:prstGeom>
          <a:solidFill>
            <a:srgbClr val="F4F1EA"/>
          </a:solidFill>
          <a:ln w="15240">
            <a:solidFill>
              <a:srgbClr val="1F4D7A"/>
            </a:solidFill>
            <a:prstDash val="solid"/>
          </a:ln>
        </p:spPr>
      </p:sp>
      <p:sp>
        <p:nvSpPr>
          <p:cNvPr id="14" name="Text 11"/>
          <p:cNvSpPr/>
          <p:nvPr/>
        </p:nvSpPr>
        <p:spPr>
          <a:xfrm>
            <a:off x="4487570" y="2697480"/>
            <a:ext cx="3216554" cy="320040"/>
          </a:xfrm>
          <a:prstGeom prst="rect">
            <a:avLst/>
          </a:prstGeom>
          <a:noFill/>
          <a:ln/>
        </p:spPr>
        <p:txBody>
          <a:bodyPr wrap="square" lIns="0" tIns="0" rIns="0" bIns="0" rtlCol="0" anchor="ctr"/>
          <a:lstStyle/>
          <a:p>
            <a:pPr indent="0" marL="0">
              <a:buNone/>
            </a:pPr>
            <a:r>
              <a:rPr lang="en-US" sz="1200" b="1" dirty="0">
                <a:solidFill>
                  <a:srgbClr val="1F4D7A"/>
                </a:solidFill>
                <a:latin typeface="Georgia" pitchFamily="34" charset="0"/>
                <a:ea typeface="Georgia" pitchFamily="34" charset="-122"/>
                <a:cs typeface="Georgia" pitchFamily="34" charset="-120"/>
              </a:rPr>
              <a:t>Cases placed in the dataset</a:t>
            </a:r>
            <a:endParaRPr lang="en-US" sz="1200" dirty="0"/>
          </a:p>
        </p:txBody>
      </p:sp>
      <p:sp>
        <p:nvSpPr>
          <p:cNvPr id="15" name="Text 12"/>
          <p:cNvSpPr/>
          <p:nvPr/>
        </p:nvSpPr>
        <p:spPr>
          <a:xfrm>
            <a:off x="4487570" y="297180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234</a:t>
            </a:r>
            <a:endParaRPr lang="en-US" sz="3000" dirty="0"/>
          </a:p>
        </p:txBody>
      </p:sp>
      <p:sp>
        <p:nvSpPr>
          <p:cNvPr id="16" name="Text 13"/>
          <p:cNvSpPr/>
          <p:nvPr/>
        </p:nvSpPr>
        <p:spPr>
          <a:xfrm>
            <a:off x="4487570" y="352044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208 human · 26 animal</a:t>
            </a:r>
            <a:endParaRPr lang="en-US" sz="900" dirty="0"/>
          </a:p>
        </p:txBody>
      </p:sp>
      <p:sp>
        <p:nvSpPr>
          <p:cNvPr id="17" name="Text 14"/>
          <p:cNvSpPr/>
          <p:nvPr/>
        </p:nvSpPr>
        <p:spPr>
          <a:xfrm>
            <a:off x="4487570" y="3749040"/>
            <a:ext cx="3216554" cy="59436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Across 60+ diseases with realistic AZ epidemiology — cocci 28, salmonella 18, gonorrhea 16, RMSF 12, syphilis 11, plus rare-but-tracked cases (plague, hantavirus, brucellosis, q-fever, measles, anthrax) for full timeline coverage. County endemicity weighting reflects published patterns.</a:t>
            </a:r>
            <a:endParaRPr lang="en-US" sz="950" dirty="0"/>
          </a:p>
        </p:txBody>
      </p:sp>
      <p:sp>
        <p:nvSpPr>
          <p:cNvPr id="18" name="Shape 15"/>
          <p:cNvSpPr/>
          <p:nvPr/>
        </p:nvSpPr>
        <p:spPr>
          <a:xfrm>
            <a:off x="8097317" y="2606040"/>
            <a:ext cx="3545738" cy="1691640"/>
          </a:xfrm>
          <a:prstGeom prst="rect">
            <a:avLst/>
          </a:prstGeom>
          <a:solidFill>
            <a:srgbClr val="F4F1EA"/>
          </a:solidFill>
          <a:ln w="15240">
            <a:solidFill>
              <a:srgbClr val="D89F2E"/>
            </a:solidFill>
            <a:prstDash val="solid"/>
          </a:ln>
        </p:spPr>
      </p:sp>
      <p:sp>
        <p:nvSpPr>
          <p:cNvPr id="19" name="Text 16"/>
          <p:cNvSpPr/>
          <p:nvPr/>
        </p:nvSpPr>
        <p:spPr>
          <a:xfrm>
            <a:off x="8261909" y="2697480"/>
            <a:ext cx="3216554" cy="320040"/>
          </a:xfrm>
          <a:prstGeom prst="rect">
            <a:avLst/>
          </a:prstGeom>
          <a:noFill/>
          <a:ln/>
        </p:spPr>
        <p:txBody>
          <a:bodyPr wrap="square" lIns="0" tIns="0" rIns="0" bIns="0" rtlCol="0" anchor="ctr"/>
          <a:lstStyle/>
          <a:p>
            <a:pPr indent="0" marL="0">
              <a:buNone/>
            </a:pPr>
            <a:r>
              <a:rPr lang="en-US" sz="1200" b="1" dirty="0">
                <a:solidFill>
                  <a:srgbClr val="D89F2E"/>
                </a:solidFill>
                <a:latin typeface="Georgia" pitchFamily="34" charset="0"/>
                <a:ea typeface="Georgia" pitchFamily="34" charset="-122"/>
                <a:cs typeface="Georgia" pitchFamily="34" charset="-120"/>
              </a:rPr>
              <a:t>Reporting destinations</a:t>
            </a:r>
            <a:endParaRPr lang="en-US" sz="1200" dirty="0"/>
          </a:p>
        </p:txBody>
      </p:sp>
      <p:sp>
        <p:nvSpPr>
          <p:cNvPr id="20" name="Text 17"/>
          <p:cNvSpPr/>
          <p:nvPr/>
        </p:nvSpPr>
        <p:spPr>
          <a:xfrm>
            <a:off x="8261909" y="297180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8</a:t>
            </a:r>
            <a:endParaRPr lang="en-US" sz="3000" dirty="0"/>
          </a:p>
        </p:txBody>
      </p:sp>
      <p:sp>
        <p:nvSpPr>
          <p:cNvPr id="21" name="Text 18"/>
          <p:cNvSpPr/>
          <p:nvPr/>
        </p:nvSpPr>
        <p:spPr>
          <a:xfrm>
            <a:off x="8261909" y="352044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fanned out per case</a:t>
            </a:r>
            <a:endParaRPr lang="en-US" sz="900" dirty="0"/>
          </a:p>
        </p:txBody>
      </p:sp>
      <p:sp>
        <p:nvSpPr>
          <p:cNvPr id="22" name="Text 19"/>
          <p:cNvSpPr/>
          <p:nvPr/>
        </p:nvSpPr>
        <p:spPr>
          <a:xfrm>
            <a:off x="8261909" y="3749040"/>
            <a:ext cx="3216554" cy="59436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ADHS · CDC NNDSS · local county health · tribal health (if applicable) · AZ Dept of Agriculture · USDA APHIS · AZ Game and Fish · ADHS One Health cross-species feed. Each disease's destination set is encoded in the database; the workflow computes which fire for each case.</a:t>
            </a:r>
            <a:endParaRPr lang="en-US" sz="950" dirty="0"/>
          </a:p>
        </p:txBody>
      </p:sp>
      <p:sp>
        <p:nvSpPr>
          <p:cNvPr id="23" name="Shape 20"/>
          <p:cNvSpPr/>
          <p:nvPr/>
        </p:nvSpPr>
        <p:spPr>
          <a:xfrm>
            <a:off x="548640" y="4526280"/>
            <a:ext cx="11094415" cy="1508760"/>
          </a:xfrm>
          <a:prstGeom prst="rect">
            <a:avLst/>
          </a:prstGeom>
          <a:solidFill>
            <a:srgbClr val="F4F1EA"/>
          </a:solidFill>
          <a:ln w="19050">
            <a:solidFill>
              <a:srgbClr val="AB0520"/>
            </a:solidFill>
            <a:prstDash val="solid"/>
          </a:ln>
        </p:spPr>
      </p:sp>
      <p:sp>
        <p:nvSpPr>
          <p:cNvPr id="24" name="Text 21"/>
          <p:cNvSpPr/>
          <p:nvPr/>
        </p:nvSpPr>
        <p:spPr>
          <a:xfrm>
            <a:off x="731520" y="4617720"/>
            <a:ext cx="10728655" cy="411480"/>
          </a:xfrm>
          <a:prstGeom prst="rect">
            <a:avLst/>
          </a:prstGeom>
          <a:noFill/>
          <a:ln/>
        </p:spPr>
        <p:txBody>
          <a:bodyPr wrap="square" lIns="0" tIns="0" rIns="0" bIns="0" rtlCol="0" anchor="ctr"/>
          <a:lstStyle/>
          <a:p>
            <a:pPr indent="0" marL="0">
              <a:buNone/>
            </a:pPr>
            <a:r>
              <a:rPr lang="en-US" sz="2200" b="1" dirty="0">
                <a:solidFill>
                  <a:srgbClr val="AB0520"/>
                </a:solidFill>
                <a:latin typeface="Georgia" pitchFamily="34" charset="0"/>
                <a:ea typeface="Georgia" pitchFamily="34" charset="-122"/>
                <a:cs typeface="Georgia" pitchFamily="34" charset="-120"/>
              </a:rPr>
              <a:t>60 minutes  →  4 minutes</a:t>
            </a:r>
            <a:endParaRPr lang="en-US" sz="2200" dirty="0"/>
          </a:p>
        </p:txBody>
      </p:sp>
      <p:sp>
        <p:nvSpPr>
          <p:cNvPr id="25" name="Text 22"/>
          <p:cNvSpPr/>
          <p:nvPr/>
        </p:nvSpPr>
        <p:spPr>
          <a:xfrm>
            <a:off x="731520" y="5074920"/>
            <a:ext cx="10728655" cy="960120"/>
          </a:xfrm>
          <a:prstGeom prst="rect">
            <a:avLst/>
          </a:prstGeom>
          <a:noFill/>
          <a:ln/>
        </p:spPr>
        <p:txBody>
          <a:bodyPr wrap="square" lIns="0" tIns="0" rIns="0" bIns="0" rtlCol="0" anchor="t"/>
          <a:lstStyle/>
          <a:p>
            <a:pPr indent="0" marL="0">
              <a:buNone/>
            </a:pPr>
            <a:r>
              <a:rPr lang="en-US" sz="1050" dirty="0">
                <a:solidFill>
                  <a:srgbClr val="1F2228"/>
                </a:solidFill>
                <a:latin typeface="Calibri" pitchFamily="34" charset="0"/>
                <a:ea typeface="Calibri" pitchFamily="34" charset="-122"/>
                <a:cs typeface="Calibri" pitchFamily="34" charset="-120"/>
              </a:rPr>
              <a:t>Today: pull the chart, find the right form, transcribe demographics, fax it, wait for confirmation, follow up by phone. ADHS estimates 70% of valley fever cases never make it into surveillance because the workflow takes too long. With ONE-HealthRecord: clinician clicks "Report this case" → modal shows every destination with the actual machine-prepared message → clinician inspects each, clicks "Submit all" → every agency acknowledges in parallel. The reporting obligation is closed in roughly four minutes.</a:t>
            </a:r>
            <a:endParaRPr lang="en-US" sz="1050" dirty="0"/>
          </a:p>
        </p:txBody>
      </p:sp>
      <p:sp>
        <p:nvSpPr>
          <p:cNvPr id="26" name="Text 23"/>
          <p:cNvSpPr/>
          <p:nvPr/>
        </p:nvSpPr>
        <p:spPr>
          <a:xfrm>
            <a:off x="548640" y="6172200"/>
            <a:ext cx="11094415" cy="502920"/>
          </a:xfrm>
          <a:prstGeom prst="rect">
            <a:avLst/>
          </a:prstGeom>
          <a:noFill/>
          <a:ln/>
        </p:spPr>
        <p:txBody>
          <a:bodyPr wrap="square" lIns="0" tIns="0" rIns="0" bIns="0" rtlCol="0" anchor="t"/>
          <a:lstStyle/>
          <a:p>
            <a:pPr indent="0" marL="0">
              <a:buNone/>
            </a:pPr>
            <a:r>
              <a:rPr lang="en-US" sz="1150" i="1" dirty="0">
                <a:solidFill>
                  <a:srgbClr val="AB0520"/>
                </a:solidFill>
                <a:latin typeface="Georgia" pitchFamily="34" charset="0"/>
                <a:ea typeface="Georgia" pitchFamily="34" charset="-122"/>
                <a:cs typeface="Georgia" pitchFamily="34" charset="-120"/>
              </a:rPr>
              <a:t>Headline outcome — Reporting completeness target: 30% baseline → 85%. Additional ~5,000 valley fever cases captured per year statewide. Cluster lead time improvement: 30–60 days. Investigator workload reduction: 36×. Tribal-land sovereignty preserved through the destination router.</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PHASE 8 · THREE-DOMAIN ARCHITECTURE</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Healthcare Institutions · Public Health &amp; Government · Environmental Surveillance</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19</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11094415" cy="868680"/>
          </a:xfrm>
          <a:prstGeom prst="rect">
            <a:avLst/>
          </a:prstGeom>
          <a:noFill/>
          <a:ln/>
        </p:spPr>
        <p:txBody>
          <a:bodyPr wrap="square" lIns="0" tIns="0" rIns="0" bIns="0" rtlCol="0" anchor="t"/>
          <a:lstStyle/>
          <a:p>
            <a:pPr indent="0" marL="0">
              <a:buNone/>
            </a:pPr>
            <a:r>
              <a:rPr lang="en-US" sz="1200" i="1" dirty="0">
                <a:solidFill>
                  <a:srgbClr val="4A4F58"/>
                </a:solidFill>
                <a:latin typeface="Calibri" pitchFamily="34" charset="0"/>
                <a:ea typeface="Calibri" pitchFamily="34" charset="-122"/>
                <a:cs typeface="Calibri" pitchFamily="34" charset="-120"/>
              </a:rPr>
              <a:t>The One Health triad surfaced as the very first user-visible structure. Branded institutional logins for 10 partner sites. End-to-end ED workflow: registration → triage → encounter → reporting. Voice / keyboard / template encounter input. Public-access environmental surveillance across 5 government data sources.</a:t>
            </a:r>
            <a:endParaRPr lang="en-US" sz="1200" dirty="0"/>
          </a:p>
        </p:txBody>
      </p:sp>
      <p:sp>
        <p:nvSpPr>
          <p:cNvPr id="8" name="Shape 5"/>
          <p:cNvSpPr/>
          <p:nvPr/>
        </p:nvSpPr>
        <p:spPr>
          <a:xfrm>
            <a:off x="548640" y="2743200"/>
            <a:ext cx="3545738" cy="1920240"/>
          </a:xfrm>
          <a:prstGeom prst="rect">
            <a:avLst/>
          </a:prstGeom>
          <a:solidFill>
            <a:srgbClr val="F4F1EA"/>
          </a:solidFill>
          <a:ln w="19050">
            <a:solidFill>
              <a:srgbClr val="0C234B"/>
            </a:solidFill>
            <a:prstDash val="solid"/>
          </a:ln>
        </p:spPr>
      </p:sp>
      <p:sp>
        <p:nvSpPr>
          <p:cNvPr id="9" name="Text 6"/>
          <p:cNvSpPr/>
          <p:nvPr/>
        </p:nvSpPr>
        <p:spPr>
          <a:xfrm>
            <a:off x="713232" y="2834640"/>
            <a:ext cx="3216554" cy="32004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Healthcare Institutions</a:t>
            </a:r>
            <a:endParaRPr lang="en-US" sz="1200" dirty="0"/>
          </a:p>
        </p:txBody>
      </p:sp>
      <p:sp>
        <p:nvSpPr>
          <p:cNvPr id="10" name="Text 7"/>
          <p:cNvSpPr/>
          <p:nvPr/>
        </p:nvSpPr>
        <p:spPr>
          <a:xfrm>
            <a:off x="713232" y="310896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10</a:t>
            </a:r>
            <a:endParaRPr lang="en-US" sz="3000" dirty="0"/>
          </a:p>
        </p:txBody>
      </p:sp>
      <p:sp>
        <p:nvSpPr>
          <p:cNvPr id="11" name="Text 8"/>
          <p:cNvSpPr/>
          <p:nvPr/>
        </p:nvSpPr>
        <p:spPr>
          <a:xfrm>
            <a:off x="713232" y="365760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branded sites · 38 staff</a:t>
            </a:r>
            <a:endParaRPr lang="en-US" sz="900" dirty="0"/>
          </a:p>
        </p:txBody>
      </p:sp>
      <p:sp>
        <p:nvSpPr>
          <p:cNvPr id="12" name="Text 9"/>
          <p:cNvSpPr/>
          <p:nvPr/>
        </p:nvSpPr>
        <p:spPr>
          <a:xfrm>
            <a:off x="713232" y="3886200"/>
            <a:ext cx="3216554" cy="77724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6 hospitals (Banner, TMC, HonorHealth, IHS, Northern AZ) + 4 vet practices, each with institution-specific branding + role-based login. New roles: Registrar · Triage Nurse · Discharge · Lab Tech · Administrator · Vet Tech.</a:t>
            </a:r>
            <a:endParaRPr lang="en-US" sz="950" dirty="0"/>
          </a:p>
        </p:txBody>
      </p:sp>
      <p:sp>
        <p:nvSpPr>
          <p:cNvPr id="13" name="Shape 10"/>
          <p:cNvSpPr/>
          <p:nvPr/>
        </p:nvSpPr>
        <p:spPr>
          <a:xfrm>
            <a:off x="4322978" y="2743200"/>
            <a:ext cx="3545738" cy="1920240"/>
          </a:xfrm>
          <a:prstGeom prst="rect">
            <a:avLst/>
          </a:prstGeom>
          <a:solidFill>
            <a:srgbClr val="F4F1EA"/>
          </a:solidFill>
          <a:ln w="19050">
            <a:solidFill>
              <a:srgbClr val="AB0520"/>
            </a:solidFill>
            <a:prstDash val="solid"/>
          </a:ln>
        </p:spPr>
      </p:sp>
      <p:sp>
        <p:nvSpPr>
          <p:cNvPr id="14" name="Text 11"/>
          <p:cNvSpPr/>
          <p:nvPr/>
        </p:nvSpPr>
        <p:spPr>
          <a:xfrm>
            <a:off x="4487570" y="2834640"/>
            <a:ext cx="3216554" cy="320040"/>
          </a:xfrm>
          <a:prstGeom prst="rect">
            <a:avLst/>
          </a:prstGeom>
          <a:noFill/>
          <a:ln/>
        </p:spPr>
        <p:txBody>
          <a:bodyPr wrap="square" lIns="0" tIns="0" rIns="0" bIns="0" rtlCol="0" anchor="ctr"/>
          <a:lstStyle/>
          <a:p>
            <a:pPr indent="0" marL="0">
              <a:buNone/>
            </a:pPr>
            <a:r>
              <a:rPr lang="en-US" sz="1200" b="1" dirty="0">
                <a:solidFill>
                  <a:srgbClr val="AB0520"/>
                </a:solidFill>
                <a:latin typeface="Georgia" pitchFamily="34" charset="0"/>
                <a:ea typeface="Georgia" pitchFamily="34" charset="-122"/>
                <a:cs typeface="Georgia" pitchFamily="34" charset="-120"/>
              </a:rPr>
              <a:t>Public Health &amp; Government</a:t>
            </a:r>
            <a:endParaRPr lang="en-US" sz="1200" dirty="0"/>
          </a:p>
        </p:txBody>
      </p:sp>
      <p:sp>
        <p:nvSpPr>
          <p:cNvPr id="15" name="Text 12"/>
          <p:cNvSpPr/>
          <p:nvPr/>
        </p:nvSpPr>
        <p:spPr>
          <a:xfrm>
            <a:off x="4487570" y="310896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4</a:t>
            </a:r>
            <a:endParaRPr lang="en-US" sz="3000" dirty="0"/>
          </a:p>
        </p:txBody>
      </p:sp>
      <p:sp>
        <p:nvSpPr>
          <p:cNvPr id="16" name="Text 13"/>
          <p:cNvSpPr/>
          <p:nvPr/>
        </p:nvSpPr>
        <p:spPr>
          <a:xfrm>
            <a:off x="4487570" y="365760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agencies</a:t>
            </a:r>
            <a:endParaRPr lang="en-US" sz="900" dirty="0"/>
          </a:p>
        </p:txBody>
      </p:sp>
      <p:sp>
        <p:nvSpPr>
          <p:cNvPr id="17" name="Text 14"/>
          <p:cNvSpPr/>
          <p:nvPr/>
        </p:nvSpPr>
        <p:spPr>
          <a:xfrm>
            <a:off x="4487570" y="3886200"/>
            <a:ext cx="3216554" cy="77724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ADHS · Apache Tribal Health Authority · USDA APHIS · CDC NNDSS. Tribal sovereignty preserved through routing layer — aggregate-only signals reach state surveillance.</a:t>
            </a:r>
            <a:endParaRPr lang="en-US" sz="950" dirty="0"/>
          </a:p>
        </p:txBody>
      </p:sp>
      <p:sp>
        <p:nvSpPr>
          <p:cNvPr id="18" name="Shape 15"/>
          <p:cNvSpPr/>
          <p:nvPr/>
        </p:nvSpPr>
        <p:spPr>
          <a:xfrm>
            <a:off x="8097317" y="2743200"/>
            <a:ext cx="3545738" cy="1920240"/>
          </a:xfrm>
          <a:prstGeom prst="rect">
            <a:avLst/>
          </a:prstGeom>
          <a:solidFill>
            <a:srgbClr val="F4F1EA"/>
          </a:solidFill>
          <a:ln w="19050">
            <a:solidFill>
              <a:srgbClr val="1F4D7A"/>
            </a:solidFill>
            <a:prstDash val="solid"/>
          </a:ln>
        </p:spPr>
      </p:sp>
      <p:sp>
        <p:nvSpPr>
          <p:cNvPr id="19" name="Text 16"/>
          <p:cNvSpPr/>
          <p:nvPr/>
        </p:nvSpPr>
        <p:spPr>
          <a:xfrm>
            <a:off x="8261909" y="2834640"/>
            <a:ext cx="3216554" cy="320040"/>
          </a:xfrm>
          <a:prstGeom prst="rect">
            <a:avLst/>
          </a:prstGeom>
          <a:noFill/>
          <a:ln/>
        </p:spPr>
        <p:txBody>
          <a:bodyPr wrap="square" lIns="0" tIns="0" rIns="0" bIns="0" rtlCol="0" anchor="ctr"/>
          <a:lstStyle/>
          <a:p>
            <a:pPr indent="0" marL="0">
              <a:buNone/>
            </a:pPr>
            <a:r>
              <a:rPr lang="en-US" sz="1200" b="1" dirty="0">
                <a:solidFill>
                  <a:srgbClr val="1F4D7A"/>
                </a:solidFill>
                <a:latin typeface="Georgia" pitchFamily="34" charset="0"/>
                <a:ea typeface="Georgia" pitchFamily="34" charset="-122"/>
                <a:cs typeface="Georgia" pitchFamily="34" charset="-120"/>
              </a:rPr>
              <a:t>Environmental Surveillance</a:t>
            </a:r>
            <a:endParaRPr lang="en-US" sz="1200" dirty="0"/>
          </a:p>
        </p:txBody>
      </p:sp>
      <p:sp>
        <p:nvSpPr>
          <p:cNvPr id="20" name="Text 17"/>
          <p:cNvSpPr/>
          <p:nvPr/>
        </p:nvSpPr>
        <p:spPr>
          <a:xfrm>
            <a:off x="8261909" y="3108960"/>
            <a:ext cx="3216554" cy="502920"/>
          </a:xfrm>
          <a:prstGeom prst="rect">
            <a:avLst/>
          </a:prstGeom>
          <a:noFill/>
          <a:ln/>
        </p:spPr>
        <p:txBody>
          <a:bodyPr wrap="square" lIns="0" tIns="0" rIns="0" bIns="0" rtlCol="0" anchor="ctr"/>
          <a:lstStyle/>
          <a:p>
            <a:pPr indent="0" marL="0">
              <a:buNone/>
            </a:pPr>
            <a:r>
              <a:rPr lang="en-US" sz="3000" dirty="0">
                <a:solidFill>
                  <a:srgbClr val="0C234B"/>
                </a:solidFill>
                <a:latin typeface="Georgia" pitchFamily="34" charset="0"/>
                <a:ea typeface="Georgia" pitchFamily="34" charset="-122"/>
                <a:cs typeface="Georgia" pitchFamily="34" charset="-120"/>
              </a:rPr>
              <a:t>5</a:t>
            </a:r>
            <a:endParaRPr lang="en-US" sz="3000" dirty="0"/>
          </a:p>
        </p:txBody>
      </p:sp>
      <p:sp>
        <p:nvSpPr>
          <p:cNvPr id="21" name="Text 18"/>
          <p:cNvSpPr/>
          <p:nvPr/>
        </p:nvSpPr>
        <p:spPr>
          <a:xfrm>
            <a:off x="8261909" y="3657600"/>
            <a:ext cx="3216554" cy="228600"/>
          </a:xfrm>
          <a:prstGeom prst="rect">
            <a:avLst/>
          </a:prstGeom>
          <a:noFill/>
          <a:ln/>
        </p:spPr>
        <p:txBody>
          <a:bodyPr wrap="square" lIns="0" tIns="0" rIns="0" bIns="0" rtlCol="0" anchor="ctr"/>
          <a:lstStyle/>
          <a:p>
            <a:pPr indent="0" marL="0">
              <a:buNone/>
            </a:pPr>
            <a:r>
              <a:rPr lang="en-US" sz="900" spc="150" kern="0" dirty="0">
                <a:solidFill>
                  <a:srgbClr val="6E737C"/>
                </a:solidFill>
                <a:latin typeface="Calibri" pitchFamily="34" charset="0"/>
                <a:ea typeface="Calibri" pitchFamily="34" charset="-122"/>
                <a:cs typeface="Calibri" pitchFamily="34" charset="-120"/>
              </a:rPr>
              <a:t>data sources · no login</a:t>
            </a:r>
            <a:endParaRPr lang="en-US" sz="900" dirty="0"/>
          </a:p>
        </p:txBody>
      </p:sp>
      <p:sp>
        <p:nvSpPr>
          <p:cNvPr id="22" name="Text 19"/>
          <p:cNvSpPr/>
          <p:nvPr/>
        </p:nvSpPr>
        <p:spPr>
          <a:xfrm>
            <a:off x="8261909" y="3886200"/>
            <a:ext cx="3216554" cy="777240"/>
          </a:xfrm>
          <a:prstGeom prst="rect">
            <a:avLst/>
          </a:prstGeom>
          <a:noFill/>
          <a:ln/>
        </p:spPr>
        <p:txBody>
          <a:bodyPr wrap="square" lIns="0" tIns="0" rIns="0" bIns="0" rtlCol="0" anchor="t"/>
          <a:lstStyle/>
          <a:p>
            <a:pPr indent="0" marL="0">
              <a:buNone/>
            </a:pPr>
            <a:r>
              <a:rPr lang="en-US" sz="950" dirty="0">
                <a:solidFill>
                  <a:srgbClr val="4A4F58"/>
                </a:solidFill>
                <a:latin typeface="Calibri" pitchFamily="34" charset="0"/>
                <a:ea typeface="Calibri" pitchFamily="34" charset="-122"/>
                <a:cs typeface="Calibri" pitchFamily="34" charset="-120"/>
              </a:rPr>
              <a:t>EPA AirNow (14 stations) · NWS advisories · ArboNET (10 vector traps with Pinal anomaly) · USGS plague-rodent (5 sites with Coconino positive) · AGFD wildlife mortality (47-prairie-dog die-off).</a:t>
            </a:r>
            <a:endParaRPr lang="en-US" sz="950" dirty="0"/>
          </a:p>
        </p:txBody>
      </p:sp>
      <p:sp>
        <p:nvSpPr>
          <p:cNvPr id="23" name="Shape 20"/>
          <p:cNvSpPr/>
          <p:nvPr/>
        </p:nvSpPr>
        <p:spPr>
          <a:xfrm>
            <a:off x="548640" y="4846320"/>
            <a:ext cx="11094415" cy="1325880"/>
          </a:xfrm>
          <a:prstGeom prst="rect">
            <a:avLst/>
          </a:prstGeom>
          <a:solidFill>
            <a:srgbClr val="F4F1EA"/>
          </a:solidFill>
          <a:ln w="19050">
            <a:solidFill>
              <a:srgbClr val="D89F2E"/>
            </a:solidFill>
            <a:prstDash val="solid"/>
          </a:ln>
        </p:spPr>
      </p:sp>
      <p:sp>
        <p:nvSpPr>
          <p:cNvPr id="24" name="Text 21"/>
          <p:cNvSpPr/>
          <p:nvPr/>
        </p:nvSpPr>
        <p:spPr>
          <a:xfrm>
            <a:off x="731520" y="4937760"/>
            <a:ext cx="10728655" cy="365760"/>
          </a:xfrm>
          <a:prstGeom prst="rect">
            <a:avLst/>
          </a:prstGeom>
          <a:noFill/>
          <a:ln/>
        </p:spPr>
        <p:txBody>
          <a:bodyPr wrap="square" lIns="0" tIns="0" rIns="0" bIns="0" rtlCol="0" anchor="ctr"/>
          <a:lstStyle/>
          <a:p>
            <a:pPr indent="0" marL="0">
              <a:buNone/>
            </a:pPr>
            <a:r>
              <a:rPr lang="en-US" sz="1600" b="1" dirty="0">
                <a:solidFill>
                  <a:srgbClr val="D89F2E"/>
                </a:solidFill>
                <a:latin typeface="Georgia" pitchFamily="34" charset="0"/>
                <a:ea typeface="Georgia" pitchFamily="34" charset="-122"/>
                <a:cs typeface="Georgia" pitchFamily="34" charset="-120"/>
              </a:rPr>
              <a:t>End-to-end ED workflow now demonstrable</a:t>
            </a:r>
            <a:endParaRPr lang="en-US" sz="1600" dirty="0"/>
          </a:p>
        </p:txBody>
      </p:sp>
      <p:sp>
        <p:nvSpPr>
          <p:cNvPr id="25" name="Text 22"/>
          <p:cNvSpPr/>
          <p:nvPr/>
        </p:nvSpPr>
        <p:spPr>
          <a:xfrm>
            <a:off x="731520" y="5349240"/>
            <a:ext cx="10728655" cy="777240"/>
          </a:xfrm>
          <a:prstGeom prst="rect">
            <a:avLst/>
          </a:prstGeom>
          <a:noFill/>
          <a:ln/>
        </p:spPr>
        <p:txBody>
          <a:bodyPr wrap="square" lIns="0" tIns="0" rIns="0" bIns="0" rtlCol="0" anchor="t"/>
          <a:lstStyle/>
          <a:p>
            <a:pPr indent="0" marL="0">
              <a:buNone/>
            </a:pPr>
            <a:r>
              <a:rPr lang="en-US" sz="1050" dirty="0">
                <a:solidFill>
                  <a:srgbClr val="1F2228"/>
                </a:solidFill>
                <a:latin typeface="Calibri" pitchFamily="34" charset="0"/>
                <a:ea typeface="Calibri" pitchFamily="34" charset="-122"/>
                <a:cs typeface="Calibri" pitchFamily="34" charset="-120"/>
              </a:rPr>
              <a:t>Registrar checks in patient → eMPI federation lookup flags duplicate → Triage nurse captures vitals + ESI 1-5 acuity → Hand-off to physician → Voice / keyboard / template dictation → FHIR extraction → Cross-species cluster signal → CDS panel → ⚡ One-click multi-agency report. Every role on the demo screen, every audit-log entry, every signal preserved across the handoff.</a:t>
            </a:r>
            <a:endParaRPr lang="en-US" sz="1050" dirty="0"/>
          </a:p>
        </p:txBody>
      </p:sp>
      <p:sp>
        <p:nvSpPr>
          <p:cNvPr id="26" name="Text 23"/>
          <p:cNvSpPr/>
          <p:nvPr/>
        </p:nvSpPr>
        <p:spPr>
          <a:xfrm>
            <a:off x="548640" y="6263640"/>
            <a:ext cx="11094415" cy="365760"/>
          </a:xfrm>
          <a:prstGeom prst="rect">
            <a:avLst/>
          </a:prstGeom>
          <a:noFill/>
          <a:ln/>
        </p:spPr>
        <p:txBody>
          <a:bodyPr wrap="square" lIns="0" tIns="0" rIns="0" bIns="0" rtlCol="0" anchor="t"/>
          <a:lstStyle/>
          <a:p>
            <a:pPr indent="0" marL="0">
              <a:buNone/>
            </a:pPr>
            <a:r>
              <a:rPr lang="en-US" sz="1150" i="1" dirty="0">
                <a:solidFill>
                  <a:srgbClr val="AB0520"/>
                </a:solidFill>
                <a:latin typeface="Georgia" pitchFamily="34" charset="0"/>
                <a:ea typeface="Georgia" pitchFamily="34" charset="-122"/>
                <a:cs typeface="Georgia" pitchFamily="34" charset="-120"/>
              </a:rPr>
              <a:t>Architectural framing: humans + animals + environment as peer domains, not nested. The first frame of the demo is the One Health argument.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ON SYNTHETIC DATA</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Why this is a feature, not a bug</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20</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783080"/>
            <a:ext cx="11094415" cy="777240"/>
          </a:xfrm>
          <a:prstGeom prst="rect">
            <a:avLst/>
          </a:prstGeom>
          <a:noFill/>
          <a:ln/>
        </p:spPr>
        <p:txBody>
          <a:bodyPr wrap="square" lIns="0" tIns="0" rIns="0" bIns="0" rtlCol="0" anchor="t"/>
          <a:lstStyle/>
          <a:p>
            <a:pPr indent="0" marL="0">
              <a:buNone/>
            </a:pPr>
            <a:r>
              <a:rPr lang="en-US" sz="1500" i="1" dirty="0">
                <a:solidFill>
                  <a:srgbClr val="1F2228"/>
                </a:solidFill>
                <a:latin typeface="Calibri" pitchFamily="34" charset="0"/>
                <a:ea typeface="Calibri" pitchFamily="34" charset="-122"/>
                <a:cs typeface="Calibri" pitchFamily="34" charset="-120"/>
              </a:rPr>
              <a:t>All clinical, surveillance, household, and environmental data is fully synthetic. There is no protected health information. No real Arizona resident is represented.</a:t>
            </a:r>
            <a:endParaRPr lang="en-US" sz="1500" dirty="0"/>
          </a:p>
        </p:txBody>
      </p:sp>
      <p:sp>
        <p:nvSpPr>
          <p:cNvPr id="8" name="Shape 5"/>
          <p:cNvSpPr/>
          <p:nvPr/>
        </p:nvSpPr>
        <p:spPr>
          <a:xfrm>
            <a:off x="548640" y="2807208"/>
            <a:ext cx="146304" cy="146304"/>
          </a:xfrm>
          <a:prstGeom prst="rect">
            <a:avLst/>
          </a:prstGeom>
          <a:solidFill>
            <a:srgbClr val="AB0520"/>
          </a:solidFill>
          <a:ln w="12700">
            <a:solidFill>
              <a:srgbClr val="AB0520"/>
            </a:solidFill>
            <a:prstDash val="solid"/>
          </a:ln>
        </p:spPr>
      </p:sp>
      <p:sp>
        <p:nvSpPr>
          <p:cNvPr id="9" name="Text 6"/>
          <p:cNvSpPr/>
          <p:nvPr/>
        </p:nvSpPr>
        <p:spPr>
          <a:xfrm>
            <a:off x="822960" y="2743200"/>
            <a:ext cx="5090008" cy="36576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Reproducible end-to-end</a:t>
            </a:r>
            <a:endParaRPr lang="en-US" sz="1400" dirty="0"/>
          </a:p>
        </p:txBody>
      </p:sp>
      <p:sp>
        <p:nvSpPr>
          <p:cNvPr id="10" name="Text 7"/>
          <p:cNvSpPr/>
          <p:nvPr/>
        </p:nvSpPr>
        <p:spPr>
          <a:xfrm>
            <a:off x="822960" y="3108960"/>
            <a:ext cx="5090008" cy="128016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Anyone with this repo can regenerate the entire bundle — 360 households, 4,676 encounters, 59 alerts — from a fixed seed. No DUA, no IRB friction, no version skew.</a:t>
            </a:r>
            <a:endParaRPr lang="en-US" sz="1200" dirty="0"/>
          </a:p>
        </p:txBody>
      </p:sp>
      <p:sp>
        <p:nvSpPr>
          <p:cNvPr id="11" name="Shape 8"/>
          <p:cNvSpPr/>
          <p:nvPr/>
        </p:nvSpPr>
        <p:spPr>
          <a:xfrm>
            <a:off x="6278728" y="2807208"/>
            <a:ext cx="146304" cy="146304"/>
          </a:xfrm>
          <a:prstGeom prst="rect">
            <a:avLst/>
          </a:prstGeom>
          <a:solidFill>
            <a:srgbClr val="AB0520"/>
          </a:solidFill>
          <a:ln w="12700">
            <a:solidFill>
              <a:srgbClr val="AB0520"/>
            </a:solidFill>
            <a:prstDash val="solid"/>
          </a:ln>
        </p:spPr>
      </p:sp>
      <p:sp>
        <p:nvSpPr>
          <p:cNvPr id="12" name="Text 9"/>
          <p:cNvSpPr/>
          <p:nvPr/>
        </p:nvSpPr>
        <p:spPr>
          <a:xfrm>
            <a:off x="6553048" y="2743200"/>
            <a:ext cx="5090008" cy="36576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Edge-cases by design</a:t>
            </a:r>
            <a:endParaRPr lang="en-US" sz="1400" dirty="0"/>
          </a:p>
        </p:txBody>
      </p:sp>
      <p:sp>
        <p:nvSpPr>
          <p:cNvPr id="13" name="Text 10"/>
          <p:cNvSpPr/>
          <p:nvPr/>
        </p:nvSpPr>
        <p:spPr>
          <a:xfrm>
            <a:off x="6553048" y="3108960"/>
            <a:ext cx="5090008" cy="128016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We can plant a 27σ tick anomaly in Pinal because we know the ground truth. We can guarantee a cross-species cluster exists in Hernandez. Real data doesn't let us do that for free.</a:t>
            </a:r>
            <a:endParaRPr lang="en-US" sz="1200" dirty="0"/>
          </a:p>
        </p:txBody>
      </p:sp>
      <p:sp>
        <p:nvSpPr>
          <p:cNvPr id="14" name="Shape 11"/>
          <p:cNvSpPr/>
          <p:nvPr/>
        </p:nvSpPr>
        <p:spPr>
          <a:xfrm>
            <a:off x="548640" y="4498848"/>
            <a:ext cx="146304" cy="146304"/>
          </a:xfrm>
          <a:prstGeom prst="rect">
            <a:avLst/>
          </a:prstGeom>
          <a:solidFill>
            <a:srgbClr val="AB0520"/>
          </a:solidFill>
          <a:ln w="12700">
            <a:solidFill>
              <a:srgbClr val="AB0520"/>
            </a:solidFill>
            <a:prstDash val="solid"/>
          </a:ln>
        </p:spPr>
      </p:sp>
      <p:sp>
        <p:nvSpPr>
          <p:cNvPr id="15" name="Text 12"/>
          <p:cNvSpPr/>
          <p:nvPr/>
        </p:nvSpPr>
        <p:spPr>
          <a:xfrm>
            <a:off x="822960" y="4434840"/>
            <a:ext cx="5090008" cy="36576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Evaluation-friendly</a:t>
            </a:r>
            <a:endParaRPr lang="en-US" sz="1400" dirty="0"/>
          </a:p>
        </p:txBody>
      </p:sp>
      <p:sp>
        <p:nvSpPr>
          <p:cNvPr id="16" name="Text 13"/>
          <p:cNvSpPr/>
          <p:nvPr/>
        </p:nvSpPr>
        <p:spPr>
          <a:xfrm>
            <a:off x="822960" y="4800600"/>
            <a:ext cx="5090008" cy="128016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Gold-standard annotations are produced by the same dictionary that built the dictations — internally consistent, useful for measuring what the engine can do at all.</a:t>
            </a:r>
            <a:endParaRPr lang="en-US" sz="1200" dirty="0"/>
          </a:p>
        </p:txBody>
      </p:sp>
      <p:sp>
        <p:nvSpPr>
          <p:cNvPr id="17" name="Shape 14"/>
          <p:cNvSpPr/>
          <p:nvPr/>
        </p:nvSpPr>
        <p:spPr>
          <a:xfrm>
            <a:off x="6278728" y="4498848"/>
            <a:ext cx="146304" cy="146304"/>
          </a:xfrm>
          <a:prstGeom prst="rect">
            <a:avLst/>
          </a:prstGeom>
          <a:solidFill>
            <a:srgbClr val="AB0520"/>
          </a:solidFill>
          <a:ln w="12700">
            <a:solidFill>
              <a:srgbClr val="AB0520"/>
            </a:solidFill>
            <a:prstDash val="solid"/>
          </a:ln>
        </p:spPr>
      </p:sp>
      <p:sp>
        <p:nvSpPr>
          <p:cNvPr id="18" name="Text 15"/>
          <p:cNvSpPr/>
          <p:nvPr/>
        </p:nvSpPr>
        <p:spPr>
          <a:xfrm>
            <a:off x="6553048" y="4434840"/>
            <a:ext cx="5090008" cy="365760"/>
          </a:xfrm>
          <a:prstGeom prst="rect">
            <a:avLst/>
          </a:prstGeom>
          <a:noFill/>
          <a:ln/>
        </p:spPr>
        <p:txBody>
          <a:bodyPr wrap="square" lIns="0" tIns="0" rIns="0" bIns="0" rtlCol="0" anchor="ctr"/>
          <a:lstStyle/>
          <a:p>
            <a:pPr indent="0" marL="0">
              <a:buNone/>
            </a:pPr>
            <a:r>
              <a:rPr lang="en-US" sz="1400" b="1" dirty="0">
                <a:solidFill>
                  <a:srgbClr val="0C234B"/>
                </a:solidFill>
                <a:latin typeface="Georgia" pitchFamily="34" charset="0"/>
                <a:ea typeface="Georgia" pitchFamily="34" charset="-122"/>
                <a:cs typeface="Georgia" pitchFamily="34" charset="-120"/>
              </a:rPr>
              <a:t>Pre-real-data scaffolding</a:t>
            </a:r>
            <a:endParaRPr lang="en-US" sz="1400" dirty="0"/>
          </a:p>
        </p:txBody>
      </p:sp>
      <p:sp>
        <p:nvSpPr>
          <p:cNvPr id="19" name="Text 16"/>
          <p:cNvSpPr/>
          <p:nvPr/>
        </p:nvSpPr>
        <p:spPr>
          <a:xfrm>
            <a:off x="6553048" y="4800600"/>
            <a:ext cx="5090008" cy="1280160"/>
          </a:xfrm>
          <a:prstGeom prst="rect">
            <a:avLst/>
          </a:prstGeom>
          <a:noFill/>
          <a:ln/>
        </p:spPr>
        <p:txBody>
          <a:bodyPr wrap="square" lIns="0" tIns="0" rIns="0" bIns="0" rtlCol="0" anchor="t"/>
          <a:lstStyle/>
          <a:p>
            <a:pPr indent="0" marL="0">
              <a:buNone/>
            </a:pPr>
            <a:r>
              <a:rPr lang="en-US" sz="1200" dirty="0">
                <a:solidFill>
                  <a:srgbClr val="1F2228"/>
                </a:solidFill>
                <a:latin typeface="Calibri" pitchFamily="34" charset="0"/>
                <a:ea typeface="Calibri" pitchFamily="34" charset="-122"/>
                <a:cs typeface="Calibri" pitchFamily="34" charset="-120"/>
              </a:rPr>
              <a:t>Every interface is engineered against the FHIR / SNOMED schemas that real data uses. Swap synthetic for MIMIC-IV human or VetCompass animal and the contract holds.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LIMITATIONS · FUTURE WORK</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What's next</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783080"/>
            <a:ext cx="5486400" cy="365760"/>
          </a:xfrm>
          <a:prstGeom prst="rect">
            <a:avLst/>
          </a:prstGeom>
          <a:noFill/>
          <a:ln/>
        </p:spPr>
        <p:txBody>
          <a:bodyPr wrap="square" lIns="0" tIns="0" rIns="0" bIns="0" rtlCol="0" anchor="ctr"/>
          <a:lstStyle/>
          <a:p>
            <a:pPr indent="0" marL="0">
              <a:buNone/>
            </a:pPr>
            <a:r>
              <a:rPr lang="en-US" sz="1300" b="1" spc="300" kern="0" dirty="0">
                <a:solidFill>
                  <a:srgbClr val="6E737C"/>
                </a:solidFill>
                <a:latin typeface="Calibri" pitchFamily="34" charset="0"/>
                <a:ea typeface="Calibri" pitchFamily="34" charset="-122"/>
                <a:cs typeface="Calibri" pitchFamily="34" charset="-120"/>
              </a:rPr>
              <a:t>Implemented today (rule-based)</a:t>
            </a:r>
            <a:endParaRPr lang="en-US" sz="1300" dirty="0"/>
          </a:p>
        </p:txBody>
      </p:sp>
      <p:sp>
        <p:nvSpPr>
          <p:cNvPr id="8" name="Text 5"/>
          <p:cNvSpPr/>
          <p:nvPr/>
        </p:nvSpPr>
        <p:spPr>
          <a:xfrm>
            <a:off x="6400800" y="1783080"/>
            <a:ext cx="5486400" cy="365760"/>
          </a:xfrm>
          <a:prstGeom prst="rect">
            <a:avLst/>
          </a:prstGeom>
          <a:noFill/>
          <a:ln/>
        </p:spPr>
        <p:txBody>
          <a:bodyPr wrap="square" lIns="0" tIns="0" rIns="0" bIns="0" rtlCol="0" anchor="ctr"/>
          <a:lstStyle/>
          <a:p>
            <a:pPr indent="0" marL="0">
              <a:buNone/>
            </a:pPr>
            <a:r>
              <a:rPr lang="en-US" sz="1300" b="1" spc="300" kern="0" dirty="0">
                <a:solidFill>
                  <a:srgbClr val="6E737C"/>
                </a:solidFill>
                <a:latin typeface="Calibri" pitchFamily="34" charset="0"/>
                <a:ea typeface="Calibri" pitchFamily="34" charset="-122"/>
                <a:cs typeface="Calibri" pitchFamily="34" charset="-120"/>
              </a:rPr>
              <a:t>Future work (statistical models)</a:t>
            </a:r>
            <a:endParaRPr lang="en-US" sz="1300" dirty="0"/>
          </a:p>
        </p:txBody>
      </p:sp>
      <p:sp>
        <p:nvSpPr>
          <p:cNvPr id="9" name="Shape 6"/>
          <p:cNvSpPr/>
          <p:nvPr/>
        </p:nvSpPr>
        <p:spPr>
          <a:xfrm>
            <a:off x="548640" y="2331720"/>
            <a:ext cx="91440" cy="91440"/>
          </a:xfrm>
          <a:prstGeom prst="rect">
            <a:avLst/>
          </a:prstGeom>
          <a:solidFill>
            <a:srgbClr val="3F6B47"/>
          </a:solidFill>
          <a:ln w="12700">
            <a:solidFill>
              <a:srgbClr val="3F6B47"/>
            </a:solidFill>
            <a:prstDash val="solid"/>
          </a:ln>
        </p:spPr>
      </p:sp>
      <p:sp>
        <p:nvSpPr>
          <p:cNvPr id="10" name="Text 7"/>
          <p:cNvSpPr/>
          <p:nvPr/>
        </p:nvSpPr>
        <p:spPr>
          <a:xfrm>
            <a:off x="749808" y="2240280"/>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Gazetteer NER (25 conds, 20 sx)</a:t>
            </a:r>
            <a:endParaRPr lang="en-US" sz="1200" dirty="0"/>
          </a:p>
        </p:txBody>
      </p:sp>
      <p:sp>
        <p:nvSpPr>
          <p:cNvPr id="11" name="Shape 8"/>
          <p:cNvSpPr/>
          <p:nvPr/>
        </p:nvSpPr>
        <p:spPr>
          <a:xfrm rot="5400000">
            <a:off x="5852160" y="2286000"/>
            <a:ext cx="182880" cy="182880"/>
          </a:xfrm>
          <a:prstGeom prst="rightTriangle">
            <a:avLst/>
          </a:prstGeom>
          <a:solidFill>
            <a:srgbClr val="6E737C"/>
          </a:solidFill>
          <a:ln w="12700">
            <a:solidFill>
              <a:srgbClr val="6E737C"/>
            </a:solidFill>
            <a:prstDash val="solid"/>
          </a:ln>
        </p:spPr>
      </p:sp>
      <p:sp>
        <p:nvSpPr>
          <p:cNvPr id="12" name="Text 9"/>
          <p:cNvSpPr/>
          <p:nvPr/>
        </p:nvSpPr>
        <p:spPr>
          <a:xfrm>
            <a:off x="6400800" y="2240280"/>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BioClinicalBERT fine-tuned on i2b2 + n2c2</a:t>
            </a:r>
            <a:endParaRPr lang="en-US" sz="1200" dirty="0"/>
          </a:p>
        </p:txBody>
      </p:sp>
      <p:sp>
        <p:nvSpPr>
          <p:cNvPr id="13" name="Shape 10"/>
          <p:cNvSpPr/>
          <p:nvPr/>
        </p:nvSpPr>
        <p:spPr>
          <a:xfrm>
            <a:off x="548640" y="2715768"/>
            <a:ext cx="91440" cy="91440"/>
          </a:xfrm>
          <a:prstGeom prst="rect">
            <a:avLst/>
          </a:prstGeom>
          <a:solidFill>
            <a:srgbClr val="3F6B47"/>
          </a:solidFill>
          <a:ln w="12700">
            <a:solidFill>
              <a:srgbClr val="3F6B47"/>
            </a:solidFill>
            <a:prstDash val="solid"/>
          </a:ln>
        </p:spPr>
      </p:sp>
      <p:sp>
        <p:nvSpPr>
          <p:cNvPr id="14" name="Text 11"/>
          <p:cNvSpPr/>
          <p:nvPr/>
        </p:nvSpPr>
        <p:spPr>
          <a:xfrm>
            <a:off x="749808" y="2624328"/>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Sentence-bounded negation/hedge</a:t>
            </a:r>
            <a:endParaRPr lang="en-US" sz="1200" dirty="0"/>
          </a:p>
        </p:txBody>
      </p:sp>
      <p:sp>
        <p:nvSpPr>
          <p:cNvPr id="15" name="Shape 12"/>
          <p:cNvSpPr/>
          <p:nvPr/>
        </p:nvSpPr>
        <p:spPr>
          <a:xfrm rot="5400000">
            <a:off x="5852160" y="2670048"/>
            <a:ext cx="182880" cy="182880"/>
          </a:xfrm>
          <a:prstGeom prst="rightTriangle">
            <a:avLst/>
          </a:prstGeom>
          <a:solidFill>
            <a:srgbClr val="6E737C"/>
          </a:solidFill>
          <a:ln w="12700">
            <a:solidFill>
              <a:srgbClr val="6E737C"/>
            </a:solidFill>
            <a:prstDash val="solid"/>
          </a:ln>
        </p:spPr>
      </p:sp>
      <p:sp>
        <p:nvSpPr>
          <p:cNvPr id="16" name="Text 13"/>
          <p:cNvSpPr/>
          <p:nvPr/>
        </p:nvSpPr>
        <p:spPr>
          <a:xfrm>
            <a:off x="6400800" y="2624328"/>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ConText / NegBio implementation</a:t>
            </a:r>
            <a:endParaRPr lang="en-US" sz="1200" dirty="0"/>
          </a:p>
        </p:txBody>
      </p:sp>
      <p:sp>
        <p:nvSpPr>
          <p:cNvPr id="17" name="Shape 14"/>
          <p:cNvSpPr/>
          <p:nvPr/>
        </p:nvSpPr>
        <p:spPr>
          <a:xfrm>
            <a:off x="548640" y="3099816"/>
            <a:ext cx="91440" cy="91440"/>
          </a:xfrm>
          <a:prstGeom prst="rect">
            <a:avLst/>
          </a:prstGeom>
          <a:solidFill>
            <a:srgbClr val="3F6B47"/>
          </a:solidFill>
          <a:ln w="12700">
            <a:solidFill>
              <a:srgbClr val="3F6B47"/>
            </a:solidFill>
            <a:prstDash val="solid"/>
          </a:ln>
        </p:spPr>
      </p:sp>
      <p:sp>
        <p:nvSpPr>
          <p:cNvPr id="18" name="Text 15"/>
          <p:cNvSpPr/>
          <p:nvPr/>
        </p:nvSpPr>
        <p:spPr>
          <a:xfrm>
            <a:off x="749808" y="3008376"/>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NetworkX MultiDiGraph</a:t>
            </a:r>
            <a:endParaRPr lang="en-US" sz="1200" dirty="0"/>
          </a:p>
        </p:txBody>
      </p:sp>
      <p:sp>
        <p:nvSpPr>
          <p:cNvPr id="19" name="Shape 16"/>
          <p:cNvSpPr/>
          <p:nvPr/>
        </p:nvSpPr>
        <p:spPr>
          <a:xfrm rot="5400000">
            <a:off x="5852160" y="3054096"/>
            <a:ext cx="182880" cy="182880"/>
          </a:xfrm>
          <a:prstGeom prst="rightTriangle">
            <a:avLst/>
          </a:prstGeom>
          <a:solidFill>
            <a:srgbClr val="6E737C"/>
          </a:solidFill>
          <a:ln w="12700">
            <a:solidFill>
              <a:srgbClr val="6E737C"/>
            </a:solidFill>
            <a:prstDash val="solid"/>
          </a:ln>
        </p:spPr>
      </p:sp>
      <p:sp>
        <p:nvSpPr>
          <p:cNvPr id="20" name="Text 17"/>
          <p:cNvSpPr/>
          <p:nvPr/>
        </p:nvSpPr>
        <p:spPr>
          <a:xfrm>
            <a:off x="6400800" y="3008376"/>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Neo4j + GNN cluster detection</a:t>
            </a:r>
            <a:endParaRPr lang="en-US" sz="1200" dirty="0"/>
          </a:p>
        </p:txBody>
      </p:sp>
      <p:sp>
        <p:nvSpPr>
          <p:cNvPr id="21" name="Shape 18"/>
          <p:cNvSpPr/>
          <p:nvPr/>
        </p:nvSpPr>
        <p:spPr>
          <a:xfrm>
            <a:off x="548640" y="3483864"/>
            <a:ext cx="91440" cy="91440"/>
          </a:xfrm>
          <a:prstGeom prst="rect">
            <a:avLst/>
          </a:prstGeom>
          <a:solidFill>
            <a:srgbClr val="3F6B47"/>
          </a:solidFill>
          <a:ln w="12700">
            <a:solidFill>
              <a:srgbClr val="3F6B47"/>
            </a:solidFill>
            <a:prstDash val="solid"/>
          </a:ln>
        </p:spPr>
      </p:sp>
      <p:sp>
        <p:nvSpPr>
          <p:cNvPr id="22" name="Text 19"/>
          <p:cNvSpPr/>
          <p:nvPr/>
        </p:nvSpPr>
        <p:spPr>
          <a:xfrm>
            <a:off x="749808" y="3392424"/>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3-model risk bake-off (LR/RF/GBM)</a:t>
            </a:r>
            <a:endParaRPr lang="en-US" sz="1200" dirty="0"/>
          </a:p>
        </p:txBody>
      </p:sp>
      <p:sp>
        <p:nvSpPr>
          <p:cNvPr id="23" name="Shape 20"/>
          <p:cNvSpPr/>
          <p:nvPr/>
        </p:nvSpPr>
        <p:spPr>
          <a:xfrm rot="5400000">
            <a:off x="5852160" y="3438144"/>
            <a:ext cx="182880" cy="182880"/>
          </a:xfrm>
          <a:prstGeom prst="rightTriangle">
            <a:avLst/>
          </a:prstGeom>
          <a:solidFill>
            <a:srgbClr val="6E737C"/>
          </a:solidFill>
          <a:ln w="12700">
            <a:solidFill>
              <a:srgbClr val="6E737C"/>
            </a:solidFill>
            <a:prstDash val="solid"/>
          </a:ln>
        </p:spPr>
      </p:sp>
      <p:sp>
        <p:nvSpPr>
          <p:cNvPr id="24" name="Text 21"/>
          <p:cNvSpPr/>
          <p:nvPr/>
        </p:nvSpPr>
        <p:spPr>
          <a:xfrm>
            <a:off x="6400800" y="3392424"/>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Calibrated ensemble + per-disease specialist heads</a:t>
            </a:r>
            <a:endParaRPr lang="en-US" sz="1200" dirty="0"/>
          </a:p>
        </p:txBody>
      </p:sp>
      <p:sp>
        <p:nvSpPr>
          <p:cNvPr id="25" name="Shape 22"/>
          <p:cNvSpPr/>
          <p:nvPr/>
        </p:nvSpPr>
        <p:spPr>
          <a:xfrm>
            <a:off x="548640" y="3867912"/>
            <a:ext cx="91440" cy="91440"/>
          </a:xfrm>
          <a:prstGeom prst="rect">
            <a:avLst/>
          </a:prstGeom>
          <a:solidFill>
            <a:srgbClr val="3F6B47"/>
          </a:solidFill>
          <a:ln w="12700">
            <a:solidFill>
              <a:srgbClr val="3F6B47"/>
            </a:solidFill>
            <a:prstDash val="solid"/>
          </a:ln>
        </p:spPr>
      </p:sp>
      <p:sp>
        <p:nvSpPr>
          <p:cNvPr id="26" name="Text 23"/>
          <p:cNvSpPr/>
          <p:nvPr/>
        </p:nvSpPr>
        <p:spPr>
          <a:xfrm>
            <a:off x="749808" y="3776472"/>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SHAP + permutation + DT explainability</a:t>
            </a:r>
            <a:endParaRPr lang="en-US" sz="1200" dirty="0"/>
          </a:p>
        </p:txBody>
      </p:sp>
      <p:sp>
        <p:nvSpPr>
          <p:cNvPr id="27" name="Shape 24"/>
          <p:cNvSpPr/>
          <p:nvPr/>
        </p:nvSpPr>
        <p:spPr>
          <a:xfrm rot="5400000">
            <a:off x="5852160" y="3822192"/>
            <a:ext cx="182880" cy="182880"/>
          </a:xfrm>
          <a:prstGeom prst="rightTriangle">
            <a:avLst/>
          </a:prstGeom>
          <a:solidFill>
            <a:srgbClr val="6E737C"/>
          </a:solidFill>
          <a:ln w="12700">
            <a:solidFill>
              <a:srgbClr val="6E737C"/>
            </a:solidFill>
            <a:prstDash val="solid"/>
          </a:ln>
        </p:spPr>
      </p:sp>
      <p:sp>
        <p:nvSpPr>
          <p:cNvPr id="28" name="Text 25"/>
          <p:cNvSpPr/>
          <p:nvPr/>
        </p:nvSpPr>
        <p:spPr>
          <a:xfrm>
            <a:off x="6400800" y="3776472"/>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Counterfactual (DiCE) + attention attribution</a:t>
            </a:r>
            <a:endParaRPr lang="en-US" sz="1200" dirty="0"/>
          </a:p>
        </p:txBody>
      </p:sp>
      <p:sp>
        <p:nvSpPr>
          <p:cNvPr id="29" name="Shape 26"/>
          <p:cNvSpPr/>
          <p:nvPr/>
        </p:nvSpPr>
        <p:spPr>
          <a:xfrm>
            <a:off x="548640" y="4251960"/>
            <a:ext cx="91440" cy="91440"/>
          </a:xfrm>
          <a:prstGeom prst="rect">
            <a:avLst/>
          </a:prstGeom>
          <a:solidFill>
            <a:srgbClr val="3F6B47"/>
          </a:solidFill>
          <a:ln w="12700">
            <a:solidFill>
              <a:srgbClr val="3F6B47"/>
            </a:solidFill>
            <a:prstDash val="solid"/>
          </a:ln>
        </p:spPr>
      </p:sp>
      <p:sp>
        <p:nvSpPr>
          <p:cNvPr id="30" name="Text 27"/>
          <p:cNvSpPr/>
          <p:nvPr/>
        </p:nvSpPr>
        <p:spPr>
          <a:xfrm>
            <a:off x="749808" y="4160520"/>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3-tier contact tracing (synthetic)</a:t>
            </a:r>
            <a:endParaRPr lang="en-US" sz="1200" dirty="0"/>
          </a:p>
        </p:txBody>
      </p:sp>
      <p:sp>
        <p:nvSpPr>
          <p:cNvPr id="31" name="Shape 28"/>
          <p:cNvSpPr/>
          <p:nvPr/>
        </p:nvSpPr>
        <p:spPr>
          <a:xfrm rot="5400000">
            <a:off x="5852160" y="4206240"/>
            <a:ext cx="182880" cy="182880"/>
          </a:xfrm>
          <a:prstGeom prst="rightTriangle">
            <a:avLst/>
          </a:prstGeom>
          <a:solidFill>
            <a:srgbClr val="6E737C"/>
          </a:solidFill>
          <a:ln w="12700">
            <a:solidFill>
              <a:srgbClr val="6E737C"/>
            </a:solidFill>
            <a:prstDash val="solid"/>
          </a:ln>
        </p:spPr>
      </p:sp>
      <p:sp>
        <p:nvSpPr>
          <p:cNvPr id="32" name="Text 29"/>
          <p:cNvSpPr/>
          <p:nvPr/>
        </p:nvSpPr>
        <p:spPr>
          <a:xfrm>
            <a:off x="6400800" y="4160520"/>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Geospatial + mobility-graph contact propagation</a:t>
            </a:r>
            <a:endParaRPr lang="en-US" sz="1200" dirty="0"/>
          </a:p>
        </p:txBody>
      </p:sp>
      <p:sp>
        <p:nvSpPr>
          <p:cNvPr id="33" name="Shape 30"/>
          <p:cNvSpPr/>
          <p:nvPr/>
        </p:nvSpPr>
        <p:spPr>
          <a:xfrm>
            <a:off x="548640" y="4636008"/>
            <a:ext cx="91440" cy="91440"/>
          </a:xfrm>
          <a:prstGeom prst="rect">
            <a:avLst/>
          </a:prstGeom>
          <a:solidFill>
            <a:srgbClr val="3F6B47"/>
          </a:solidFill>
          <a:ln w="12700">
            <a:solidFill>
              <a:srgbClr val="3F6B47"/>
            </a:solidFill>
            <a:prstDash val="solid"/>
          </a:ln>
        </p:spPr>
      </p:sp>
      <p:sp>
        <p:nvSpPr>
          <p:cNvPr id="34" name="Text 31"/>
          <p:cNvSpPr/>
          <p:nvPr/>
        </p:nvSpPr>
        <p:spPr>
          <a:xfrm>
            <a:off x="749808" y="4544568"/>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LLM benchmark vs Haiku 4.5 (projected)</a:t>
            </a:r>
            <a:endParaRPr lang="en-US" sz="1200" dirty="0"/>
          </a:p>
        </p:txBody>
      </p:sp>
      <p:sp>
        <p:nvSpPr>
          <p:cNvPr id="35" name="Shape 32"/>
          <p:cNvSpPr/>
          <p:nvPr/>
        </p:nvSpPr>
        <p:spPr>
          <a:xfrm rot="5400000">
            <a:off x="5852160" y="4590288"/>
            <a:ext cx="182880" cy="182880"/>
          </a:xfrm>
          <a:prstGeom prst="rightTriangle">
            <a:avLst/>
          </a:prstGeom>
          <a:solidFill>
            <a:srgbClr val="6E737C"/>
          </a:solidFill>
          <a:ln w="12700">
            <a:solidFill>
              <a:srgbClr val="6E737C"/>
            </a:solidFill>
            <a:prstDash val="solid"/>
          </a:ln>
        </p:spPr>
      </p:sp>
      <p:sp>
        <p:nvSpPr>
          <p:cNvPr id="36" name="Text 33"/>
          <p:cNvSpPr/>
          <p:nvPr/>
        </p:nvSpPr>
        <p:spPr>
          <a:xfrm>
            <a:off x="6400800" y="4544568"/>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Live API run + prompt-engineering A/B</a:t>
            </a:r>
            <a:endParaRPr lang="en-US" sz="1200" dirty="0"/>
          </a:p>
        </p:txBody>
      </p:sp>
      <p:sp>
        <p:nvSpPr>
          <p:cNvPr id="37" name="Shape 34"/>
          <p:cNvSpPr/>
          <p:nvPr/>
        </p:nvSpPr>
        <p:spPr>
          <a:xfrm>
            <a:off x="548640" y="5020056"/>
            <a:ext cx="91440" cy="91440"/>
          </a:xfrm>
          <a:prstGeom prst="rect">
            <a:avLst/>
          </a:prstGeom>
          <a:solidFill>
            <a:srgbClr val="3F6B47"/>
          </a:solidFill>
          <a:ln w="12700">
            <a:solidFill>
              <a:srgbClr val="3F6B47"/>
            </a:solidFill>
            <a:prstDash val="solid"/>
          </a:ln>
        </p:spPr>
      </p:sp>
      <p:sp>
        <p:nvSpPr>
          <p:cNvPr id="38" name="Text 35"/>
          <p:cNvSpPr/>
          <p:nvPr/>
        </p:nvSpPr>
        <p:spPr>
          <a:xfrm>
            <a:off x="749808" y="4928616"/>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Synthetic 25-dictation NER eval</a:t>
            </a:r>
            <a:endParaRPr lang="en-US" sz="1200" dirty="0"/>
          </a:p>
        </p:txBody>
      </p:sp>
      <p:sp>
        <p:nvSpPr>
          <p:cNvPr id="39" name="Shape 36"/>
          <p:cNvSpPr/>
          <p:nvPr/>
        </p:nvSpPr>
        <p:spPr>
          <a:xfrm rot="5400000">
            <a:off x="5852160" y="4974336"/>
            <a:ext cx="182880" cy="182880"/>
          </a:xfrm>
          <a:prstGeom prst="rightTriangle">
            <a:avLst/>
          </a:prstGeom>
          <a:solidFill>
            <a:srgbClr val="6E737C"/>
          </a:solidFill>
          <a:ln w="12700">
            <a:solidFill>
              <a:srgbClr val="6E737C"/>
            </a:solidFill>
            <a:prstDash val="solid"/>
          </a:ln>
        </p:spPr>
      </p:sp>
      <p:sp>
        <p:nvSpPr>
          <p:cNvPr id="40" name="Text 37"/>
          <p:cNvSpPr/>
          <p:nvPr/>
        </p:nvSpPr>
        <p:spPr>
          <a:xfrm>
            <a:off x="6400800" y="4928616"/>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MIMIC-IV human + VetCompass veterinary eval</a:t>
            </a:r>
            <a:endParaRPr lang="en-US" sz="1200" dirty="0"/>
          </a:p>
        </p:txBody>
      </p:sp>
      <p:sp>
        <p:nvSpPr>
          <p:cNvPr id="41" name="Shape 38"/>
          <p:cNvSpPr/>
          <p:nvPr/>
        </p:nvSpPr>
        <p:spPr>
          <a:xfrm>
            <a:off x="548640" y="5404104"/>
            <a:ext cx="91440" cy="91440"/>
          </a:xfrm>
          <a:prstGeom prst="rect">
            <a:avLst/>
          </a:prstGeom>
          <a:solidFill>
            <a:srgbClr val="3F6B47"/>
          </a:solidFill>
          <a:ln w="12700">
            <a:solidFill>
              <a:srgbClr val="3F6B47"/>
            </a:solidFill>
            <a:prstDash val="solid"/>
          </a:ln>
        </p:spPr>
      </p:sp>
      <p:sp>
        <p:nvSpPr>
          <p:cNvPr id="42" name="Text 39"/>
          <p:cNvSpPr/>
          <p:nvPr/>
        </p:nvSpPr>
        <p:spPr>
          <a:xfrm>
            <a:off x="749808" y="5312664"/>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Text-only dictation</a:t>
            </a:r>
            <a:endParaRPr lang="en-US" sz="1200" dirty="0"/>
          </a:p>
        </p:txBody>
      </p:sp>
      <p:sp>
        <p:nvSpPr>
          <p:cNvPr id="43" name="Shape 40"/>
          <p:cNvSpPr/>
          <p:nvPr/>
        </p:nvSpPr>
        <p:spPr>
          <a:xfrm rot="5400000">
            <a:off x="5852160" y="5358384"/>
            <a:ext cx="182880" cy="182880"/>
          </a:xfrm>
          <a:prstGeom prst="rightTriangle">
            <a:avLst/>
          </a:prstGeom>
          <a:solidFill>
            <a:srgbClr val="6E737C"/>
          </a:solidFill>
          <a:ln w="12700">
            <a:solidFill>
              <a:srgbClr val="6E737C"/>
            </a:solidFill>
            <a:prstDash val="solid"/>
          </a:ln>
        </p:spPr>
      </p:sp>
      <p:sp>
        <p:nvSpPr>
          <p:cNvPr id="44" name="Text 41"/>
          <p:cNvSpPr/>
          <p:nvPr/>
        </p:nvSpPr>
        <p:spPr>
          <a:xfrm>
            <a:off x="6400800" y="5312664"/>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Whisper ASR + dialogue segmentation</a:t>
            </a:r>
            <a:endParaRPr lang="en-US" sz="1200" dirty="0"/>
          </a:p>
        </p:txBody>
      </p:sp>
      <p:sp>
        <p:nvSpPr>
          <p:cNvPr id="45" name="Shape 42"/>
          <p:cNvSpPr/>
          <p:nvPr/>
        </p:nvSpPr>
        <p:spPr>
          <a:xfrm>
            <a:off x="548640" y="5788152"/>
            <a:ext cx="91440" cy="91440"/>
          </a:xfrm>
          <a:prstGeom prst="rect">
            <a:avLst/>
          </a:prstGeom>
          <a:solidFill>
            <a:srgbClr val="3F6B47"/>
          </a:solidFill>
          <a:ln w="12700">
            <a:solidFill>
              <a:srgbClr val="3F6B47"/>
            </a:solidFill>
            <a:prstDash val="solid"/>
          </a:ln>
        </p:spPr>
      </p:sp>
      <p:sp>
        <p:nvSpPr>
          <p:cNvPr id="46" name="Text 43"/>
          <p:cNvSpPr/>
          <p:nvPr/>
        </p:nvSpPr>
        <p:spPr>
          <a:xfrm>
            <a:off x="749808" y="5696712"/>
            <a:ext cx="5303520" cy="365760"/>
          </a:xfrm>
          <a:prstGeom prst="rect">
            <a:avLst/>
          </a:prstGeom>
          <a:noFill/>
          <a:ln/>
        </p:spPr>
        <p:txBody>
          <a:bodyPr wrap="square" lIns="0" tIns="0" rIns="0" bIns="0" rtlCol="0" anchor="ctr"/>
          <a:lstStyle/>
          <a:p>
            <a:pPr indent="0" marL="0">
              <a:buNone/>
            </a:pPr>
            <a:r>
              <a:rPr lang="en-US" sz="1200" dirty="0">
                <a:solidFill>
                  <a:srgbClr val="1F2228"/>
                </a:solidFill>
                <a:latin typeface="Calibri" pitchFamily="34" charset="0"/>
                <a:ea typeface="Calibri" pitchFamily="34" charset="-122"/>
                <a:cs typeface="Calibri" pitchFamily="34" charset="-120"/>
              </a:rPr>
              <a:t>Laplace-noise privacy stub</a:t>
            </a:r>
            <a:endParaRPr lang="en-US" sz="1200" dirty="0"/>
          </a:p>
        </p:txBody>
      </p:sp>
      <p:sp>
        <p:nvSpPr>
          <p:cNvPr id="47" name="Shape 44"/>
          <p:cNvSpPr/>
          <p:nvPr/>
        </p:nvSpPr>
        <p:spPr>
          <a:xfrm rot="5400000">
            <a:off x="5852160" y="5742432"/>
            <a:ext cx="182880" cy="182880"/>
          </a:xfrm>
          <a:prstGeom prst="rightTriangle">
            <a:avLst/>
          </a:prstGeom>
          <a:solidFill>
            <a:srgbClr val="6E737C"/>
          </a:solidFill>
          <a:ln w="12700">
            <a:solidFill>
              <a:srgbClr val="6E737C"/>
            </a:solidFill>
            <a:prstDash val="solid"/>
          </a:ln>
        </p:spPr>
      </p:sp>
      <p:sp>
        <p:nvSpPr>
          <p:cNvPr id="48" name="Text 45"/>
          <p:cNvSpPr/>
          <p:nvPr/>
        </p:nvSpPr>
        <p:spPr>
          <a:xfrm>
            <a:off x="6400800" y="5696712"/>
            <a:ext cx="5486400" cy="365760"/>
          </a:xfrm>
          <a:prstGeom prst="rect">
            <a:avLst/>
          </a:prstGeom>
          <a:noFill/>
          <a:ln/>
        </p:spPr>
        <p:txBody>
          <a:bodyPr wrap="square" lIns="0" tIns="0" rIns="0" bIns="0" rtlCol="0" anchor="ctr"/>
          <a:lstStyle/>
          <a:p>
            <a:pPr indent="0" marL="0">
              <a:buNone/>
            </a:pPr>
            <a:r>
              <a:rPr lang="en-US" sz="1200" i="1" dirty="0">
                <a:solidFill>
                  <a:srgbClr val="4A4F58"/>
                </a:solidFill>
                <a:latin typeface="Calibri" pitchFamily="34" charset="0"/>
                <a:ea typeface="Calibri" pitchFamily="34" charset="-122"/>
                <a:cs typeface="Calibri" pitchFamily="34" charset="-120"/>
              </a:rPr>
              <a:t>Full DP-SGD with formal ε, δ accounting</a:t>
            </a:r>
            <a:endParaRPr lang="en-US" sz="1200" dirty="0"/>
          </a:p>
        </p:txBody>
      </p:sp>
      <p:sp>
        <p:nvSpPr>
          <p:cNvPr id="49" name="Text 46"/>
          <p:cNvSpPr/>
          <p:nvPr/>
        </p:nvSpPr>
        <p:spPr>
          <a:xfrm>
            <a:off x="548640" y="6080760"/>
            <a:ext cx="11094415" cy="365760"/>
          </a:xfrm>
          <a:prstGeom prst="rect">
            <a:avLst/>
          </a:prstGeom>
          <a:noFill/>
          <a:ln/>
        </p:spPr>
        <p:txBody>
          <a:bodyPr wrap="square" lIns="0" tIns="0" rIns="0" bIns="0" rtlCol="0" anchor="ctr"/>
          <a:lstStyle/>
          <a:p>
            <a:pPr algn="ctr" indent="0" marL="0">
              <a:buNone/>
            </a:pPr>
            <a:r>
              <a:rPr lang="en-US" sz="1100" i="1" dirty="0">
                <a:solidFill>
                  <a:srgbClr val="6E737C"/>
                </a:solidFill>
                <a:latin typeface="Calibri" pitchFamily="34" charset="0"/>
                <a:ea typeface="Calibri" pitchFamily="34" charset="-122"/>
                <a:cs typeface="Calibri" pitchFamily="34" charset="-120"/>
              </a:rPr>
              <a:t>These are tractable next-steps with a credentialed dataset. The interfaces, schemas, and evaluation harness are already in place.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400" kern="0" dirty="0">
                <a:solidFill>
                  <a:srgbClr val="AB0520"/>
                </a:solidFill>
                <a:latin typeface="Calibri" pitchFamily="34" charset="0"/>
                <a:ea typeface="Calibri" pitchFamily="34" charset="-122"/>
                <a:cs typeface="Calibri" pitchFamily="34" charset="-120"/>
              </a:rPr>
              <a:t>CONTRIBUTIONS</a:t>
            </a:r>
            <a:endParaRPr lang="en-US" sz="1000" dirty="0"/>
          </a:p>
        </p:txBody>
      </p:sp>
      <p:sp>
        <p:nvSpPr>
          <p:cNvPr id="4" name="Text 1"/>
          <p:cNvSpPr/>
          <p:nvPr/>
        </p:nvSpPr>
        <p:spPr>
          <a:xfrm>
            <a:off x="548640" y="777240"/>
            <a:ext cx="11094415" cy="914400"/>
          </a:xfrm>
          <a:prstGeom prst="rect">
            <a:avLst/>
          </a:prstGeom>
          <a:noFill/>
          <a:ln/>
        </p:spPr>
        <p:txBody>
          <a:bodyPr wrap="square" lIns="0" tIns="0" rIns="0" bIns="0" rtlCol="0" anchor="ctr"/>
          <a:lstStyle/>
          <a:p>
            <a:pPr indent="0" marL="0">
              <a:buNone/>
            </a:pPr>
            <a:r>
              <a:rPr lang="en-US" sz="3200" dirty="0">
                <a:solidFill>
                  <a:srgbClr val="0C234B"/>
                </a:solidFill>
                <a:latin typeface="Georgia" pitchFamily="34" charset="0"/>
                <a:ea typeface="Georgia" pitchFamily="34" charset="-122"/>
                <a:cs typeface="Georgia" pitchFamily="34" charset="-120"/>
              </a:rPr>
              <a:t>What this capstone delivers</a:t>
            </a:r>
            <a:endParaRPr lang="en-US" sz="3200" dirty="0"/>
          </a:p>
        </p:txBody>
      </p:sp>
      <p:sp>
        <p:nvSpPr>
          <p:cNvPr id="5" name="Text 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900" dirty="0">
                <a:solidFill>
                  <a:srgbClr val="6E737C"/>
                </a:solidFill>
                <a:latin typeface="Calibri" pitchFamily="34" charset="0"/>
                <a:ea typeface="Calibri" pitchFamily="34" charset="-122"/>
                <a:cs typeface="Calibri" pitchFamily="34" charset="-120"/>
              </a:rPr>
              <a:t>22</a:t>
            </a:r>
            <a:endParaRPr lang="en-US" sz="900" dirty="0"/>
          </a:p>
        </p:txBody>
      </p:sp>
      <p:sp>
        <p:nvSpPr>
          <p:cNvPr id="6" name="Text 3"/>
          <p:cNvSpPr/>
          <p:nvPr/>
        </p:nvSpPr>
        <p:spPr>
          <a:xfrm>
            <a:off x="548640" y="6400800"/>
            <a:ext cx="3657600" cy="274320"/>
          </a:xfrm>
          <a:prstGeom prst="rect">
            <a:avLst/>
          </a:prstGeom>
          <a:noFill/>
          <a:ln/>
        </p:spPr>
        <p:txBody>
          <a:bodyPr wrap="square" lIns="0" tIns="0" rIns="0" bIns="0" rtlCol="0" anchor="ctr"/>
          <a:lstStyle/>
          <a:p>
            <a:pPr algn="l" indent="0" marL="0">
              <a:buNone/>
            </a:pPr>
            <a:r>
              <a:rPr lang="en-US" sz="900" dirty="0">
                <a:solidFill>
                  <a:srgbClr val="6E737C"/>
                </a:solidFill>
                <a:latin typeface="Calibri" pitchFamily="34" charset="0"/>
                <a:ea typeface="Calibri" pitchFamily="34" charset="-122"/>
                <a:cs typeface="Calibri" pitchFamily="34" charset="-120"/>
              </a:rPr>
              <a:t>ONE-HealthRecord</a:t>
            </a:r>
            <a:endParaRPr lang="en-US" sz="900" dirty="0"/>
          </a:p>
        </p:txBody>
      </p:sp>
      <p:sp>
        <p:nvSpPr>
          <p:cNvPr id="7" name="Text 4"/>
          <p:cNvSpPr/>
          <p:nvPr/>
        </p:nvSpPr>
        <p:spPr>
          <a:xfrm>
            <a:off x="548640" y="1691640"/>
            <a:ext cx="502920" cy="457200"/>
          </a:xfrm>
          <a:prstGeom prst="rect">
            <a:avLst/>
          </a:prstGeom>
          <a:noFill/>
          <a:ln/>
        </p:spPr>
        <p:txBody>
          <a:bodyPr wrap="square" lIns="0" tIns="0" rIns="0" bIns="0" rtlCol="0" anchor="ctr"/>
          <a:lstStyle/>
          <a:p>
            <a:pPr algn="l" indent="0" marL="0">
              <a:buNone/>
            </a:pPr>
            <a:r>
              <a:rPr lang="en-US" sz="1800" dirty="0">
                <a:solidFill>
                  <a:srgbClr val="AB0520"/>
                </a:solidFill>
                <a:latin typeface="Georgia" pitchFamily="34" charset="0"/>
                <a:ea typeface="Georgia" pitchFamily="34" charset="-122"/>
                <a:cs typeface="Georgia" pitchFamily="34" charset="-120"/>
              </a:rPr>
              <a:t>1.</a:t>
            </a:r>
            <a:endParaRPr lang="en-US" sz="1800" dirty="0"/>
          </a:p>
        </p:txBody>
      </p:sp>
      <p:sp>
        <p:nvSpPr>
          <p:cNvPr id="8" name="Text 5"/>
          <p:cNvSpPr/>
          <p:nvPr/>
        </p:nvSpPr>
        <p:spPr>
          <a:xfrm>
            <a:off x="1097280" y="1709928"/>
            <a:ext cx="3931920" cy="36576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End-to-end pipeline</a:t>
            </a:r>
            <a:endParaRPr lang="en-US" sz="1200" dirty="0"/>
          </a:p>
        </p:txBody>
      </p:sp>
      <p:sp>
        <p:nvSpPr>
          <p:cNvPr id="9" name="Text 6"/>
          <p:cNvSpPr/>
          <p:nvPr/>
        </p:nvSpPr>
        <p:spPr>
          <a:xfrm>
            <a:off x="5120640" y="1673352"/>
            <a:ext cx="6858000" cy="73152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Clinician dictation → FHIR R4 Bundle with Provenance, ~1.2 ms per encounter on CPU.</a:t>
            </a:r>
            <a:endParaRPr lang="en-US" sz="1000" dirty="0"/>
          </a:p>
        </p:txBody>
      </p:sp>
      <p:sp>
        <p:nvSpPr>
          <p:cNvPr id="10" name="Text 7"/>
          <p:cNvSpPr/>
          <p:nvPr/>
        </p:nvSpPr>
        <p:spPr>
          <a:xfrm>
            <a:off x="548640" y="2258568"/>
            <a:ext cx="502920" cy="457200"/>
          </a:xfrm>
          <a:prstGeom prst="rect">
            <a:avLst/>
          </a:prstGeom>
          <a:noFill/>
          <a:ln/>
        </p:spPr>
        <p:txBody>
          <a:bodyPr wrap="square" lIns="0" tIns="0" rIns="0" bIns="0" rtlCol="0" anchor="ctr"/>
          <a:lstStyle/>
          <a:p>
            <a:pPr algn="l" indent="0" marL="0">
              <a:buNone/>
            </a:pPr>
            <a:r>
              <a:rPr lang="en-US" sz="1800" dirty="0">
                <a:solidFill>
                  <a:srgbClr val="AB0520"/>
                </a:solidFill>
                <a:latin typeface="Georgia" pitchFamily="34" charset="0"/>
                <a:ea typeface="Georgia" pitchFamily="34" charset="-122"/>
                <a:cs typeface="Georgia" pitchFamily="34" charset="-120"/>
              </a:rPr>
              <a:t>2.</a:t>
            </a:r>
            <a:endParaRPr lang="en-US" sz="1800" dirty="0"/>
          </a:p>
        </p:txBody>
      </p:sp>
      <p:sp>
        <p:nvSpPr>
          <p:cNvPr id="11" name="Text 8"/>
          <p:cNvSpPr/>
          <p:nvPr/>
        </p:nvSpPr>
        <p:spPr>
          <a:xfrm>
            <a:off x="1097280" y="2276856"/>
            <a:ext cx="3931920" cy="36576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Role-based two-hub UI</a:t>
            </a:r>
            <a:endParaRPr lang="en-US" sz="1200" dirty="0"/>
          </a:p>
        </p:txBody>
      </p:sp>
      <p:sp>
        <p:nvSpPr>
          <p:cNvPr id="12" name="Text 9"/>
          <p:cNvSpPr/>
          <p:nvPr/>
        </p:nvSpPr>
        <p:spPr>
          <a:xfrm>
            <a:off x="5120640" y="2240280"/>
            <a:ext cx="6858000" cy="73152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Clinical Workspace (clinicians + vets) and Public Health Console (ADHS + tribal health + audit). Mirrors Epic Hyperspace / Cerner Cogito separation.</a:t>
            </a:r>
            <a:endParaRPr lang="en-US" sz="1000" dirty="0"/>
          </a:p>
        </p:txBody>
      </p:sp>
      <p:sp>
        <p:nvSpPr>
          <p:cNvPr id="13" name="Text 10"/>
          <p:cNvSpPr/>
          <p:nvPr/>
        </p:nvSpPr>
        <p:spPr>
          <a:xfrm>
            <a:off x="548640" y="2825496"/>
            <a:ext cx="502920" cy="457200"/>
          </a:xfrm>
          <a:prstGeom prst="rect">
            <a:avLst/>
          </a:prstGeom>
          <a:noFill/>
          <a:ln/>
        </p:spPr>
        <p:txBody>
          <a:bodyPr wrap="square" lIns="0" tIns="0" rIns="0" bIns="0" rtlCol="0" anchor="ctr"/>
          <a:lstStyle/>
          <a:p>
            <a:pPr algn="l" indent="0" marL="0">
              <a:buNone/>
            </a:pPr>
            <a:r>
              <a:rPr lang="en-US" sz="1800" dirty="0">
                <a:solidFill>
                  <a:srgbClr val="AB0520"/>
                </a:solidFill>
                <a:latin typeface="Georgia" pitchFamily="34" charset="0"/>
                <a:ea typeface="Georgia" pitchFamily="34" charset="-122"/>
                <a:cs typeface="Georgia" pitchFamily="34" charset="-120"/>
              </a:rPr>
              <a:t>3.</a:t>
            </a:r>
            <a:endParaRPr lang="en-US" sz="1800" dirty="0"/>
          </a:p>
        </p:txBody>
      </p:sp>
      <p:sp>
        <p:nvSpPr>
          <p:cNvPr id="14" name="Text 11"/>
          <p:cNvSpPr/>
          <p:nvPr/>
        </p:nvSpPr>
        <p:spPr>
          <a:xfrm>
            <a:off x="1097280" y="2843784"/>
            <a:ext cx="3931920" cy="36576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Predictive risk model + explainability + equity</a:t>
            </a:r>
            <a:endParaRPr lang="en-US" sz="1200" dirty="0"/>
          </a:p>
        </p:txBody>
      </p:sp>
      <p:sp>
        <p:nvSpPr>
          <p:cNvPr id="15" name="Text 12"/>
          <p:cNvSpPr/>
          <p:nvPr/>
        </p:nvSpPr>
        <p:spPr>
          <a:xfrm>
            <a:off x="5120640" y="2807208"/>
            <a:ext cx="6858000" cy="73152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LR/RF/GBM bake-off on 4,676 encounters; gradient boosting at AUROC 0.910 / Brier 0.0059. SHAP + permutation + decision tree. 14-pp tribal-land AUC gap surfaced.</a:t>
            </a:r>
            <a:endParaRPr lang="en-US" sz="1000" dirty="0"/>
          </a:p>
        </p:txBody>
      </p:sp>
      <p:sp>
        <p:nvSpPr>
          <p:cNvPr id="16" name="Text 13"/>
          <p:cNvSpPr/>
          <p:nvPr/>
        </p:nvSpPr>
        <p:spPr>
          <a:xfrm>
            <a:off x="548640" y="3392424"/>
            <a:ext cx="502920" cy="457200"/>
          </a:xfrm>
          <a:prstGeom prst="rect">
            <a:avLst/>
          </a:prstGeom>
          <a:noFill/>
          <a:ln/>
        </p:spPr>
        <p:txBody>
          <a:bodyPr wrap="square" lIns="0" tIns="0" rIns="0" bIns="0" rtlCol="0" anchor="ctr"/>
          <a:lstStyle/>
          <a:p>
            <a:pPr algn="l" indent="0" marL="0">
              <a:buNone/>
            </a:pPr>
            <a:r>
              <a:rPr lang="en-US" sz="1800" dirty="0">
                <a:solidFill>
                  <a:srgbClr val="AB0520"/>
                </a:solidFill>
                <a:latin typeface="Georgia" pitchFamily="34" charset="0"/>
                <a:ea typeface="Georgia" pitchFamily="34" charset="-122"/>
                <a:cs typeface="Georgia" pitchFamily="34" charset="-120"/>
              </a:rPr>
              <a:t>4.</a:t>
            </a:r>
            <a:endParaRPr lang="en-US" sz="1800" dirty="0"/>
          </a:p>
        </p:txBody>
      </p:sp>
      <p:sp>
        <p:nvSpPr>
          <p:cNvPr id="17" name="Text 14"/>
          <p:cNvSpPr/>
          <p:nvPr/>
        </p:nvSpPr>
        <p:spPr>
          <a:xfrm>
            <a:off x="1097280" y="3410712"/>
            <a:ext cx="3931920" cy="36576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Risk-triaged contact tracing &amp; lead time</a:t>
            </a:r>
            <a:endParaRPr lang="en-US" sz="1200" dirty="0"/>
          </a:p>
        </p:txBody>
      </p:sp>
      <p:sp>
        <p:nvSpPr>
          <p:cNvPr id="18" name="Text 15"/>
          <p:cNvSpPr/>
          <p:nvPr/>
        </p:nvSpPr>
        <p:spPr>
          <a:xfrm>
            <a:off x="5120640" y="3374136"/>
            <a:ext cx="6858000" cy="73152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3-tier strategy. 100% sens@0.20, 80% prec@0.50. 71-day lead time on Hernandez household.</a:t>
            </a:r>
            <a:endParaRPr lang="en-US" sz="1000" dirty="0"/>
          </a:p>
        </p:txBody>
      </p:sp>
      <p:sp>
        <p:nvSpPr>
          <p:cNvPr id="19" name="Text 16"/>
          <p:cNvSpPr/>
          <p:nvPr/>
        </p:nvSpPr>
        <p:spPr>
          <a:xfrm>
            <a:off x="548640" y="3959352"/>
            <a:ext cx="502920" cy="457200"/>
          </a:xfrm>
          <a:prstGeom prst="rect">
            <a:avLst/>
          </a:prstGeom>
          <a:noFill/>
          <a:ln/>
        </p:spPr>
        <p:txBody>
          <a:bodyPr wrap="square" lIns="0" tIns="0" rIns="0" bIns="0" rtlCol="0" anchor="ctr"/>
          <a:lstStyle/>
          <a:p>
            <a:pPr algn="l" indent="0" marL="0">
              <a:buNone/>
            </a:pPr>
            <a:r>
              <a:rPr lang="en-US" sz="1800" dirty="0">
                <a:solidFill>
                  <a:srgbClr val="AB0520"/>
                </a:solidFill>
                <a:latin typeface="Georgia" pitchFamily="34" charset="0"/>
                <a:ea typeface="Georgia" pitchFamily="34" charset="-122"/>
                <a:cs typeface="Georgia" pitchFamily="34" charset="-120"/>
              </a:rPr>
              <a:t>5.</a:t>
            </a:r>
            <a:endParaRPr lang="en-US" sz="1800" dirty="0"/>
          </a:p>
        </p:txBody>
      </p:sp>
      <p:sp>
        <p:nvSpPr>
          <p:cNvPr id="20" name="Text 17"/>
          <p:cNvSpPr/>
          <p:nvPr/>
        </p:nvSpPr>
        <p:spPr>
          <a:xfrm>
            <a:off x="1097280" y="3977640"/>
            <a:ext cx="3931920" cy="36576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MedGemma 4B + species router</a:t>
            </a:r>
            <a:endParaRPr lang="en-US" sz="1200" dirty="0"/>
          </a:p>
        </p:txBody>
      </p:sp>
      <p:sp>
        <p:nvSpPr>
          <p:cNvPr id="21" name="Text 18"/>
          <p:cNvSpPr/>
          <p:nvPr/>
        </p:nvSpPr>
        <p:spPr>
          <a:xfrm>
            <a:off x="5120640" y="3941064"/>
            <a:ext cx="6858000" cy="73152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Pre-built clinical LLM, three-layer veterinary adaptation. Layer A shipping; B and C scaffolded.</a:t>
            </a:r>
            <a:endParaRPr lang="en-US" sz="1000" dirty="0"/>
          </a:p>
        </p:txBody>
      </p:sp>
      <p:sp>
        <p:nvSpPr>
          <p:cNvPr id="22" name="Text 19"/>
          <p:cNvSpPr/>
          <p:nvPr/>
        </p:nvSpPr>
        <p:spPr>
          <a:xfrm>
            <a:off x="548640" y="4526280"/>
            <a:ext cx="502920" cy="457200"/>
          </a:xfrm>
          <a:prstGeom prst="rect">
            <a:avLst/>
          </a:prstGeom>
          <a:noFill/>
          <a:ln/>
        </p:spPr>
        <p:txBody>
          <a:bodyPr wrap="square" lIns="0" tIns="0" rIns="0" bIns="0" rtlCol="0" anchor="ctr"/>
          <a:lstStyle/>
          <a:p>
            <a:pPr algn="l" indent="0" marL="0">
              <a:buNone/>
            </a:pPr>
            <a:r>
              <a:rPr lang="en-US" sz="1800" dirty="0">
                <a:solidFill>
                  <a:srgbClr val="AB0520"/>
                </a:solidFill>
                <a:latin typeface="Georgia" pitchFamily="34" charset="0"/>
                <a:ea typeface="Georgia" pitchFamily="34" charset="-122"/>
                <a:cs typeface="Georgia" pitchFamily="34" charset="-120"/>
              </a:rPr>
              <a:t>6.</a:t>
            </a:r>
            <a:endParaRPr lang="en-US" sz="1800" dirty="0"/>
          </a:p>
        </p:txBody>
      </p:sp>
      <p:sp>
        <p:nvSpPr>
          <p:cNvPr id="23" name="Text 20"/>
          <p:cNvSpPr/>
          <p:nvPr/>
        </p:nvSpPr>
        <p:spPr>
          <a:xfrm>
            <a:off x="1097280" y="4544568"/>
            <a:ext cx="3931920" cy="36576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Privacy-preserving training</a:t>
            </a:r>
            <a:endParaRPr lang="en-US" sz="1200" dirty="0"/>
          </a:p>
        </p:txBody>
      </p:sp>
      <p:sp>
        <p:nvSpPr>
          <p:cNvPr id="24" name="Text 21"/>
          <p:cNvSpPr/>
          <p:nvPr/>
        </p:nvSpPr>
        <p:spPr>
          <a:xfrm>
            <a:off x="5120640" y="4507992"/>
            <a:ext cx="6858000" cy="73152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Swarm learning + DP-SGD + secure aggregation + Laplace. Federated AUC 0.900 vs centralized 0.826 (+0.074) on simulation.</a:t>
            </a:r>
            <a:endParaRPr lang="en-US" sz="1000" dirty="0"/>
          </a:p>
        </p:txBody>
      </p:sp>
      <p:sp>
        <p:nvSpPr>
          <p:cNvPr id="25" name="Text 22"/>
          <p:cNvSpPr/>
          <p:nvPr/>
        </p:nvSpPr>
        <p:spPr>
          <a:xfrm>
            <a:off x="548640" y="5093208"/>
            <a:ext cx="502920" cy="457200"/>
          </a:xfrm>
          <a:prstGeom prst="rect">
            <a:avLst/>
          </a:prstGeom>
          <a:noFill/>
          <a:ln/>
        </p:spPr>
        <p:txBody>
          <a:bodyPr wrap="square" lIns="0" tIns="0" rIns="0" bIns="0" rtlCol="0" anchor="ctr"/>
          <a:lstStyle/>
          <a:p>
            <a:pPr algn="l" indent="0" marL="0">
              <a:buNone/>
            </a:pPr>
            <a:r>
              <a:rPr lang="en-US" sz="1800" dirty="0">
                <a:solidFill>
                  <a:srgbClr val="AB0520"/>
                </a:solidFill>
                <a:latin typeface="Georgia" pitchFamily="34" charset="0"/>
                <a:ea typeface="Georgia" pitchFamily="34" charset="-122"/>
                <a:cs typeface="Georgia" pitchFamily="34" charset="-120"/>
              </a:rPr>
              <a:t>7.</a:t>
            </a:r>
            <a:endParaRPr lang="en-US" sz="1800" dirty="0"/>
          </a:p>
        </p:txBody>
      </p:sp>
      <p:sp>
        <p:nvSpPr>
          <p:cNvPr id="26" name="Text 23"/>
          <p:cNvSpPr/>
          <p:nvPr/>
        </p:nvSpPr>
        <p:spPr>
          <a:xfrm>
            <a:off x="1097280" y="5111496"/>
            <a:ext cx="3931920" cy="36576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Role-based access control</a:t>
            </a:r>
            <a:endParaRPr lang="en-US" sz="1200" dirty="0"/>
          </a:p>
        </p:txBody>
      </p:sp>
      <p:sp>
        <p:nvSpPr>
          <p:cNvPr id="27" name="Text 24"/>
          <p:cNvSpPr/>
          <p:nvPr/>
        </p:nvSpPr>
        <p:spPr>
          <a:xfrm>
            <a:off x="5120640" y="5074920"/>
            <a:ext cx="6858000" cy="73152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Login + panel-based patient filtering + 3-tier cross-species model pointer + defense in depth + visible audit log.</a:t>
            </a:r>
            <a:endParaRPr lang="en-US" sz="1000" dirty="0"/>
          </a:p>
        </p:txBody>
      </p:sp>
      <p:sp>
        <p:nvSpPr>
          <p:cNvPr id="28" name="Text 25"/>
          <p:cNvSpPr/>
          <p:nvPr/>
        </p:nvSpPr>
        <p:spPr>
          <a:xfrm>
            <a:off x="548640" y="5660136"/>
            <a:ext cx="502920" cy="457200"/>
          </a:xfrm>
          <a:prstGeom prst="rect">
            <a:avLst/>
          </a:prstGeom>
          <a:noFill/>
          <a:ln/>
        </p:spPr>
        <p:txBody>
          <a:bodyPr wrap="square" lIns="0" tIns="0" rIns="0" bIns="0" rtlCol="0" anchor="ctr"/>
          <a:lstStyle/>
          <a:p>
            <a:pPr algn="l" indent="0" marL="0">
              <a:buNone/>
            </a:pPr>
            <a:r>
              <a:rPr lang="en-US" sz="1800" dirty="0">
                <a:solidFill>
                  <a:srgbClr val="AB0520"/>
                </a:solidFill>
                <a:latin typeface="Georgia" pitchFamily="34" charset="0"/>
                <a:ea typeface="Georgia" pitchFamily="34" charset="-122"/>
                <a:cs typeface="Georgia" pitchFamily="34" charset="-120"/>
              </a:rPr>
              <a:t>8.</a:t>
            </a:r>
            <a:endParaRPr lang="en-US" sz="1800" dirty="0"/>
          </a:p>
        </p:txBody>
      </p:sp>
      <p:sp>
        <p:nvSpPr>
          <p:cNvPr id="29" name="Text 26"/>
          <p:cNvSpPr/>
          <p:nvPr/>
        </p:nvSpPr>
        <p:spPr>
          <a:xfrm>
            <a:off x="1097280" y="5678424"/>
            <a:ext cx="3931920" cy="365760"/>
          </a:xfrm>
          <a:prstGeom prst="rect">
            <a:avLst/>
          </a:prstGeom>
          <a:noFill/>
          <a:ln/>
        </p:spPr>
        <p:txBody>
          <a:bodyPr wrap="square" lIns="0" tIns="0" rIns="0" bIns="0" rtlCol="0" anchor="ctr"/>
          <a:lstStyle/>
          <a:p>
            <a:pPr indent="0" marL="0">
              <a:buNone/>
            </a:pPr>
            <a:r>
              <a:rPr lang="en-US" sz="1200" b="1" dirty="0">
                <a:solidFill>
                  <a:srgbClr val="0C234B"/>
                </a:solidFill>
                <a:latin typeface="Georgia" pitchFamily="34" charset="0"/>
                <a:ea typeface="Georgia" pitchFamily="34" charset="-122"/>
                <a:cs typeface="Georgia" pitchFamily="34" charset="-120"/>
              </a:rPr>
              <a:t>Live Model Card</a:t>
            </a:r>
            <a:endParaRPr lang="en-US" sz="1200" dirty="0"/>
          </a:p>
        </p:txBody>
      </p:sp>
      <p:sp>
        <p:nvSpPr>
          <p:cNvPr id="30" name="Text 27"/>
          <p:cNvSpPr/>
          <p:nvPr/>
        </p:nvSpPr>
        <p:spPr>
          <a:xfrm>
            <a:off x="5120640" y="5641848"/>
            <a:ext cx="6858000" cy="731520"/>
          </a:xfrm>
          <a:prstGeom prst="rect">
            <a:avLst/>
          </a:prstGeom>
          <a:noFill/>
          <a:ln/>
        </p:spPr>
        <p:txBody>
          <a:bodyPr wrap="square" lIns="0" tIns="0" rIns="0" bIns="0" rtlCol="0" anchor="t"/>
          <a:lstStyle/>
          <a:p>
            <a:pPr indent="0" marL="0">
              <a:buNone/>
            </a:pPr>
            <a:r>
              <a:rPr lang="en-US" sz="1000" dirty="0">
                <a:solidFill>
                  <a:srgbClr val="1F2228"/>
                </a:solidFill>
                <a:latin typeface="Calibri" pitchFamily="34" charset="0"/>
                <a:ea typeface="Calibri" pitchFamily="34" charset="-122"/>
                <a:cs typeface="Calibri" pitchFamily="34" charset="-120"/>
              </a:rPr>
              <a:t>Mitchell (2019) format, 7 sections rendered as live HTML including audit surface.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234B"/>
        </a:solidFill>
      </p:bgPr>
    </p:bg>
    <p:spTree>
      <p:nvGrpSpPr>
        <p:cNvPr id="1" name=""/>
        <p:cNvGrpSpPr/>
        <p:nvPr/>
      </p:nvGrpSpPr>
      <p:grpSpPr>
        <a:xfrm>
          <a:off x="0" y="0"/>
          <a:ext cx="0" cy="0"/>
          <a:chOff x="0" y="0"/>
          <a:chExt cx="0" cy="0"/>
        </a:xfrm>
      </p:grpSpPr>
      <p:sp>
        <p:nvSpPr>
          <p:cNvPr id="3" name="Text 0"/>
          <p:cNvSpPr/>
          <p:nvPr/>
        </p:nvSpPr>
        <p:spPr>
          <a:xfrm>
            <a:off x="640080" y="2194560"/>
            <a:ext cx="10972800" cy="1097280"/>
          </a:xfrm>
          <a:prstGeom prst="rect">
            <a:avLst/>
          </a:prstGeom>
          <a:noFill/>
          <a:ln/>
        </p:spPr>
        <p:txBody>
          <a:bodyPr wrap="square" lIns="0" tIns="0" rIns="0" bIns="0" rtlCol="0" anchor="ctr"/>
          <a:lstStyle/>
          <a:p>
            <a:pPr indent="0" marL="0">
              <a:buNone/>
            </a:pPr>
            <a:r>
              <a:rPr lang="en-US" sz="7200" dirty="0">
                <a:solidFill>
                  <a:srgbClr val="FFFFFF"/>
                </a:solidFill>
                <a:latin typeface="Georgia" pitchFamily="34" charset="0"/>
                <a:ea typeface="Georgia" pitchFamily="34" charset="-122"/>
                <a:cs typeface="Georgia" pitchFamily="34" charset="-120"/>
              </a:rPr>
              <a:t>Thank you.</a:t>
            </a:r>
            <a:endParaRPr lang="en-US" sz="7200" dirty="0"/>
          </a:p>
        </p:txBody>
      </p:sp>
      <p:sp>
        <p:nvSpPr>
          <p:cNvPr id="4" name="Text 1"/>
          <p:cNvSpPr/>
          <p:nvPr/>
        </p:nvSpPr>
        <p:spPr>
          <a:xfrm>
            <a:off x="640080" y="3383280"/>
            <a:ext cx="10972800" cy="640080"/>
          </a:xfrm>
          <a:prstGeom prst="rect">
            <a:avLst/>
          </a:prstGeom>
          <a:noFill/>
          <a:ln/>
        </p:spPr>
        <p:txBody>
          <a:bodyPr wrap="square" lIns="0" tIns="0" rIns="0" bIns="0" rtlCol="0" anchor="ctr"/>
          <a:lstStyle/>
          <a:p>
            <a:pPr indent="0" marL="0">
              <a:buNone/>
            </a:pPr>
            <a:r>
              <a:rPr lang="en-US" sz="3200" i="1" dirty="0">
                <a:solidFill>
                  <a:srgbClr val="D89F2E"/>
                </a:solidFill>
                <a:latin typeface="Georgia" pitchFamily="34" charset="0"/>
                <a:ea typeface="Georgia" pitchFamily="34" charset="-122"/>
                <a:cs typeface="Georgia" pitchFamily="34" charset="-120"/>
              </a:rPr>
              <a:t>Questions?</a:t>
            </a:r>
            <a:endParaRPr lang="en-US" sz="3200" dirty="0"/>
          </a:p>
        </p:txBody>
      </p:sp>
      <p:sp>
        <p:nvSpPr>
          <p:cNvPr id="5" name="Shape 2"/>
          <p:cNvSpPr/>
          <p:nvPr/>
        </p:nvSpPr>
        <p:spPr>
          <a:xfrm>
            <a:off x="640080" y="4572000"/>
            <a:ext cx="292608" cy="292608"/>
          </a:xfrm>
          <a:prstGeom prst="rect">
            <a:avLst/>
          </a:prstGeom>
          <a:solidFill>
            <a:srgbClr val="AB0520"/>
          </a:solidFill>
          <a:ln w="12700">
            <a:solidFill>
              <a:srgbClr val="AB0520"/>
            </a:solidFill>
            <a:prstDash val="solid"/>
          </a:ln>
        </p:spPr>
      </p:sp>
      <p:sp>
        <p:nvSpPr>
          <p:cNvPr id="6" name="Text 3"/>
          <p:cNvSpPr/>
          <p:nvPr/>
        </p:nvSpPr>
        <p:spPr>
          <a:xfrm>
            <a:off x="1051560" y="4526280"/>
            <a:ext cx="10058400" cy="365760"/>
          </a:xfrm>
          <a:prstGeom prst="rect">
            <a:avLst/>
          </a:prstGeom>
          <a:noFill/>
          <a:ln/>
        </p:spPr>
        <p:txBody>
          <a:bodyPr wrap="square" lIns="0" tIns="0" rIns="0" bIns="0" rtlCol="0" anchor="ctr"/>
          <a:lstStyle/>
          <a:p>
            <a:pPr indent="0" marL="0">
              <a:buNone/>
            </a:pPr>
            <a:r>
              <a:rPr lang="en-US" sz="1400" dirty="0">
                <a:solidFill>
                  <a:srgbClr val="C8CCD2"/>
                </a:solidFill>
                <a:latin typeface="Calibri" pitchFamily="34" charset="0"/>
                <a:ea typeface="Calibri" pitchFamily="34" charset="-122"/>
                <a:cs typeface="Calibri" pitchFamily="34" charset="-120"/>
              </a:rPr>
              <a:t>Live demo: open app/index.html in any browser. No install required.</a:t>
            </a:r>
            <a:endParaRPr lang="en-US" sz="1400" dirty="0"/>
          </a:p>
        </p:txBody>
      </p:sp>
      <p:sp>
        <p:nvSpPr>
          <p:cNvPr id="7" name="Text 4"/>
          <p:cNvSpPr/>
          <p:nvPr/>
        </p:nvSpPr>
        <p:spPr>
          <a:xfrm>
            <a:off x="640080" y="5074920"/>
            <a:ext cx="10972800" cy="365760"/>
          </a:xfrm>
          <a:prstGeom prst="rect">
            <a:avLst/>
          </a:prstGeom>
          <a:noFill/>
          <a:ln/>
        </p:spPr>
        <p:txBody>
          <a:bodyPr wrap="square" lIns="0" tIns="0" rIns="0" bIns="0" rtlCol="0" anchor="ctr"/>
          <a:lstStyle/>
          <a:p>
            <a:pPr indent="0" marL="0">
              <a:buNone/>
            </a:pPr>
            <a:r>
              <a:rPr lang="en-US" sz="1200" i="1" dirty="0">
                <a:solidFill>
                  <a:srgbClr val="8B92A1"/>
                </a:solidFill>
                <a:latin typeface="Calibri" pitchFamily="34" charset="0"/>
                <a:ea typeface="Calibri" pitchFamily="34" charset="-122"/>
                <a:cs typeface="Calibri" pitchFamily="34" charset="-120"/>
              </a:rPr>
              <a:t>Repository: docs/model_card.md · docs/evaluation_report.md · src/ — all reproducible from seed=42.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ONE-HealthRecord — Machine-authored, FAIR-by-construction One Health EHR</dc:title>
  <dc:subject>Capstone presentation</dc:subject>
  <dc:creator>ONE-HealthRecord Capstone</dc:creator>
  <cp:lastModifiedBy>ONE-HealthRecord Capstone</cp:lastModifiedBy>
  <cp:revision>1</cp:revision>
  <dcterms:created xsi:type="dcterms:W3CDTF">2026-05-06T16:32:12Z</dcterms:created>
  <dcterms:modified xsi:type="dcterms:W3CDTF">2026-05-06T16:32:12Z</dcterms:modified>
</cp:coreProperties>
</file>